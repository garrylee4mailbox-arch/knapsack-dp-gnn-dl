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presentation.xml" ContentType="application/vnd.openxmlformats-officedocument.presentationml.presentation.main+xml"/>
  <Override PartName="/ppt/slideLayouts/slideLayout5.xml" ContentType="application/vnd.openxmlformats-officedocument.presentationml.slideLayout+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slides/slide7.xml" ContentType="application/vnd.openxmlformats-officedocument.presentationml.slide+xml"/>
  <Override PartName="/ppt/slideLayouts/slideLayout2.xml" ContentType="application/vnd.openxmlformats-officedocument.presentationml.slideLayout+xml"/>
  <Override PartName="/ppt/slides/slide3.xml" ContentType="application/vnd.openxmlformats-officedocument.presentationml.slide+xml"/>
  <Override PartName="/ppt/tableStyles.xml" ContentType="application/vnd.openxmlformats-officedocument.presentationml.tableStyles+xml"/>
  <Override PartName="/ppt/slides/slide4.xml" ContentType="application/vnd.openxmlformats-officedocument.presentationml.slide+xml"/>
  <Override PartName="/ppt/slideLayouts/slideLayout4.xml" ContentType="application/vnd.openxmlformats-officedocument.presentationml.slideLayout+xml"/>
  <Override PartName="/ppt/slides/slide6.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docProps/app.xml" ContentType="application/vnd.openxmlformats-officedocument.extended-properties+xml"/>
</Types>
</file>

<file path=_rels/.rels><?xml version="1.0" encoding="UTF-8" standalone="yes"?><Relationships xmlns="http://schemas.openxmlformats.org/package/2006/relationships"><Relationship Id="rId2" Type="http://schemas.openxmlformats.org/officeDocument/2006/relationships/extended-properties" Target="docProps/app.xml" /><Relationship Id="rId0" Type="http://schemas.openxmlformats.org/officeDocument/2006/relationships/officeDocument" Target="ppt/presentation.xml" /><Relationship Id="rId1" Type="http://schemas.openxmlformats.org/package/2006/relationships/metadata/core-properties" Target="docProps/core.xml" /></Relationships>
</file>

<file path=ppt/presentation.xml><?xml version="1.0" encoding="utf-8"?>
<p:presentation xmlns:a="http://schemas.openxmlformats.org/drawingml/2006/main" xmlns:p="http://schemas.openxmlformats.org/presentationml/2006/main" xmlns:r="http://schemas.openxmlformats.org/officeDocument/2006/relationships" firstSlideNum="1">
  <p:sldMasterIdLst>
    <p:sldMasterId id="2147483648" r:id="rId0"/>
  </p:sldMasterIdLst>
  <p:sldIdLst>
    <p:sldId id="256" r:id="rId1"/>
    <p:sldId id="257" r:id="rId2"/>
    <p:sldId id="258" r:id="rId3"/>
    <p:sldId id="259" r:id="rId4"/>
    <p:sldId id="260" r:id="rId5"/>
    <p:sldId id="261" r:id="rId6"/>
    <p:sldId id="262" r:id="rId7"/>
  </p:sldIdLst>
  <p:sldSz cx="12192000" cy="6858000" type="screen16x9"/>
  <p:notesSz cx="6858000" cy="9144000"/>
  <p:defaultTextStyle>
    <a:lvl1pPr marL="0" lvl="0" algn="l" defTabSz="914400">
      <a:lnSpc>
        <a:spcPct val="130000"/>
      </a:lnSpc>
      <a:defRPr sz="1800" kern="1200">
        <a:solidFill>
          <a:schemeClr val="tx1"/>
        </a:solidFill>
        <a:latin typeface="Arial"/>
        <a:ea typeface="Microsoft YaHei"/>
      </a:defRPr>
    </a:lvl1pPr>
    <a:lvl2pPr marL="457200" lvl="1" algn="l" defTabSz="914400">
      <a:lnSpc>
        <a:spcPct val="130000"/>
      </a:lnSpc>
      <a:defRPr sz="1800" kern="1200">
        <a:solidFill>
          <a:schemeClr val="tx1"/>
        </a:solidFill>
        <a:latin typeface="Arial"/>
        <a:ea typeface="Microsoft YaHei"/>
      </a:defRPr>
    </a:lvl2pPr>
    <a:lvl3pPr marL="914400" lvl="2" algn="l" defTabSz="914400">
      <a:lnSpc>
        <a:spcPct val="130000"/>
      </a:lnSpc>
      <a:defRPr sz="1800" kern="1200">
        <a:solidFill>
          <a:schemeClr val="tx1"/>
        </a:solidFill>
        <a:latin typeface="Arial"/>
        <a:ea typeface="Microsoft YaHei"/>
      </a:defRPr>
    </a:lvl3pPr>
    <a:lvl4pPr marL="1371600" lvl="3" algn="l" defTabSz="914400">
      <a:lnSpc>
        <a:spcPct val="130000"/>
      </a:lnSpc>
      <a:defRPr sz="1800" kern="1200">
        <a:solidFill>
          <a:schemeClr val="tx1"/>
        </a:solidFill>
        <a:latin typeface="Arial"/>
        <a:ea typeface="Microsoft YaHei"/>
      </a:defRPr>
    </a:lvl4pPr>
    <a:lvl5pPr marL="1828800" lvl="4" algn="l" defTabSz="914400">
      <a:lnSpc>
        <a:spcPct val="130000"/>
      </a:lnSpc>
      <a:defRPr sz="1800" kern="1200">
        <a:solidFill>
          <a:schemeClr val="tx1"/>
        </a:solidFill>
        <a:latin typeface="Arial"/>
        <a:ea typeface="Microsoft YaHei"/>
      </a:defRPr>
    </a:lvl5pPr>
    <a:lvl6pPr marL="2286000" lvl="5" algn="l" defTabSz="914400">
      <a:lnSpc>
        <a:spcPct val="130000"/>
      </a:lnSpc>
      <a:defRPr sz="1800" kern="1200">
        <a:solidFill>
          <a:schemeClr val="tx1"/>
        </a:solidFill>
        <a:latin typeface="Arial"/>
        <a:ea typeface="Microsoft YaHei"/>
      </a:defRPr>
    </a:lvl6pPr>
    <a:lvl7pPr marL="2743200" lvl="6" algn="l" defTabSz="914400">
      <a:lnSpc>
        <a:spcPct val="130000"/>
      </a:lnSpc>
      <a:defRPr sz="1800" kern="1200">
        <a:solidFill>
          <a:schemeClr val="tx1"/>
        </a:solidFill>
        <a:latin typeface="Arial"/>
        <a:ea typeface="Microsoft YaHei"/>
      </a:defRPr>
    </a:lvl7pPr>
    <a:lvl8pPr marL="3200400" lvl="7" algn="l" defTabSz="914400">
      <a:lnSpc>
        <a:spcPct val="130000"/>
      </a:lnSpc>
      <a:defRPr sz="1800" kern="1200">
        <a:solidFill>
          <a:schemeClr val="tx1"/>
        </a:solidFill>
        <a:latin typeface="Arial"/>
        <a:ea typeface="Microsoft YaHei"/>
      </a:defRPr>
    </a:lvl8pPr>
    <a:lvl9pPr marL="3657600" lvl="8" algn="l" defTabSz="914400">
      <a:lnSpc>
        <a:spcPct val="130000"/>
      </a:lnSpc>
      <a:defRPr sz="1800" kern="1200">
        <a:solidFill>
          <a:schemeClr val="tx1"/>
        </a:solidFill>
        <a:latin typeface="Arial"/>
        <a:ea typeface="Microsoft YaHei"/>
      </a:defRPr>
    </a:lvl9pPr>
  </p:defaultTextStyle>
</p:presentation>
</file>

<file path=ppt/tableStyles.xml><?xml version="1.0" encoding="utf-8"?>
<a:tblStyleLst xmlns:a="http://schemas.openxmlformats.org/drawingml/2006/main" def="{5C22544A-7EE6-4342-B048-85BDC9FD1C3A}">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_rels/presentation.xml.rels><?xml version="1.0" encoding="UTF-8" standalone="yes"?><Relationships xmlns="http://schemas.openxmlformats.org/package/2006/relationships"><Relationship Id="rId8" Type="http://schemas.openxmlformats.org/officeDocument/2006/relationships/tableStyles" Target="tableStyles.xml" /><Relationship Id="rId7" Type="http://schemas.openxmlformats.org/officeDocument/2006/relationships/slide" Target="slides/slide7.xml" /><Relationship Id="rId0" Type="http://schemas.openxmlformats.org/officeDocument/2006/relationships/slideMaster" Target="slideMasters/slideMaster1.xml" /><Relationship Id="rId4" Type="http://schemas.openxmlformats.org/officeDocument/2006/relationships/slide" Target="slides/slide4.xml" /><Relationship Id="rId6" Type="http://schemas.openxmlformats.org/officeDocument/2006/relationships/slide" Target="slides/slide6.xml" /><Relationship Id="rId2" Type="http://schemas.openxmlformats.org/officeDocument/2006/relationships/slide" Target="slides/slide2.xml" /><Relationship Id="rId1" Type="http://schemas.openxmlformats.org/officeDocument/2006/relationships/slide" Target="slides/slide1.xml" /><Relationship Id="rId3" Type="http://schemas.openxmlformats.org/officeDocument/2006/relationships/slide" Target="slides/slide3.xml" /><Relationship Id="rId5" Type="http://schemas.openxmlformats.org/officeDocument/2006/relationships/slide" Target="slides/slide5.xml" /></Relationship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 Id="rId2" Type="http://schemas.openxmlformats.org/officeDocument/2006/relationships/image" Target="media/image2.png" /><Relationship Id="rId1" Type="http://schemas.openxmlformats.org/officeDocument/2006/relationships/image" Target="media/image1.png" /></Relationships>
</file>

<file path=ppt/slideLayouts/_rels/slideLayout2.xml.rels><?xml version="1.0" encoding="UTF-8" standalone="yes"?><Relationships xmlns="http://schemas.openxmlformats.org/package/2006/relationships"><Relationship Id="rId1" Type="http://schemas.openxmlformats.org/officeDocument/2006/relationships/image" Target="media/image3.png" /><Relationship Id="rId0" Type="http://schemas.openxmlformats.org/officeDocument/2006/relationships/slideMaster" Target="../slideMasters/slideMaster1.xml" /></Relationships>
</file>

<file path=ppt/slideLayouts/_rels/slideLayout3.xml.rels><?xml version="1.0" encoding="UTF-8" standalone="yes"?><Relationships xmlns="http://schemas.openxmlformats.org/package/2006/relationships"><Relationship Id="rId1" Type="http://schemas.openxmlformats.org/officeDocument/2006/relationships/image" Target="media/image1.png" /><Relationship Id="rId0" Type="http://schemas.openxmlformats.org/officeDocument/2006/relationships/slideMaster" Target="../slideMasters/slideMaster1.xml" /></Relationships>
</file>

<file path=ppt/slideLayouts/_rels/slideLayout4.xml.rels><?xml version="1.0" encoding="UTF-8" standalone="yes"?><Relationships xmlns="http://schemas.openxmlformats.org/package/2006/relationships"><Relationship Id="rId1" Type="http://schemas.openxmlformats.org/officeDocument/2006/relationships/image" Target="media/image2.png" /><Relationship Id="rId0" Type="http://schemas.openxmlformats.org/officeDocument/2006/relationships/slideMaster" Target="../slideMasters/slideMaster1.xml" /></Relationships>
</file>

<file path=ppt/slideLayouts/_rels/slideLayout5.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Master" Target="../slideMasters/slideMaster1.xml" /><Relationship Id="rId1" Type="http://schemas.openxmlformats.org/officeDocument/2006/relationships/image" Target="media/image1.png" /></Relationships>
</file>

<file path=ppt/slideLayouts/slideLayout1.xml><?xml version="1.0" encoding="utf-8"?>
<p:sldLayout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name="标题幻灯片">
    <p:spTree>
      <p:nvGrpSpPr>
        <p:cNvPr id="1" name=""/>
        <p:cNvGrpSpPr/>
        <p:nvPr/>
      </p:nvGrpSpPr>
      <p:grpSpPr>
        <a:xfrm>
          <a:off x="0" y="0"/>
          <a:ext cx="0" cy="0"/>
          <a:chOff x="0" y="0"/>
          <a:chExt cx="0" cy="0"/>
        </a:xfrm>
      </p:grpSpPr>
      <p:pic>
        <p:nvPicPr>
          <p:cNvPr id="2" name="图形"/>
          <p:cNvPicPr>
            <a:picLocks noChangeAspect="true"/>
          </p:cNvPicPr>
          <p:nvPr/>
        </p:nvPicPr>
        <p:blipFill>
          <a:blip r:embed="rId1">
            <a:lum bright="0" contrast="0"/>
            <a:extLst>
              <a:ext uri="">
                <a14:imgProps>
                  <a14:imgLayer>
                    <a14:imgEffect>
                      <a14:brightnessContrast bright="0" contrast="0"/>
                      <a14:colorTemperature colorTemp="6500"/>
                      <a14:saturation sat="100000"/>
                      <a14:sharpenSoften amount="0"/>
                    </a14:imgEffect>
                  </a14:imgLayer>
                </a14:imgProps>
              </a:ext>
            </a:extLst>
          </a:blip>
          <a:srcRect r="557" b="58061"/>
          <a:stretch/>
        </p:blipFill>
        <p:spPr>
          <a:xfrm rot="5400000">
            <a:off x="6552565" y="1218565"/>
            <a:ext cx="6858000" cy="4420870"/>
          </a:xfrm>
          <a:prstGeom prst="rect"/>
        </p:spPr>
      </p:pic>
      <p:sp>
        <p:nvSpPr>
          <p:cNvPr id="3" name="图形" descr="{&quot;isTemplate&quot;:true,&quot;type&quot;:&quot;content&quot;}"/>
          <p:cNvSpPr/>
          <p:nvPr/>
        </p:nvSpPr>
        <p:spPr>
          <a:xfrm>
            <a:off x="744220" y="6107430"/>
            <a:ext cx="260350" cy="260350"/>
          </a:xfrm>
          <a:prstGeom prst="ellipse"/>
          <a:gradFill>
            <a:gsLst>
              <a:gs pos="15000">
                <a:srgbClr val="2F61F0"/>
              </a:gs>
              <a:gs pos="100000">
                <a:srgbClr val="31CDF6"/>
              </a:gs>
            </a:gsLst>
            <a:lin ang="2700000" scaled="false"/>
          </a:gradFill>
          <a:ln w="12700">
            <a:noFill/>
            <a:prstDash val="solid"/>
            <a:miter lim="800000"/>
          </a:ln>
        </p:spPr>
        <p:txBody>
          <a:bodyPr anchor="ctr"/>
          <a:p>
            <a:pPr algn="ctr">
              <a:lnSpc>
                <a:spcPct val="130000"/>
              </a:lnSpc>
            </a:pPr>
            <a:endParaRPr lang="zh-CN">
              <a:solidFill>
                <a:schemeClr val="lt1"/>
              </a:solidFill>
              <a:latin typeface="微软雅黑"/>
              <a:ea typeface="微软雅黑"/>
            </a:endParaRPr>
          </a:p>
        </p:txBody>
      </p:sp>
      <p:pic>
        <p:nvPicPr>
          <p:cNvPr id="4" name="" descr="{&quot;isTemplate&quot;:true,&quot;type&quot;:&quot;content&quot;}"/>
          <p:cNvPicPr>
            <a:picLocks noChangeAspect="true"/>
          </p:cNvPicPr>
          <p:nvPr/>
        </p:nvPicPr>
        <p:blipFill>
          <a:blip r:embed="rId2"/>
          <a:stretch>
            <a:fillRect/>
          </a:stretch>
        </p:blipFill>
        <p:spPr>
          <a:xfrm rot="0" flipH="false" flipV="false">
            <a:off x="63" y="63"/>
            <a:ext cx="1634160" cy="1218501"/>
          </a:xfrm>
          <a:prstGeom prst="rect"/>
        </p:spPr>
      </p:pic>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p:cSld name="目录页">
    <p:spTree>
      <p:nvGrpSpPr>
        <p:cNvPr id="5" name=""/>
        <p:cNvGrpSpPr/>
        <p:nvPr/>
      </p:nvGrpSpPr>
      <p:grpSpPr>
        <a:xfrm>
          <a:off x="0" y="0"/>
          <a:ext cx="0" cy="0"/>
          <a:chOff x="0" y="0"/>
          <a:chExt cx="0" cy="0"/>
        </a:xfrm>
      </p:grpSpPr>
      <p:sp>
        <p:nvSpPr>
          <p:cNvPr id="6" name="图形"/>
          <p:cNvSpPr/>
          <p:nvPr/>
        </p:nvSpPr>
        <p:spPr>
          <a:xfrm rot="19800000" flipV="true">
            <a:off x="566420" y="575945"/>
            <a:ext cx="736600" cy="736600"/>
          </a:xfrm>
          <a:prstGeom prst="ellipse"/>
          <a:gradFill>
            <a:gsLst>
              <a:gs pos="31000">
                <a:schemeClr val="bg1">
                  <a:alpha val="0"/>
                </a:schemeClr>
              </a:gs>
              <a:gs pos="100000">
                <a:srgbClr val="30ADF4"/>
              </a:gs>
            </a:gsLst>
            <a:lin ang="5400000" scaled="false"/>
          </a:gradFill>
          <a:ln w="12700">
            <a:noFill/>
            <a:prstDash val="solid"/>
            <a:miter lim="800000"/>
          </a:ln>
        </p:spPr>
        <p:txBody>
          <a:bodyPr anchor="ctr"/>
          <a:p>
            <a:pPr algn="ctr">
              <a:lnSpc>
                <a:spcPct val="130000"/>
              </a:lnSpc>
            </a:pPr>
            <a:endParaRPr lang="zh-CN">
              <a:solidFill>
                <a:schemeClr val="lt1"/>
              </a:solidFill>
              <a:latin typeface="微软雅黑"/>
              <a:ea typeface="微软雅黑"/>
            </a:endParaRPr>
          </a:p>
        </p:txBody>
      </p:sp>
      <p:pic>
        <p:nvPicPr>
          <p:cNvPr id="7" name=""/>
          <p:cNvPicPr>
            <a:picLocks noChangeAspect="true"/>
          </p:cNvPicPr>
          <p:nvPr/>
        </p:nvPicPr>
        <p:blipFill>
          <a:blip r:embed="rId1"/>
          <a:stretch>
            <a:fillRect/>
          </a:stretch>
        </p:blipFill>
        <p:spPr>
          <a:xfrm rot="0" flipH="false" flipV="false">
            <a:off x="63" y="5811399"/>
            <a:ext cx="1456101" cy="1046663"/>
          </a:xfrm>
          <a:prstGeom prst="rect"/>
        </p:spPr>
      </p:pic>
      <p:pic>
        <p:nvPicPr>
          <p:cNvPr id="8" name=""/>
          <p:cNvPicPr>
            <a:picLocks noChangeAspect="true"/>
          </p:cNvPicPr>
          <p:nvPr/>
        </p:nvPicPr>
        <p:blipFill>
          <a:blip r:embed="rId1"/>
          <a:stretch>
            <a:fillRect/>
          </a:stretch>
        </p:blipFill>
        <p:spPr>
          <a:xfrm rot="0" flipH="true" flipV="false">
            <a:off x="10734622" y="5811399"/>
            <a:ext cx="1457441" cy="1046663"/>
          </a:xfrm>
          <a:prstGeom prst="rect"/>
        </p:spPr>
      </p:pic>
    </p:spTree>
  </p:cSld>
  <p:clrMapOvr>
    <a:masterClrMapping/>
  </p:clrMapOvr>
</p:sldLayout>
</file>

<file path=ppt/slideLayouts/slideLayout3.xml><?xml version="1.0" encoding="utf-8"?>
<p:sldLayout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name="节标题">
    <p:spTree>
      <p:nvGrpSpPr>
        <p:cNvPr id="9" name=""/>
        <p:cNvGrpSpPr/>
        <p:nvPr/>
      </p:nvGrpSpPr>
      <p:grpSpPr>
        <a:xfrm>
          <a:off x="0" y="0"/>
          <a:ext cx="0" cy="0"/>
          <a:chOff x="0" y="0"/>
          <a:chExt cx="0" cy="0"/>
        </a:xfrm>
      </p:grpSpPr>
      <p:pic>
        <p:nvPicPr>
          <p:cNvPr id="10" name="图形"/>
          <p:cNvPicPr>
            <a:picLocks noChangeAspect="true"/>
          </p:cNvPicPr>
          <p:nvPr/>
        </p:nvPicPr>
        <p:blipFill>
          <a:blip r:embed="rId1">
            <a:lum bright="0" contrast="0"/>
            <a:extLst>
              <a:ext uri="">
                <a14:imgProps>
                  <a14:imgLayer>
                    <a14:imgEffect>
                      <a14:brightnessContrast bright="0" contrast="0"/>
                      <a14:colorTemperature colorTemp="6500"/>
                      <a14:saturation sat="100000"/>
                      <a14:sharpenSoften amount="0"/>
                    </a14:imgEffect>
                  </a14:imgLayer>
                </a14:imgProps>
              </a:ext>
            </a:extLst>
          </a:blip>
          <a:srcRect r="557" b="58061"/>
          <a:stretch/>
        </p:blipFill>
        <p:spPr>
          <a:xfrm rot="5400000" flipH="true" flipV="true">
            <a:off x="-1218565" y="1218565"/>
            <a:ext cx="6858000" cy="4420870"/>
          </a:xfrm>
          <a:prstGeom prst="rect"/>
        </p:spPr>
      </p:pic>
      <p:sp>
        <p:nvSpPr>
          <p:cNvPr id="11" name="图形"/>
          <p:cNvSpPr/>
          <p:nvPr/>
        </p:nvSpPr>
        <p:spPr>
          <a:xfrm>
            <a:off x="11239500" y="6093460"/>
            <a:ext cx="260350" cy="260350"/>
          </a:xfrm>
          <a:prstGeom prst="ellipse"/>
          <a:gradFill>
            <a:gsLst>
              <a:gs pos="15000">
                <a:srgbClr val="2F61F0"/>
              </a:gs>
              <a:gs pos="100000">
                <a:srgbClr val="31CDF6"/>
              </a:gs>
            </a:gsLst>
            <a:lin ang="2700000" scaled="false"/>
          </a:gradFill>
          <a:ln w="12700">
            <a:noFill/>
            <a:prstDash val="solid"/>
            <a:miter lim="800000"/>
          </a:ln>
        </p:spPr>
        <p:txBody>
          <a:bodyPr anchor="ctr"/>
          <a:p>
            <a:pPr algn="ctr">
              <a:lnSpc>
                <a:spcPct val="130000"/>
              </a:lnSpc>
            </a:pPr>
            <a:endParaRPr lang="zh-CN">
              <a:solidFill>
                <a:schemeClr val="lt1"/>
              </a:solidFill>
              <a:latin typeface="微软雅黑"/>
              <a:ea typeface="微软雅黑"/>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p:cSld name="空白页">
    <p:spTree>
      <p:nvGrpSpPr>
        <p:cNvPr id="12" name=""/>
        <p:cNvGrpSpPr/>
        <p:nvPr/>
      </p:nvGrpSpPr>
      <p:grpSpPr>
        <a:xfrm>
          <a:off x="0" y="0"/>
          <a:ext cx="0" cy="0"/>
          <a:chOff x="0" y="0"/>
          <a:chExt cx="0" cy="0"/>
        </a:xfrm>
      </p:grpSpPr>
      <p:pic>
        <p:nvPicPr>
          <p:cNvPr id="13" name=""/>
          <p:cNvPicPr>
            <a:picLocks noChangeAspect="true"/>
          </p:cNvPicPr>
          <p:nvPr/>
        </p:nvPicPr>
        <p:blipFill>
          <a:blip r:embed="rId1"/>
          <a:stretch>
            <a:fillRect/>
          </a:stretch>
        </p:blipFill>
        <p:spPr>
          <a:xfrm rot="0" flipH="false" flipV="false">
            <a:off x="63" y="63"/>
            <a:ext cx="1284492" cy="936511"/>
          </a:xfrm>
          <a:prstGeom prst="rect"/>
        </p:spPr>
      </p:pic>
    </p:spTree>
  </p:cSld>
  <p:clrMapOvr>
    <a:masterClrMapping/>
  </p:clrMapOvr>
</p:sldLayout>
</file>

<file path=ppt/slideLayouts/slideLayout5.xml><?xml version="1.0" encoding="utf-8"?>
<p:sldLayout xmlns:a14="http://schemas.microsoft.com/office/drawing/2010/main" xmlns:a="http://schemas.openxmlformats.org/drawingml/2006/main" xmlns:p="http://schemas.openxmlformats.org/presentationml/2006/main" xmlns:r="http://schemas.openxmlformats.org/officeDocument/2006/relationships" xmlns:mc="http://schemas.openxmlformats.org/markup-compatibility/2006" mc:Ignorable="a14">
  <p:cSld name="结束页">
    <p:spTree>
      <p:nvGrpSpPr>
        <p:cNvPr id="14" name=""/>
        <p:cNvGrpSpPr/>
        <p:nvPr/>
      </p:nvGrpSpPr>
      <p:grpSpPr>
        <a:xfrm>
          <a:off x="0" y="0"/>
          <a:ext cx="0" cy="0"/>
          <a:chOff x="0" y="0"/>
          <a:chExt cx="0" cy="0"/>
        </a:xfrm>
      </p:grpSpPr>
      <p:pic>
        <p:nvPicPr>
          <p:cNvPr id="15" name="图形"/>
          <p:cNvPicPr>
            <a:picLocks noChangeAspect="true"/>
          </p:cNvPicPr>
          <p:nvPr/>
        </p:nvPicPr>
        <p:blipFill>
          <a:blip r:embed="rId1">
            <a:lum bright="0" contrast="0"/>
            <a:extLst>
              <a:ext uri="">
                <a14:imgProps>
                  <a14:imgLayer>
                    <a14:imgEffect>
                      <a14:brightnessContrast bright="0" contrast="0"/>
                      <a14:colorTemperature colorTemp="6500"/>
                      <a14:saturation sat="100000"/>
                      <a14:sharpenSoften amount="0"/>
                    </a14:imgEffect>
                  </a14:imgLayer>
                </a14:imgProps>
              </a:ext>
            </a:extLst>
          </a:blip>
          <a:srcRect r="557" b="58061"/>
          <a:stretch/>
        </p:blipFill>
        <p:spPr>
          <a:xfrm rot="5400000">
            <a:off x="6552565" y="1218565"/>
            <a:ext cx="6858000" cy="4420870"/>
          </a:xfrm>
          <a:prstGeom prst="rect"/>
        </p:spPr>
      </p:pic>
      <p:sp>
        <p:nvSpPr>
          <p:cNvPr id="16" name="图形"/>
          <p:cNvSpPr/>
          <p:nvPr/>
        </p:nvSpPr>
        <p:spPr>
          <a:xfrm>
            <a:off x="744220" y="6107430"/>
            <a:ext cx="260350" cy="260350"/>
          </a:xfrm>
          <a:prstGeom prst="ellipse"/>
          <a:gradFill>
            <a:gsLst>
              <a:gs pos="15000">
                <a:srgbClr val="2F61F0"/>
              </a:gs>
              <a:gs pos="100000">
                <a:srgbClr val="31CDF6"/>
              </a:gs>
            </a:gsLst>
            <a:lin ang="2700000" scaled="false"/>
          </a:gradFill>
          <a:ln w="12700">
            <a:noFill/>
            <a:prstDash val="solid"/>
            <a:miter lim="800000"/>
          </a:ln>
        </p:spPr>
        <p:txBody>
          <a:bodyPr anchor="ctr"/>
          <a:lstStyle>
            <a:lvl1pPr marL="0" lvl="0" algn="l" defTabSz="914400">
              <a:defRPr sz="1800" kern="1200">
                <a:solidFill>
                  <a:schemeClr val="tx1"/>
                </a:solidFill>
                <a:latin typeface="字魂58号-创中黑"/>
                <a:ea typeface="字魂58号-创中黑"/>
              </a:defRPr>
            </a:lvl1pPr>
            <a:lvl2pPr marL="457200" lvl="1" algn="l" defTabSz="914400">
              <a:defRPr sz="1800" kern="1200">
                <a:solidFill>
                  <a:schemeClr val="tx1"/>
                </a:solidFill>
                <a:latin typeface="字魂58号-创中黑"/>
                <a:ea typeface="字魂58号-创中黑"/>
              </a:defRPr>
            </a:lvl2pPr>
            <a:lvl3pPr marL="914400" lvl="2" algn="l" defTabSz="914400">
              <a:defRPr sz="1800" kern="1200">
                <a:solidFill>
                  <a:schemeClr val="tx1"/>
                </a:solidFill>
                <a:latin typeface="字魂58号-创中黑"/>
                <a:ea typeface="字魂58号-创中黑"/>
              </a:defRPr>
            </a:lvl3pPr>
            <a:lvl4pPr marL="1371600" lvl="3" algn="l" defTabSz="914400">
              <a:defRPr sz="1800" kern="1200">
                <a:solidFill>
                  <a:schemeClr val="tx1"/>
                </a:solidFill>
                <a:latin typeface="字魂58号-创中黑"/>
                <a:ea typeface="字魂58号-创中黑"/>
              </a:defRPr>
            </a:lvl4pPr>
            <a:lvl5pPr marL="1828800" lvl="4" algn="l" defTabSz="914400">
              <a:defRPr sz="1800" kern="1200">
                <a:solidFill>
                  <a:schemeClr val="tx1"/>
                </a:solidFill>
                <a:latin typeface="字魂58号-创中黑"/>
                <a:ea typeface="字魂58号-创中黑"/>
              </a:defRPr>
            </a:lvl5pPr>
            <a:lvl6pPr marL="2286000" lvl="5" algn="l" defTabSz="914400">
              <a:defRPr sz="1800" kern="1200">
                <a:solidFill>
                  <a:schemeClr val="tx1"/>
                </a:solidFill>
                <a:latin typeface="字魂58号-创中黑"/>
                <a:ea typeface="字魂58号-创中黑"/>
              </a:defRPr>
            </a:lvl6pPr>
            <a:lvl7pPr marL="2743200" lvl="6" algn="l" defTabSz="914400">
              <a:defRPr sz="1800" kern="1200">
                <a:solidFill>
                  <a:schemeClr val="tx1"/>
                </a:solidFill>
                <a:latin typeface="字魂58号-创中黑"/>
                <a:ea typeface="字魂58号-创中黑"/>
              </a:defRPr>
            </a:lvl7pPr>
            <a:lvl8pPr marL="3200400" lvl="7" algn="l" defTabSz="914400">
              <a:defRPr sz="1800" kern="1200">
                <a:solidFill>
                  <a:schemeClr val="tx1"/>
                </a:solidFill>
                <a:latin typeface="字魂58号-创中黑"/>
                <a:ea typeface="字魂58号-创中黑"/>
              </a:defRPr>
            </a:lvl8pPr>
            <a:lvl9pPr marL="3657600" lvl="8" algn="l" defTabSz="914400">
              <a:defRPr sz="1800" kern="1200">
                <a:solidFill>
                  <a:schemeClr val="tx1"/>
                </a:solidFill>
                <a:latin typeface="字魂58号-创中黑"/>
                <a:ea typeface="字魂58号-创中黑"/>
              </a:defRPr>
            </a:lvl9pPr>
          </a:lstStyle>
          <a:p>
            <a:pPr algn="ctr">
              <a:lnSpc>
                <a:spcPct val="130000"/>
              </a:lnSpc>
            </a:pPr>
            <a:endParaRPr lang="zh-CN">
              <a:solidFill>
                <a:schemeClr val="lt1"/>
              </a:solidFill>
              <a:latin typeface="微软雅黑"/>
              <a:ea typeface="微软雅黑"/>
            </a:endParaRPr>
          </a:p>
        </p:txBody>
      </p:sp>
      <p:pic>
        <p:nvPicPr>
          <p:cNvPr id="17" name=""/>
          <p:cNvPicPr>
            <a:picLocks noChangeAspect="true"/>
          </p:cNvPicPr>
          <p:nvPr/>
        </p:nvPicPr>
        <p:blipFill>
          <a:blip r:embed="rId2"/>
          <a:stretch>
            <a:fillRect/>
          </a:stretch>
        </p:blipFill>
        <p:spPr>
          <a:xfrm rot="0" flipH="false" flipV="false">
            <a:off x="63" y="63"/>
            <a:ext cx="1634160" cy="1218501"/>
          </a:xfrm>
          <a:prstGeom prst="rect"/>
        </p:spPr>
      </p:pic>
    </p:spTree>
  </p:cSld>
  <p:clrMapOvr>
    <a:masterClrMapping/>
  </p:clrMapOvr>
</p:sldLayout>
</file>

<file path=ppt/slideMasters/_rels/slideMaster1.xml.rels><?xml version="1.0" encoding="UTF-8" standalone="yes"?><Relationships xmlns="http://schemas.openxmlformats.org/package/2006/relationships"><Relationship Id="rId5" Type="http://schemas.openxmlformats.org/officeDocument/2006/relationships/theme" Target="../theme/theme1.xml" /><Relationship Id="rId3" Type="http://schemas.openxmlformats.org/officeDocument/2006/relationships/slideLayout" Target="../slideLayouts/slideLayout4.xml" /><Relationship Id="rId4" Type="http://schemas.openxmlformats.org/officeDocument/2006/relationships/slideLayout" Target="../slideLayouts/slideLayout5.xml" /><Relationship Id="rId2" Type="http://schemas.openxmlformats.org/officeDocument/2006/relationships/slideLayout" Target="../slideLayouts/slideLayout3.xml" /><Relationship Id="rId0" Type="http://schemas.openxmlformats.org/officeDocument/2006/relationships/slideLayout" Target="../slideLayouts/slideLayout1.xml" /><Relationship Id="rId1"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 id="2147483650" r:id="rId1"/>
    <p:sldLayoutId id="2147483651" r:id="rId2"/>
    <p:sldLayoutId id="2147483652" r:id="rId3"/>
    <p:sldLayoutId id="2147483653" r:id="rId4"/>
  </p:sldLayoutIdLst>
  <p:txStyles>
    <p:titleStyle>
      <a:lvl1pPr lvl="0" algn="l" defTabSz="914400">
        <a:lnSpc>
          <a:spcPct val="100000"/>
        </a:lnSpc>
        <a:spcBef>
          <a:spcPct val="1"/>
        </a:spcBef>
        <a:buNone/>
        <a:defRPr sz="3600" b="true" u="none" strike="noStrike" kern="1200" spc="300" baseline="0">
          <a:solidFill>
            <a:schemeClr val="tx1">
              <a:lumMod val="85000"/>
              <a:lumOff val="15000"/>
            </a:schemeClr>
          </a:solidFill>
          <a:latin typeface="Arial"/>
          <a:ea typeface="微软雅黑"/>
        </a:defRPr>
      </a:lvl1pPr>
    </p:titleStyle>
    <p:bodyStyle>
      <a:lvl1pPr marL="228600" lvl="0" indent="-228600" algn="l" defTabSz="914400">
        <a:lnSpc>
          <a:spcPct val="130000"/>
        </a:lnSpc>
        <a:spcBef>
          <a:spcPts val="0"/>
        </a:spcBef>
        <a:spcAft>
          <a:spcPts val="1000"/>
        </a:spcAft>
        <a:buFont typeface="Arial" charset="0"/>
        <a:buChar char="●"/>
        <a:defRPr sz="1800" u="none" strike="noStrike" kern="1200" spc="150" baseline="0">
          <a:solidFill>
            <a:schemeClr val="tx1">
              <a:lumMod val="65000"/>
              <a:lumOff val="35000"/>
            </a:schemeClr>
          </a:solidFill>
          <a:latin typeface="Arial"/>
          <a:ea typeface="微软雅黑"/>
        </a:defRPr>
      </a:lvl1pPr>
      <a:lvl2pPr marL="685800" lvl="1" indent="-228600" algn="l" defTabSz="914400">
        <a:lnSpc>
          <a:spcPct val="120000"/>
        </a:lnSpc>
        <a:spcBef>
          <a:spcPts val="0"/>
        </a:spcBef>
        <a:spcAft>
          <a:spcPts val="600"/>
        </a:spcAft>
        <a:buFont typeface="Arial" charset="0"/>
        <a:buChar char="●"/>
        <a:defRPr sz="1600" u="none" strike="noStrike" kern="1200" spc="150" baseline="0">
          <a:solidFill>
            <a:schemeClr val="tx1">
              <a:lumMod val="65000"/>
              <a:lumOff val="35000"/>
            </a:schemeClr>
          </a:solidFill>
          <a:latin typeface="Arial"/>
          <a:ea typeface="微软雅黑"/>
        </a:defRPr>
      </a:lvl2pPr>
      <a:lvl3pPr marL="1143000" lvl="2" indent="-228600" algn="l" defTabSz="914400">
        <a:lnSpc>
          <a:spcPct val="120000"/>
        </a:lnSpc>
        <a:spcBef>
          <a:spcPts val="0"/>
        </a:spcBef>
        <a:spcAft>
          <a:spcPts val="600"/>
        </a:spcAft>
        <a:buFont typeface="Arial" charset="0"/>
        <a:buChar char="●"/>
        <a:defRPr sz="1600" u="none" strike="noStrike" kern="1200" spc="150" baseline="0">
          <a:solidFill>
            <a:schemeClr val="tx1">
              <a:lumMod val="65000"/>
              <a:lumOff val="35000"/>
            </a:schemeClr>
          </a:solidFill>
          <a:latin typeface="Arial"/>
          <a:ea typeface="微软雅黑"/>
        </a:defRPr>
      </a:lvl3pPr>
      <a:lvl4pPr marL="1600200" lvl="3" indent="-228600" algn="l" defTabSz="914400">
        <a:lnSpc>
          <a:spcPct val="120000"/>
        </a:lnSpc>
        <a:spcBef>
          <a:spcPts val="0"/>
        </a:spcBef>
        <a:spcAft>
          <a:spcPts val="300"/>
        </a:spcAft>
        <a:buFont typeface="Wingdings" charset="0"/>
        <a:buChar char=""/>
        <a:defRPr sz="1400" u="none" strike="noStrike" kern="1200" spc="150" baseline="0">
          <a:solidFill>
            <a:schemeClr val="tx1">
              <a:lumMod val="65000"/>
              <a:lumOff val="35000"/>
            </a:schemeClr>
          </a:solidFill>
          <a:latin typeface="Arial"/>
          <a:ea typeface="微软雅黑"/>
        </a:defRPr>
      </a:lvl4pPr>
      <a:lvl5pPr marL="2057400" lvl="4" indent="-228600" algn="l" defTabSz="914400">
        <a:lnSpc>
          <a:spcPct val="120000"/>
        </a:lnSpc>
        <a:spcBef>
          <a:spcPts val="0"/>
        </a:spcBef>
        <a:spcAft>
          <a:spcPts val="300"/>
        </a:spcAft>
        <a:buFont typeface="Arial" charset="0"/>
        <a:buChar char="•"/>
        <a:defRPr sz="1400" u="none" strike="noStrike" kern="1200" spc="150" baseline="0">
          <a:solidFill>
            <a:schemeClr val="tx1">
              <a:lumMod val="65000"/>
              <a:lumOff val="35000"/>
            </a:schemeClr>
          </a:solidFill>
          <a:latin typeface="Arial"/>
          <a:ea typeface="微软雅黑"/>
        </a:defRPr>
      </a:lvl5pPr>
      <a:lvl6pPr marL="2514600" lvl="5" indent="-228600" algn="l" defTabSz="914400">
        <a:lnSpc>
          <a:spcPct val="90000"/>
        </a:lnSpc>
        <a:spcBef>
          <a:spcPts val="500"/>
        </a:spcBef>
        <a:buFont typeface="Arial" charset="0"/>
        <a:buChar char="•"/>
        <a:defRPr sz="1800" kern="1200">
          <a:solidFill>
            <a:schemeClr val="tx1"/>
          </a:solidFill>
          <a:latin typeface="字魂58号-创中黑"/>
          <a:ea typeface="字魂58号-创中黑"/>
        </a:defRPr>
      </a:lvl6pPr>
      <a:lvl7pPr marL="2971800" lvl="6" indent="-228600" algn="l" defTabSz="914400">
        <a:lnSpc>
          <a:spcPct val="90000"/>
        </a:lnSpc>
        <a:spcBef>
          <a:spcPts val="500"/>
        </a:spcBef>
        <a:buFont typeface="Arial" charset="0"/>
        <a:buChar char="•"/>
        <a:defRPr sz="1800" kern="1200">
          <a:solidFill>
            <a:schemeClr val="tx1"/>
          </a:solidFill>
          <a:latin typeface="字魂58号-创中黑"/>
          <a:ea typeface="字魂58号-创中黑"/>
        </a:defRPr>
      </a:lvl7pPr>
      <a:lvl8pPr marL="3429000" lvl="7" indent="-228600" algn="l" defTabSz="914400">
        <a:lnSpc>
          <a:spcPct val="90000"/>
        </a:lnSpc>
        <a:spcBef>
          <a:spcPts val="500"/>
        </a:spcBef>
        <a:buFont typeface="Arial" charset="0"/>
        <a:buChar char="•"/>
        <a:defRPr sz="1800" kern="1200">
          <a:solidFill>
            <a:schemeClr val="tx1"/>
          </a:solidFill>
          <a:latin typeface="字魂58号-创中黑"/>
          <a:ea typeface="字魂58号-创中黑"/>
        </a:defRPr>
      </a:lvl8pPr>
      <a:lvl9pPr marL="3886200" lvl="8" indent="-228600" algn="l" defTabSz="914400">
        <a:lnSpc>
          <a:spcPct val="90000"/>
        </a:lnSpc>
        <a:spcBef>
          <a:spcPts val="500"/>
        </a:spcBef>
        <a:buFont typeface="Arial" charset="0"/>
        <a:buChar char="•"/>
        <a:defRPr sz="1800" kern="1200">
          <a:solidFill>
            <a:schemeClr val="tx1"/>
          </a:solidFill>
          <a:latin typeface="字魂58号-创中黑"/>
          <a:ea typeface="字魂58号-创中黑"/>
        </a:defRPr>
      </a:lvl9pPr>
    </p:bodyStyle>
    <p:otherStyle>
      <a:lvl1pPr marL="0" lvl="0" algn="l" defTabSz="914400">
        <a:defRPr sz="1800" kern="1200">
          <a:solidFill>
            <a:schemeClr val="tx1"/>
          </a:solidFill>
          <a:latin typeface="字魂58号-创中黑"/>
          <a:ea typeface="字魂58号-创中黑"/>
        </a:defRPr>
      </a:lvl1pPr>
      <a:lvl2pPr marL="457200" lvl="1" algn="l" defTabSz="914400">
        <a:defRPr sz="1800" kern="1200">
          <a:solidFill>
            <a:schemeClr val="tx1"/>
          </a:solidFill>
          <a:latin typeface="字魂58号-创中黑"/>
          <a:ea typeface="字魂58号-创中黑"/>
        </a:defRPr>
      </a:lvl2pPr>
      <a:lvl3pPr marL="914400" lvl="2" algn="l" defTabSz="914400">
        <a:defRPr sz="1800" kern="1200">
          <a:solidFill>
            <a:schemeClr val="tx1"/>
          </a:solidFill>
          <a:latin typeface="字魂58号-创中黑"/>
          <a:ea typeface="字魂58号-创中黑"/>
        </a:defRPr>
      </a:lvl3pPr>
      <a:lvl4pPr marL="1371600" lvl="3" algn="l" defTabSz="914400">
        <a:defRPr sz="1800" kern="1200">
          <a:solidFill>
            <a:schemeClr val="tx1"/>
          </a:solidFill>
          <a:latin typeface="字魂58号-创中黑"/>
          <a:ea typeface="字魂58号-创中黑"/>
        </a:defRPr>
      </a:lvl4pPr>
      <a:lvl5pPr marL="1828800" lvl="4" algn="l" defTabSz="914400">
        <a:defRPr sz="1800" kern="1200">
          <a:solidFill>
            <a:schemeClr val="tx1"/>
          </a:solidFill>
          <a:latin typeface="字魂58号-创中黑"/>
          <a:ea typeface="字魂58号-创中黑"/>
        </a:defRPr>
      </a:lvl5pPr>
      <a:lvl6pPr marL="2286000" lvl="5" algn="l" defTabSz="914400">
        <a:defRPr sz="1800" kern="1200">
          <a:solidFill>
            <a:schemeClr val="tx1"/>
          </a:solidFill>
          <a:latin typeface="字魂58号-创中黑"/>
          <a:ea typeface="字魂58号-创中黑"/>
        </a:defRPr>
      </a:lvl6pPr>
      <a:lvl7pPr marL="2743200" lvl="6" algn="l" defTabSz="914400">
        <a:defRPr sz="1800" kern="1200">
          <a:solidFill>
            <a:schemeClr val="tx1"/>
          </a:solidFill>
          <a:latin typeface="字魂58号-创中黑"/>
          <a:ea typeface="字魂58号-创中黑"/>
        </a:defRPr>
      </a:lvl7pPr>
      <a:lvl8pPr marL="3200400" lvl="7" algn="l" defTabSz="914400">
        <a:defRPr sz="1800" kern="1200">
          <a:solidFill>
            <a:schemeClr val="tx1"/>
          </a:solidFill>
          <a:latin typeface="字魂58号-创中黑"/>
          <a:ea typeface="字魂58号-创中黑"/>
        </a:defRPr>
      </a:lvl8pPr>
      <a:lvl9pPr marL="3657600" lvl="8" algn="l" defTabSz="914400">
        <a:defRPr sz="1800" kern="1200">
          <a:solidFill>
            <a:schemeClr val="tx1"/>
          </a:solidFill>
          <a:latin typeface="字魂58号-创中黑"/>
          <a:ea typeface="字魂58号-创中黑"/>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4.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4.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4.xml"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3.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4.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p:cSld>
    <p:spTree>
      <p:nvGrpSpPr>
        <p:cNvPr id="1" name="" descr="{&quot;isTemplate&quot;:true,&quot;type&quot;:&quot;cover&quot;}"/>
        <p:cNvGrpSpPr/>
        <p:nvPr/>
      </p:nvGrpSpPr>
      <p:grpSpPr>
        <a:xfrm>
          <a:off x="0" y="0"/>
          <a:ext cx="0" cy="0"/>
          <a:chOff x="0" y="0"/>
          <a:chExt cx="0" cy="0"/>
        </a:xfrm>
      </p:grpSpPr>
      <p:sp>
        <p:nvSpPr>
          <p:cNvPr id="2" name="图形" descr="{&quot;isTemplate&quot;:true,&quot;type&quot;:&quot;title&quot;,&quot;canOmit&quot;:false}"/>
          <p:cNvSpPr/>
          <p:nvPr/>
        </p:nvSpPr>
        <p:spPr>
          <a:xfrm rot="0" flipH="false" flipV="false">
            <a:off x="524563" y="1316939"/>
            <a:ext cx="9465235" cy="1428749"/>
          </a:xfrm>
          <a:prstGeom prst="rect"/>
        </p:spPr>
        <p:txBody>
          <a:bodyPr wrap="square" lIns="0" tIns="0" rIns="0" bIns="0">
            <a:noAutofit/>
          </a:bodyPr>
          <a:lstStyle>
            <a:lvl1pPr marL="0" lvl="0" algn="l" defTabSz="914400">
              <a:defRPr sz="1800" kern="1200">
                <a:solidFill>
                  <a:schemeClr val="tx1"/>
                </a:solidFill>
                <a:latin typeface="字魂58号-创中黑"/>
                <a:ea typeface="字魂58号-创中黑"/>
              </a:defRPr>
            </a:lvl1pPr>
            <a:lvl2pPr marL="457200" lvl="1" algn="l" defTabSz="914400">
              <a:defRPr sz="1800" kern="1200">
                <a:solidFill>
                  <a:schemeClr val="tx1"/>
                </a:solidFill>
                <a:latin typeface="字魂58号-创中黑"/>
                <a:ea typeface="字魂58号-创中黑"/>
              </a:defRPr>
            </a:lvl2pPr>
            <a:lvl3pPr marL="914400" lvl="2" algn="l" defTabSz="914400">
              <a:defRPr sz="1800" kern="1200">
                <a:solidFill>
                  <a:schemeClr val="tx1"/>
                </a:solidFill>
                <a:latin typeface="字魂58号-创中黑"/>
                <a:ea typeface="字魂58号-创中黑"/>
              </a:defRPr>
            </a:lvl3pPr>
            <a:lvl4pPr marL="1371600" lvl="3" algn="l" defTabSz="914400">
              <a:defRPr sz="1800" kern="1200">
                <a:solidFill>
                  <a:schemeClr val="tx1"/>
                </a:solidFill>
                <a:latin typeface="字魂58号-创中黑"/>
                <a:ea typeface="字魂58号-创中黑"/>
              </a:defRPr>
            </a:lvl4pPr>
            <a:lvl5pPr marL="1828800" lvl="4" algn="l" defTabSz="914400">
              <a:defRPr sz="1800" kern="1200">
                <a:solidFill>
                  <a:schemeClr val="tx1"/>
                </a:solidFill>
                <a:latin typeface="字魂58号-创中黑"/>
                <a:ea typeface="字魂58号-创中黑"/>
              </a:defRPr>
            </a:lvl5pPr>
            <a:lvl6pPr marL="2286000" lvl="5" algn="l" defTabSz="914400">
              <a:defRPr sz="1800" kern="1200">
                <a:solidFill>
                  <a:schemeClr val="tx1"/>
                </a:solidFill>
                <a:latin typeface="字魂58号-创中黑"/>
                <a:ea typeface="字魂58号-创中黑"/>
              </a:defRPr>
            </a:lvl6pPr>
            <a:lvl7pPr marL="2743200" lvl="6" algn="l" defTabSz="914400">
              <a:defRPr sz="1800" kern="1200">
                <a:solidFill>
                  <a:schemeClr val="tx1"/>
                </a:solidFill>
                <a:latin typeface="字魂58号-创中黑"/>
                <a:ea typeface="字魂58号-创中黑"/>
              </a:defRPr>
            </a:lvl7pPr>
            <a:lvl8pPr marL="3200400" lvl="7" algn="l" defTabSz="914400">
              <a:defRPr sz="1800" kern="1200">
                <a:solidFill>
                  <a:schemeClr val="tx1"/>
                </a:solidFill>
                <a:latin typeface="字魂58号-创中黑"/>
                <a:ea typeface="字魂58号-创中黑"/>
              </a:defRPr>
            </a:lvl8pPr>
            <a:lvl9pPr marL="3657600" lvl="8" algn="l" defTabSz="914400">
              <a:defRPr sz="1800" kern="1200">
                <a:solidFill>
                  <a:schemeClr val="tx1"/>
                </a:solidFill>
                <a:latin typeface="字魂58号-创中黑"/>
                <a:ea typeface="字魂58号-创中黑"/>
              </a:defRPr>
            </a:lvl9pPr>
          </a:lstStyle>
          <a:p>
            <a:pPr algn="ctr">
              <a:lnSpc>
                <a:spcPct val="130000"/>
              </a:lnSpc>
            </a:pPr>
            <a:r>
              <a:rPr lang="zh-CN" sz="3600" b="true">
                <a:latin typeface="微软雅黑"/>
                <a:ea typeface="微软雅黑"/>
              </a:rPr>
              <a:t>Solving 0–1 Knapsack via DP, GNN, and RL (DQN)</a:t>
            </a:r>
            <a:endParaRPr lang="zh-CN" sz="6600" b="true" i="false" strike="noStrike" spc="0">
              <a:ln/>
              <a:solidFill>
                <a:srgbClr val="00BFCF">
                  <a:alpha val="100000"/>
                </a:srgbClr>
              </a:solidFill>
              <a:effectLst>
                <a:outerShdw blurRad="63500" dist="0" dir="0" sx="102000" sy="102000" algn="ctr">
                  <a:srgbClr val="000000">
                    <a:alpha val="40000"/>
                  </a:srgbClr>
                </a:outerShdw>
              </a:effectLst>
              <a:latin typeface="微软雅黑"/>
              <a:ea typeface="微软雅黑"/>
            </a:endParaRPr>
          </a:p>
        </p:txBody>
      </p:sp>
      <p:sp>
        <p:nvSpPr>
          <p:cNvPr id="3" name=""/>
          <p:cNvSpPr txBox="true"/>
          <p:nvPr/>
        </p:nvSpPr>
        <p:spPr>
          <a:xfrm rot="0" flipH="false" flipV="false">
            <a:off x="1472750" y="3194106"/>
            <a:ext cx="8413750" cy="3505200"/>
          </a:xfrm>
          <a:prstGeom prst="rect">
            <a:avLst/>
          </a:prstGeom>
          <a:ln w="12700">
            <a:prstDash val="solid"/>
          </a:ln>
        </p:spPr>
        <p:txBody>
          <a:bodyPr>
            <a:spAutoFit/>
          </a:bodyPr>
          <a:p>
            <a:pPr algn="l">
              <a:lnSpc>
                <a:spcPct val="200000"/>
              </a:lnSpc>
            </a:pPr>
            <a:r>
              <a:rPr sz="1600">
                <a:solidFill>
                  <a:srgbClr val="000000">
                    <a:alpha val="100000"/>
                  </a:srgbClr>
                </a:solidFill>
                <a:latin typeface="Times New Roman"/>
                <a:ea typeface="Times New Roman"/>
              </a:rPr>
              <a:t>Chunguang Lu 1365419 W08</a:t>
            </a:r>
            <a:r>
              <a:rPr sz="1600">
                <a:solidFill>
                  <a:srgbClr val="000000">
                    <a:alpha val="100000"/>
                  </a:srgbClr>
                </a:solidFill>
                <a:latin typeface="Times New Roman"/>
                <a:ea typeface="Times New Roman"/>
              </a:rPr>
              <a:t> </a:t>
            </a:r>
            <a:r>
              <a:rPr sz="1600">
                <a:solidFill>
                  <a:srgbClr val="000000">
                    <a:alpha val="100000"/>
                  </a:srgbClr>
                </a:solidFill>
                <a:latin typeface="Times New Roman"/>
                <a:ea typeface="Times New Roman"/>
              </a:rPr>
              <a:t>   </a:t>
            </a:r>
            <a:r>
              <a:rPr sz="1600">
                <a:solidFill>
                  <a:srgbClr val="000000">
                    <a:alpha val="100000"/>
                  </a:srgbClr>
                </a:solidFill>
                <a:latin typeface="Times New Roman"/>
                <a:ea typeface="Times New Roman"/>
              </a:rPr>
              <a:t> </a:t>
            </a:r>
            <a:endParaRPr/>
          </a:p>
          <a:p>
            <a:pPr algn="l">
              <a:lnSpc>
                <a:spcPct val="200000"/>
              </a:lnSpc>
            </a:pPr>
            <a:r>
              <a:rPr sz="1600">
                <a:solidFill>
                  <a:srgbClr val="000000">
                    <a:alpha val="100000"/>
                  </a:srgbClr>
                </a:solidFill>
                <a:latin typeface="Times New Roman"/>
                <a:ea typeface="Times New Roman"/>
              </a:rPr>
              <a:t>Xiaoqian Zhang 1365436 W08 </a:t>
            </a:r>
            <a:endParaRPr/>
          </a:p>
          <a:p>
            <a:pPr algn="l">
              <a:lnSpc>
                <a:spcPct val="200000"/>
              </a:lnSpc>
            </a:pPr>
            <a:r>
              <a:rPr sz="1600">
                <a:solidFill>
                  <a:srgbClr val="000000">
                    <a:alpha val="100000"/>
                  </a:srgbClr>
                </a:solidFill>
                <a:latin typeface="Times New Roman"/>
                <a:ea typeface="Times New Roman"/>
              </a:rPr>
              <a:t>Guanlin  Li 1308245 W07</a:t>
            </a:r>
            <a:r>
              <a:rPr sz="1600">
                <a:solidFill>
                  <a:srgbClr val="000000">
                    <a:alpha val="100000"/>
                  </a:srgbClr>
                </a:solidFill>
                <a:latin typeface="Times New Roman"/>
                <a:ea typeface="Times New Roman"/>
              </a:rPr>
              <a:t>  </a:t>
            </a:r>
            <a:r>
              <a:rPr sz="1600">
                <a:solidFill>
                  <a:srgbClr val="000000">
                    <a:alpha val="100000"/>
                  </a:srgbClr>
                </a:solidFill>
                <a:latin typeface="Times New Roman"/>
                <a:ea typeface="Times New Roman"/>
              </a:rPr>
              <a:t> </a:t>
            </a:r>
            <a:r>
              <a:rPr sz="1600">
                <a:solidFill>
                  <a:srgbClr val="000000">
                    <a:alpha val="100000"/>
                  </a:srgbClr>
                </a:solidFill>
                <a:latin typeface="Times New Roman"/>
                <a:ea typeface="Times New Roman"/>
              </a:rPr>
              <a:t>  </a:t>
            </a:r>
            <a:r>
              <a:rPr sz="1600">
                <a:solidFill>
                  <a:srgbClr val="000000">
                    <a:alpha val="100000"/>
                  </a:srgbClr>
                </a:solidFill>
                <a:latin typeface="Times New Roman"/>
                <a:ea typeface="Times New Roman"/>
              </a:rPr>
              <a:t> </a:t>
            </a:r>
            <a:endParaRPr/>
          </a:p>
          <a:p>
            <a:pPr algn="l">
              <a:lnSpc>
                <a:spcPct val="200000"/>
              </a:lnSpc>
            </a:pPr>
            <a:r>
              <a:rPr sz="1600">
                <a:solidFill>
                  <a:srgbClr val="000000">
                    <a:alpha val="100000"/>
                  </a:srgbClr>
                </a:solidFill>
                <a:latin typeface="Times New Roman"/>
                <a:ea typeface="Times New Roman"/>
              </a:rPr>
              <a:t>Mingshi Cai 1365432 W08    </a:t>
            </a:r>
            <a:endParaRPr/>
          </a:p>
          <a:p>
            <a:pPr algn="l">
              <a:lnSpc>
                <a:spcPct val="200000"/>
              </a:lnSpc>
            </a:pPr>
            <a:r>
              <a:rPr sz="1600">
                <a:solidFill>
                  <a:srgbClr val="000000">
                    <a:alpha val="100000"/>
                  </a:srgbClr>
                </a:solidFill>
                <a:latin typeface="Times New Roman"/>
                <a:ea typeface="Times New Roman"/>
              </a:rPr>
              <a:t>Yiyue Yin 1235600 W07</a:t>
            </a:r>
            <a:endParaRPr/>
          </a:p>
          <a:p>
            <a:pPr algn="l">
              <a:lnSpc>
                <a:spcPct val="200000"/>
              </a:lnSpc>
            </a:pPr>
            <a:r>
              <a:rPr sz="1600">
                <a:solidFill>
                  <a:srgbClr val="000000">
                    <a:alpha val="100000"/>
                  </a:srgbClr>
                </a:solidFill>
                <a:latin typeface="Times New Roman"/>
                <a:ea typeface="Times New Roman"/>
              </a:rPr>
              <a:t>CPS3440 Analysis of Algorithms</a:t>
            </a:r>
            <a:endParaRPr/>
          </a:p>
          <a:p>
            <a:pPr algn="ctr">
              <a:lnSpc>
                <a:spcPct val="200000"/>
              </a:lnSpc>
            </a:pPr>
            <a:r>
              <a:rPr lang="en-US" sz="1600">
                <a:solidFill>
                  <a:srgbClr val="000000">
                    <a:alpha val="100000"/>
                  </a:srgbClr>
                </a:solidFill>
                <a:latin typeface="Times New Roman"/>
                <a:ea typeface="Times New Roman"/>
              </a:rPr>
              <a:t>2025.12.15</a:t>
            </a:r>
            <a:endParaRPr/>
          </a:p>
        </p:txBody>
      </p:sp>
    </p:spTree>
  </p:cSld>
  <p:clrMapOvr>
    <a:masterClrMapping/>
  </p:clrMapOvr>
  <p:timing>
    <p:tnLst>
      <p:par>
        <p:cTn dur="indefinite" restart="never" nodeType="tmRoot">
          <p:childTnLst>
            <p:seq concurrent="true" nextAc="seek">
              <p:cTn dur="indefinite" nodeType="mainSeq">
                <p:childTnLst>
                  <p:par>
                    <p:cTn fill="hold">
                      <p:stCondLst>
                        <p:cond delay="indefinite"/>
                      </p:stCondLst>
                      <p:childTnLst>
                        <p:par>
                          <p:cTn fill="hold">
                            <p:stCondLst>
                              <p:cond delay="0"/>
                            </p:stCondLst>
                          </p:cTn>
                        </p:par>
                        <p:par>
                          <p:cTn fill="hold">
                            <p:stCondLst>
                              <p:cond delay="0"/>
                            </p:stCondLst>
                            <p:childTnLst>
                              <p:par>
                                <p:cTn presetID="10" presetClass="entr" presetSubtype="0"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childTnLst>
                          </p:cTn>
                        </p:par>
                      </p:childTnLst>
                    </p:cTn>
                  </p:par>
                </p:childTnLst>
              </p:cTn>
              <p:prevCondLst>
                <p:cond evt="onPrev" delay="0"/>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p:cSld>
    <p:spTree>
      <p:nvGrpSpPr>
        <p:cNvPr id="4" name="" descr="{&quot;isTemplate&quot;:true,&quot;type&quot;:&quot;page&quot;,&quot;originSlideId&quot;:&quot;297b94c2&quot;}"/>
        <p:cNvGrpSpPr/>
        <p:nvPr/>
      </p:nvGrpSpPr>
      <p:grpSpPr>
        <a:xfrm>
          <a:off x="0" y="0"/>
          <a:ext cx="0" cy="0"/>
          <a:chOff x="0" y="0"/>
          <a:chExt cx="0" cy="0"/>
        </a:xfrm>
      </p:grpSpPr>
      <p:grpSp>
        <p:nvGrpSpPr>
          <p:cNvPr id="5" name=""/>
          <p:cNvGrpSpPr/>
          <p:nvPr/>
        </p:nvGrpSpPr>
        <p:grpSpPr>
          <a:xfrm rot="0" flipH="false" flipV="false">
            <a:off x="3935753" y="3032799"/>
            <a:ext cx="3909578" cy="2614706"/>
            <a:chOff x="2799759" y="1984263"/>
            <a:chExt cx="3909578" cy="2614706"/>
          </a:xfrm>
        </p:grpSpPr>
        <p:sp>
          <p:nvSpPr>
            <p:cNvPr id="6" name="椭圆 8"/>
            <p:cNvSpPr/>
            <p:nvPr/>
          </p:nvSpPr>
          <p:spPr>
            <a:xfrm rot="0" flipH="false" flipV="false">
              <a:off x="2799759" y="3322997"/>
              <a:ext cx="1275972" cy="1275972"/>
            </a:xfrm>
            <a:prstGeom prst="ellipse"/>
            <a:solidFill>
              <a:schemeClr val="accent1">
                <a:alpha val="100000"/>
              </a:schemeClr>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7" name="矩形 9"/>
            <p:cNvSpPr/>
            <p:nvPr/>
          </p:nvSpPr>
          <p:spPr>
            <a:xfrm rot="2663225" flipH="false" flipV="false">
              <a:off x="3779784" y="2713318"/>
              <a:ext cx="591746" cy="1219356"/>
            </a:xfrm>
            <a:prstGeom prst="rect"/>
            <a:solidFill>
              <a:schemeClr val="accent1">
                <a:alpha val="100000"/>
              </a:schemeClr>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8" name="椭圆 10"/>
            <p:cNvSpPr/>
            <p:nvPr/>
          </p:nvSpPr>
          <p:spPr>
            <a:xfrm rot="0" flipH="false" flipV="false">
              <a:off x="4075730" y="1984263"/>
              <a:ext cx="1275972" cy="1275972"/>
            </a:xfrm>
            <a:prstGeom prst="ellipse"/>
            <a:solidFill>
              <a:schemeClr val="accent1">
                <a:alpha val="100000"/>
              </a:schemeClr>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9" name="矩形 11"/>
            <p:cNvSpPr/>
            <p:nvPr/>
          </p:nvSpPr>
          <p:spPr>
            <a:xfrm rot="8039369" flipH="false" flipV="false">
              <a:off x="5049679" y="2547572"/>
              <a:ext cx="591746" cy="1219356"/>
            </a:xfrm>
            <a:prstGeom prst="rect"/>
            <a:solidFill>
              <a:schemeClr val="accent1">
                <a:alpha val="100000"/>
              </a:schemeClr>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10" name="椭圆 12"/>
            <p:cNvSpPr/>
            <p:nvPr/>
          </p:nvSpPr>
          <p:spPr>
            <a:xfrm rot="0" flipH="false" flipV="false">
              <a:off x="5433365" y="3320054"/>
              <a:ext cx="1275972" cy="1275972"/>
            </a:xfrm>
            <a:prstGeom prst="ellipse"/>
            <a:solidFill>
              <a:schemeClr val="accent1">
                <a:alpha val="100000"/>
              </a:schemeClr>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11" name="椭圆 17"/>
            <p:cNvSpPr/>
            <p:nvPr/>
          </p:nvSpPr>
          <p:spPr>
            <a:xfrm rot="0" flipH="false" flipV="false">
              <a:off x="2962712" y="3506054"/>
              <a:ext cx="919204" cy="919204"/>
            </a:xfrm>
            <a:prstGeom prst="ellipse"/>
            <a:solidFill>
              <a:schemeClr val="bg1"/>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12" name="椭圆 18"/>
            <p:cNvSpPr/>
            <p:nvPr/>
          </p:nvSpPr>
          <p:spPr>
            <a:xfrm rot="0" flipH="false" flipV="false">
              <a:off x="4253966" y="2162647"/>
              <a:ext cx="919204" cy="919204"/>
            </a:xfrm>
            <a:prstGeom prst="ellipse"/>
            <a:solidFill>
              <a:srgbClr val="F8F8F8"/>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13" name="椭圆 19"/>
            <p:cNvSpPr/>
            <p:nvPr/>
          </p:nvSpPr>
          <p:spPr>
            <a:xfrm rot="0" flipH="false" flipV="false">
              <a:off x="5621348" y="3512862"/>
              <a:ext cx="919204" cy="919204"/>
            </a:xfrm>
            <a:prstGeom prst="ellipse"/>
            <a:solidFill>
              <a:schemeClr val="bg1"/>
            </a:solidFill>
            <a:ln w="12700">
              <a:noFill/>
              <a:prstDash val="solid"/>
              <a:miter lim="800000"/>
            </a:ln>
          </p:spPr>
          <p:txBody>
            <a:bodyPr anchor="ctr"/>
            <a:p>
              <a:pPr algn="ctr">
                <a:lnSpc>
                  <a:spcPct val="130000"/>
                </a:lnSpc>
              </a:pPr>
              <a:endParaRPr lang="zh-CN" sz="2398">
                <a:solidFill>
                  <a:schemeClr val="lt1"/>
                </a:solidFill>
                <a:latin typeface="微软雅黑"/>
                <a:ea typeface="微软雅黑"/>
              </a:endParaRPr>
            </a:p>
          </p:txBody>
        </p:sp>
        <p:sp>
          <p:nvSpPr>
            <p:cNvPr id="14" name="KSO_Shape"/>
            <p:cNvSpPr/>
            <p:nvPr/>
          </p:nvSpPr>
          <p:spPr>
            <a:xfrm rot="0" flipH="false" flipV="false">
              <a:off x="4472705" y="2347099"/>
              <a:ext cx="481725" cy="507079"/>
            </a:xfrm>
            <a:custGeom>
              <a:rect l="0" t="0" r="r" b="b"/>
              <a:pathLst>
                <a:path w="403886" h="425143">
                  <a:moveTo>
                    <a:pt x="179300" y="173733"/>
                  </a:moveTo>
                  <a:lnTo>
                    <a:pt x="180664" y="173793"/>
                  </a:lnTo>
                  <a:lnTo>
                    <a:pt x="182029" y="173911"/>
                  </a:lnTo>
                  <a:lnTo>
                    <a:pt x="183334" y="174089"/>
                  </a:lnTo>
                  <a:lnTo>
                    <a:pt x="184580" y="174267"/>
                  </a:lnTo>
                  <a:lnTo>
                    <a:pt x="185886" y="174622"/>
                  </a:lnTo>
                  <a:lnTo>
                    <a:pt x="187191" y="174977"/>
                  </a:lnTo>
                  <a:lnTo>
                    <a:pt x="188437" y="175392"/>
                  </a:lnTo>
                  <a:lnTo>
                    <a:pt x="189564" y="175866"/>
                  </a:lnTo>
                  <a:lnTo>
                    <a:pt x="190811" y="176399"/>
                  </a:lnTo>
                  <a:lnTo>
                    <a:pt x="191879" y="176932"/>
                  </a:lnTo>
                  <a:lnTo>
                    <a:pt x="193065" y="177643"/>
                  </a:lnTo>
                  <a:lnTo>
                    <a:pt x="194133" y="178295"/>
                  </a:lnTo>
                  <a:lnTo>
                    <a:pt x="195142" y="179065"/>
                  </a:lnTo>
                  <a:lnTo>
                    <a:pt x="196151" y="179776"/>
                  </a:lnTo>
                  <a:lnTo>
                    <a:pt x="197159" y="180605"/>
                  </a:lnTo>
                  <a:lnTo>
                    <a:pt x="197990" y="181494"/>
                  </a:lnTo>
                  <a:lnTo>
                    <a:pt x="198880" y="182442"/>
                  </a:lnTo>
                  <a:lnTo>
                    <a:pt x="199711" y="183390"/>
                  </a:lnTo>
                  <a:lnTo>
                    <a:pt x="200542" y="184397"/>
                  </a:lnTo>
                  <a:lnTo>
                    <a:pt x="201313" y="185463"/>
                  </a:lnTo>
                  <a:lnTo>
                    <a:pt x="201966" y="186529"/>
                  </a:lnTo>
                  <a:lnTo>
                    <a:pt x="202559" y="187596"/>
                  </a:lnTo>
                  <a:lnTo>
                    <a:pt x="203212" y="188781"/>
                  </a:lnTo>
                  <a:lnTo>
                    <a:pt x="203746" y="189906"/>
                  </a:lnTo>
                  <a:lnTo>
                    <a:pt x="204220" y="191150"/>
                  </a:lnTo>
                  <a:lnTo>
                    <a:pt x="204636" y="192394"/>
                  </a:lnTo>
                  <a:lnTo>
                    <a:pt x="204992" y="193579"/>
                  </a:lnTo>
                  <a:lnTo>
                    <a:pt x="205229" y="194882"/>
                  </a:lnTo>
                  <a:lnTo>
                    <a:pt x="205526" y="196186"/>
                  </a:lnTo>
                  <a:lnTo>
                    <a:pt x="205644" y="197548"/>
                  </a:lnTo>
                  <a:lnTo>
                    <a:pt x="205763" y="198911"/>
                  </a:lnTo>
                  <a:lnTo>
                    <a:pt x="205763" y="200273"/>
                  </a:lnTo>
                  <a:lnTo>
                    <a:pt x="205763" y="200806"/>
                  </a:lnTo>
                  <a:lnTo>
                    <a:pt x="205704" y="201339"/>
                  </a:lnTo>
                  <a:lnTo>
                    <a:pt x="205585" y="202465"/>
                  </a:lnTo>
                  <a:lnTo>
                    <a:pt x="277915" y="274679"/>
                  </a:lnTo>
                  <a:lnTo>
                    <a:pt x="278804" y="275686"/>
                  </a:lnTo>
                  <a:lnTo>
                    <a:pt x="279576" y="276693"/>
                  </a:lnTo>
                  <a:lnTo>
                    <a:pt x="280229" y="277759"/>
                  </a:lnTo>
                  <a:lnTo>
                    <a:pt x="280763" y="278944"/>
                  </a:lnTo>
                  <a:lnTo>
                    <a:pt x="281178" y="280188"/>
                  </a:lnTo>
                  <a:lnTo>
                    <a:pt x="281475" y="281373"/>
                  </a:lnTo>
                  <a:lnTo>
                    <a:pt x="281653" y="282617"/>
                  </a:lnTo>
                  <a:lnTo>
                    <a:pt x="281712" y="283861"/>
                  </a:lnTo>
                  <a:lnTo>
                    <a:pt x="281653" y="285046"/>
                  </a:lnTo>
                  <a:lnTo>
                    <a:pt x="281475" y="286349"/>
                  </a:lnTo>
                  <a:lnTo>
                    <a:pt x="281178" y="287534"/>
                  </a:lnTo>
                  <a:lnTo>
                    <a:pt x="280763" y="288719"/>
                  </a:lnTo>
                  <a:lnTo>
                    <a:pt x="280229" y="289904"/>
                  </a:lnTo>
                  <a:lnTo>
                    <a:pt x="279576" y="290970"/>
                  </a:lnTo>
                  <a:lnTo>
                    <a:pt x="278804" y="292096"/>
                  </a:lnTo>
                  <a:lnTo>
                    <a:pt x="277915" y="293043"/>
                  </a:lnTo>
                  <a:lnTo>
                    <a:pt x="271922" y="299027"/>
                  </a:lnTo>
                  <a:lnTo>
                    <a:pt x="270972" y="299915"/>
                  </a:lnTo>
                  <a:lnTo>
                    <a:pt x="269904" y="300626"/>
                  </a:lnTo>
                  <a:lnTo>
                    <a:pt x="268777" y="301219"/>
                  </a:lnTo>
                  <a:lnTo>
                    <a:pt x="267650" y="301811"/>
                  </a:lnTo>
                  <a:lnTo>
                    <a:pt x="266463" y="302107"/>
                  </a:lnTo>
                  <a:lnTo>
                    <a:pt x="265217" y="302463"/>
                  </a:lnTo>
                  <a:lnTo>
                    <a:pt x="263971" y="302581"/>
                  </a:lnTo>
                  <a:lnTo>
                    <a:pt x="262725" y="302700"/>
                  </a:lnTo>
                  <a:lnTo>
                    <a:pt x="261419" y="302581"/>
                  </a:lnTo>
                  <a:lnTo>
                    <a:pt x="260233" y="302463"/>
                  </a:lnTo>
                  <a:lnTo>
                    <a:pt x="258987" y="302107"/>
                  </a:lnTo>
                  <a:lnTo>
                    <a:pt x="257741" y="301811"/>
                  </a:lnTo>
                  <a:lnTo>
                    <a:pt x="256613" y="301219"/>
                  </a:lnTo>
                  <a:lnTo>
                    <a:pt x="255486" y="300626"/>
                  </a:lnTo>
                  <a:lnTo>
                    <a:pt x="254477" y="299915"/>
                  </a:lnTo>
                  <a:lnTo>
                    <a:pt x="253528" y="299027"/>
                  </a:lnTo>
                  <a:lnTo>
                    <a:pt x="180961" y="226576"/>
                  </a:lnTo>
                  <a:lnTo>
                    <a:pt x="180130" y="226635"/>
                  </a:lnTo>
                  <a:lnTo>
                    <a:pt x="179300" y="226694"/>
                  </a:lnTo>
                  <a:lnTo>
                    <a:pt x="177935" y="226694"/>
                  </a:lnTo>
                  <a:lnTo>
                    <a:pt x="176570" y="226576"/>
                  </a:lnTo>
                  <a:lnTo>
                    <a:pt x="175205" y="226457"/>
                  </a:lnTo>
                  <a:lnTo>
                    <a:pt x="173900" y="226161"/>
                  </a:lnTo>
                  <a:lnTo>
                    <a:pt x="172595" y="225924"/>
                  </a:lnTo>
                  <a:lnTo>
                    <a:pt x="171408" y="225569"/>
                  </a:lnTo>
                  <a:lnTo>
                    <a:pt x="170162" y="225095"/>
                  </a:lnTo>
                  <a:lnTo>
                    <a:pt x="168916" y="224680"/>
                  </a:lnTo>
                  <a:lnTo>
                    <a:pt x="167789" y="224147"/>
                  </a:lnTo>
                  <a:lnTo>
                    <a:pt x="166602" y="223495"/>
                  </a:lnTo>
                  <a:lnTo>
                    <a:pt x="165534" y="222903"/>
                  </a:lnTo>
                  <a:lnTo>
                    <a:pt x="164466" y="222251"/>
                  </a:lnTo>
                  <a:lnTo>
                    <a:pt x="163398" y="221481"/>
                  </a:lnTo>
                  <a:lnTo>
                    <a:pt x="162389" y="220652"/>
                  </a:lnTo>
                  <a:lnTo>
                    <a:pt x="161440" y="219882"/>
                  </a:lnTo>
                  <a:lnTo>
                    <a:pt x="160490" y="218993"/>
                  </a:lnTo>
                  <a:lnTo>
                    <a:pt x="159600" y="218104"/>
                  </a:lnTo>
                  <a:lnTo>
                    <a:pt x="158770" y="217038"/>
                  </a:lnTo>
                  <a:lnTo>
                    <a:pt x="158058" y="216090"/>
                  </a:lnTo>
                  <a:lnTo>
                    <a:pt x="157286" y="215024"/>
                  </a:lnTo>
                  <a:lnTo>
                    <a:pt x="156634" y="214017"/>
                  </a:lnTo>
                  <a:lnTo>
                    <a:pt x="155922" y="212832"/>
                  </a:lnTo>
                  <a:lnTo>
                    <a:pt x="155388" y="211766"/>
                  </a:lnTo>
                  <a:lnTo>
                    <a:pt x="154853" y="210522"/>
                  </a:lnTo>
                  <a:lnTo>
                    <a:pt x="154379" y="209396"/>
                  </a:lnTo>
                  <a:lnTo>
                    <a:pt x="153964" y="208152"/>
                  </a:lnTo>
                  <a:lnTo>
                    <a:pt x="153548" y="206849"/>
                  </a:lnTo>
                  <a:lnTo>
                    <a:pt x="153251" y="205545"/>
                  </a:lnTo>
                  <a:lnTo>
                    <a:pt x="153073" y="204302"/>
                  </a:lnTo>
                  <a:lnTo>
                    <a:pt x="152836" y="202998"/>
                  </a:lnTo>
                  <a:lnTo>
                    <a:pt x="152777" y="201636"/>
                  </a:lnTo>
                  <a:lnTo>
                    <a:pt x="152717" y="200273"/>
                  </a:lnTo>
                  <a:lnTo>
                    <a:pt x="152777" y="198911"/>
                  </a:lnTo>
                  <a:lnTo>
                    <a:pt x="152836" y="197548"/>
                  </a:lnTo>
                  <a:lnTo>
                    <a:pt x="153073" y="196186"/>
                  </a:lnTo>
                  <a:lnTo>
                    <a:pt x="153251" y="194882"/>
                  </a:lnTo>
                  <a:lnTo>
                    <a:pt x="153548" y="193579"/>
                  </a:lnTo>
                  <a:lnTo>
                    <a:pt x="153964" y="192394"/>
                  </a:lnTo>
                  <a:lnTo>
                    <a:pt x="154379" y="191150"/>
                  </a:lnTo>
                  <a:lnTo>
                    <a:pt x="154853" y="189906"/>
                  </a:lnTo>
                  <a:lnTo>
                    <a:pt x="155388" y="188781"/>
                  </a:lnTo>
                  <a:lnTo>
                    <a:pt x="155922" y="187596"/>
                  </a:lnTo>
                  <a:lnTo>
                    <a:pt x="156634" y="186529"/>
                  </a:lnTo>
                  <a:lnTo>
                    <a:pt x="157286" y="185463"/>
                  </a:lnTo>
                  <a:lnTo>
                    <a:pt x="158058" y="184397"/>
                  </a:lnTo>
                  <a:lnTo>
                    <a:pt x="158770" y="183390"/>
                  </a:lnTo>
                  <a:lnTo>
                    <a:pt x="159600" y="182442"/>
                  </a:lnTo>
                  <a:lnTo>
                    <a:pt x="160490" y="181494"/>
                  </a:lnTo>
                  <a:lnTo>
                    <a:pt x="161440" y="180605"/>
                  </a:lnTo>
                  <a:lnTo>
                    <a:pt x="162389" y="179776"/>
                  </a:lnTo>
                  <a:lnTo>
                    <a:pt x="163398" y="179065"/>
                  </a:lnTo>
                  <a:lnTo>
                    <a:pt x="164466" y="178295"/>
                  </a:lnTo>
                  <a:lnTo>
                    <a:pt x="165534" y="177643"/>
                  </a:lnTo>
                  <a:lnTo>
                    <a:pt x="166602" y="176932"/>
                  </a:lnTo>
                  <a:lnTo>
                    <a:pt x="167789" y="176399"/>
                  </a:lnTo>
                  <a:lnTo>
                    <a:pt x="168916" y="175866"/>
                  </a:lnTo>
                  <a:lnTo>
                    <a:pt x="170162" y="175392"/>
                  </a:lnTo>
                  <a:lnTo>
                    <a:pt x="171408" y="174977"/>
                  </a:lnTo>
                  <a:lnTo>
                    <a:pt x="172595" y="174622"/>
                  </a:lnTo>
                  <a:lnTo>
                    <a:pt x="173900" y="174267"/>
                  </a:lnTo>
                  <a:lnTo>
                    <a:pt x="175205" y="174089"/>
                  </a:lnTo>
                  <a:lnTo>
                    <a:pt x="176570" y="173911"/>
                  </a:lnTo>
                  <a:lnTo>
                    <a:pt x="177935" y="173793"/>
                  </a:lnTo>
                  <a:lnTo>
                    <a:pt x="179300" y="173733"/>
                  </a:lnTo>
                  <a:close/>
                  <a:moveTo>
                    <a:pt x="178516" y="147208"/>
                  </a:moveTo>
                  <a:lnTo>
                    <a:pt x="175788" y="147267"/>
                  </a:lnTo>
                  <a:lnTo>
                    <a:pt x="173179" y="147445"/>
                  </a:lnTo>
                  <a:lnTo>
                    <a:pt x="170510" y="147801"/>
                  </a:lnTo>
                  <a:lnTo>
                    <a:pt x="167900" y="148275"/>
                  </a:lnTo>
                  <a:lnTo>
                    <a:pt x="165409" y="148809"/>
                  </a:lnTo>
                  <a:lnTo>
                    <a:pt x="162859" y="149580"/>
                  </a:lnTo>
                  <a:lnTo>
                    <a:pt x="160427" y="150410"/>
                  </a:lnTo>
                  <a:lnTo>
                    <a:pt x="158055" y="151358"/>
                  </a:lnTo>
                  <a:lnTo>
                    <a:pt x="155742" y="152366"/>
                  </a:lnTo>
                  <a:lnTo>
                    <a:pt x="153489" y="153552"/>
                  </a:lnTo>
                  <a:lnTo>
                    <a:pt x="151235" y="154797"/>
                  </a:lnTo>
                  <a:lnTo>
                    <a:pt x="149100" y="156160"/>
                  </a:lnTo>
                  <a:lnTo>
                    <a:pt x="147083" y="157702"/>
                  </a:lnTo>
                  <a:lnTo>
                    <a:pt x="145067" y="159243"/>
                  </a:lnTo>
                  <a:lnTo>
                    <a:pt x="143110" y="160844"/>
                  </a:lnTo>
                  <a:lnTo>
                    <a:pt x="141271" y="162623"/>
                  </a:lnTo>
                  <a:lnTo>
                    <a:pt x="139611" y="164461"/>
                  </a:lnTo>
                  <a:lnTo>
                    <a:pt x="137891" y="166358"/>
                  </a:lnTo>
                  <a:lnTo>
                    <a:pt x="136349" y="168373"/>
                  </a:lnTo>
                  <a:lnTo>
                    <a:pt x="134866" y="170389"/>
                  </a:lnTo>
                  <a:lnTo>
                    <a:pt x="133561" y="172583"/>
                  </a:lnTo>
                  <a:lnTo>
                    <a:pt x="132256" y="174776"/>
                  </a:lnTo>
                  <a:lnTo>
                    <a:pt x="131070" y="177029"/>
                  </a:lnTo>
                  <a:lnTo>
                    <a:pt x="130003" y="179401"/>
                  </a:lnTo>
                  <a:lnTo>
                    <a:pt x="129113" y="181772"/>
                  </a:lnTo>
                  <a:lnTo>
                    <a:pt x="128223" y="184203"/>
                  </a:lnTo>
                  <a:lnTo>
                    <a:pt x="127512" y="186693"/>
                  </a:lnTo>
                  <a:lnTo>
                    <a:pt x="126919" y="189242"/>
                  </a:lnTo>
                  <a:lnTo>
                    <a:pt x="126444" y="191851"/>
                  </a:lnTo>
                  <a:lnTo>
                    <a:pt x="126207" y="194519"/>
                  </a:lnTo>
                  <a:lnTo>
                    <a:pt x="125970" y="197127"/>
                  </a:lnTo>
                  <a:lnTo>
                    <a:pt x="125911" y="199855"/>
                  </a:lnTo>
                  <a:lnTo>
                    <a:pt x="125911" y="202404"/>
                  </a:lnTo>
                  <a:lnTo>
                    <a:pt x="126088" y="204894"/>
                  </a:lnTo>
                  <a:lnTo>
                    <a:pt x="126385" y="207325"/>
                  </a:lnTo>
                  <a:lnTo>
                    <a:pt x="126800" y="209815"/>
                  </a:lnTo>
                  <a:lnTo>
                    <a:pt x="127334" y="212186"/>
                  </a:lnTo>
                  <a:lnTo>
                    <a:pt x="127927" y="214558"/>
                  </a:lnTo>
                  <a:lnTo>
                    <a:pt x="128698" y="216870"/>
                  </a:lnTo>
                  <a:lnTo>
                    <a:pt x="129528" y="219123"/>
                  </a:lnTo>
                  <a:lnTo>
                    <a:pt x="130477" y="221316"/>
                  </a:lnTo>
                  <a:lnTo>
                    <a:pt x="131485" y="223451"/>
                  </a:lnTo>
                  <a:lnTo>
                    <a:pt x="132671" y="225585"/>
                  </a:lnTo>
                  <a:lnTo>
                    <a:pt x="133798" y="227660"/>
                  </a:lnTo>
                  <a:lnTo>
                    <a:pt x="135163" y="229616"/>
                  </a:lnTo>
                  <a:lnTo>
                    <a:pt x="136527" y="231573"/>
                  </a:lnTo>
                  <a:lnTo>
                    <a:pt x="138009" y="233411"/>
                  </a:lnTo>
                  <a:lnTo>
                    <a:pt x="139611" y="235189"/>
                  </a:lnTo>
                  <a:lnTo>
                    <a:pt x="141153" y="236909"/>
                  </a:lnTo>
                  <a:lnTo>
                    <a:pt x="142932" y="238569"/>
                  </a:lnTo>
                  <a:lnTo>
                    <a:pt x="144711" y="240169"/>
                  </a:lnTo>
                  <a:lnTo>
                    <a:pt x="146550" y="241592"/>
                  </a:lnTo>
                  <a:lnTo>
                    <a:pt x="148447" y="243015"/>
                  </a:lnTo>
                  <a:lnTo>
                    <a:pt x="150405" y="244319"/>
                  </a:lnTo>
                  <a:lnTo>
                    <a:pt x="152480" y="245624"/>
                  </a:lnTo>
                  <a:lnTo>
                    <a:pt x="154556" y="246691"/>
                  </a:lnTo>
                  <a:lnTo>
                    <a:pt x="156691" y="247758"/>
                  </a:lnTo>
                  <a:lnTo>
                    <a:pt x="158945" y="248707"/>
                  </a:lnTo>
                  <a:lnTo>
                    <a:pt x="161199" y="249537"/>
                  </a:lnTo>
                  <a:lnTo>
                    <a:pt x="163511" y="250307"/>
                  </a:lnTo>
                  <a:lnTo>
                    <a:pt x="165825" y="250900"/>
                  </a:lnTo>
                  <a:lnTo>
                    <a:pt x="168256" y="251434"/>
                  </a:lnTo>
                  <a:lnTo>
                    <a:pt x="170628" y="251908"/>
                  </a:lnTo>
                  <a:lnTo>
                    <a:pt x="173179" y="252205"/>
                  </a:lnTo>
                  <a:lnTo>
                    <a:pt x="262081" y="341075"/>
                  </a:lnTo>
                  <a:lnTo>
                    <a:pt x="263267" y="342320"/>
                  </a:lnTo>
                  <a:lnTo>
                    <a:pt x="264572" y="343387"/>
                  </a:lnTo>
                  <a:lnTo>
                    <a:pt x="265936" y="344395"/>
                  </a:lnTo>
                  <a:lnTo>
                    <a:pt x="267359" y="345344"/>
                  </a:lnTo>
                  <a:lnTo>
                    <a:pt x="268783" y="346292"/>
                  </a:lnTo>
                  <a:lnTo>
                    <a:pt x="270325" y="347122"/>
                  </a:lnTo>
                  <a:lnTo>
                    <a:pt x="271808" y="347893"/>
                  </a:lnTo>
                  <a:lnTo>
                    <a:pt x="273349" y="348545"/>
                  </a:lnTo>
                  <a:lnTo>
                    <a:pt x="275010" y="349197"/>
                  </a:lnTo>
                  <a:lnTo>
                    <a:pt x="276611" y="349731"/>
                  </a:lnTo>
                  <a:lnTo>
                    <a:pt x="278272" y="350146"/>
                  </a:lnTo>
                  <a:lnTo>
                    <a:pt x="279992" y="350561"/>
                  </a:lnTo>
                  <a:lnTo>
                    <a:pt x="281653" y="350798"/>
                  </a:lnTo>
                  <a:lnTo>
                    <a:pt x="283373" y="351035"/>
                  </a:lnTo>
                  <a:lnTo>
                    <a:pt x="285152" y="351153"/>
                  </a:lnTo>
                  <a:lnTo>
                    <a:pt x="286872" y="351213"/>
                  </a:lnTo>
                  <a:lnTo>
                    <a:pt x="288651" y="351153"/>
                  </a:lnTo>
                  <a:lnTo>
                    <a:pt x="290312" y="351035"/>
                  </a:lnTo>
                  <a:lnTo>
                    <a:pt x="292091" y="350798"/>
                  </a:lnTo>
                  <a:lnTo>
                    <a:pt x="293811" y="350561"/>
                  </a:lnTo>
                  <a:lnTo>
                    <a:pt x="295471" y="350146"/>
                  </a:lnTo>
                  <a:lnTo>
                    <a:pt x="297132" y="349731"/>
                  </a:lnTo>
                  <a:lnTo>
                    <a:pt x="298793" y="349197"/>
                  </a:lnTo>
                  <a:lnTo>
                    <a:pt x="300394" y="348545"/>
                  </a:lnTo>
                  <a:lnTo>
                    <a:pt x="301995" y="347893"/>
                  </a:lnTo>
                  <a:lnTo>
                    <a:pt x="303478" y="347122"/>
                  </a:lnTo>
                  <a:lnTo>
                    <a:pt x="304961" y="346233"/>
                  </a:lnTo>
                  <a:lnTo>
                    <a:pt x="306384" y="345344"/>
                  </a:lnTo>
                  <a:lnTo>
                    <a:pt x="307807" y="344395"/>
                  </a:lnTo>
                  <a:lnTo>
                    <a:pt x="309171" y="343387"/>
                  </a:lnTo>
                  <a:lnTo>
                    <a:pt x="310476" y="342201"/>
                  </a:lnTo>
                  <a:lnTo>
                    <a:pt x="311722" y="341075"/>
                  </a:lnTo>
                  <a:lnTo>
                    <a:pt x="319491" y="333308"/>
                  </a:lnTo>
                  <a:lnTo>
                    <a:pt x="320736" y="332004"/>
                  </a:lnTo>
                  <a:lnTo>
                    <a:pt x="321923" y="330641"/>
                  </a:lnTo>
                  <a:lnTo>
                    <a:pt x="322931" y="329218"/>
                  </a:lnTo>
                  <a:lnTo>
                    <a:pt x="323939" y="327795"/>
                  </a:lnTo>
                  <a:lnTo>
                    <a:pt x="324888" y="326312"/>
                  </a:lnTo>
                  <a:lnTo>
                    <a:pt x="325718" y="324830"/>
                  </a:lnTo>
                  <a:lnTo>
                    <a:pt x="326489" y="323230"/>
                  </a:lnTo>
                  <a:lnTo>
                    <a:pt x="327142" y="321688"/>
                  </a:lnTo>
                  <a:lnTo>
                    <a:pt x="327794" y="320088"/>
                  </a:lnTo>
                  <a:lnTo>
                    <a:pt x="328328" y="318487"/>
                  </a:lnTo>
                  <a:lnTo>
                    <a:pt x="328743" y="316827"/>
                  </a:lnTo>
                  <a:lnTo>
                    <a:pt x="329040" y="315226"/>
                  </a:lnTo>
                  <a:lnTo>
                    <a:pt x="329395" y="313507"/>
                  </a:lnTo>
                  <a:lnTo>
                    <a:pt x="329633" y="311787"/>
                  </a:lnTo>
                  <a:lnTo>
                    <a:pt x="329692" y="310187"/>
                  </a:lnTo>
                  <a:lnTo>
                    <a:pt x="329751" y="308467"/>
                  </a:lnTo>
                  <a:lnTo>
                    <a:pt x="329692" y="306748"/>
                  </a:lnTo>
                  <a:lnTo>
                    <a:pt x="329633" y="305147"/>
                  </a:lnTo>
                  <a:lnTo>
                    <a:pt x="329395" y="303428"/>
                  </a:lnTo>
                  <a:lnTo>
                    <a:pt x="329040" y="301827"/>
                  </a:lnTo>
                  <a:lnTo>
                    <a:pt x="328743" y="300108"/>
                  </a:lnTo>
                  <a:lnTo>
                    <a:pt x="328328" y="298448"/>
                  </a:lnTo>
                  <a:lnTo>
                    <a:pt x="327794" y="296847"/>
                  </a:lnTo>
                  <a:lnTo>
                    <a:pt x="327142" y="295247"/>
                  </a:lnTo>
                  <a:lnTo>
                    <a:pt x="326489" y="293705"/>
                  </a:lnTo>
                  <a:lnTo>
                    <a:pt x="325718" y="292164"/>
                  </a:lnTo>
                  <a:lnTo>
                    <a:pt x="324888" y="290622"/>
                  </a:lnTo>
                  <a:lnTo>
                    <a:pt x="323939" y="289140"/>
                  </a:lnTo>
                  <a:lnTo>
                    <a:pt x="322931" y="287717"/>
                  </a:lnTo>
                  <a:lnTo>
                    <a:pt x="321923" y="286353"/>
                  </a:lnTo>
                  <a:lnTo>
                    <a:pt x="320736" y="284990"/>
                  </a:lnTo>
                  <a:lnTo>
                    <a:pt x="319491" y="283686"/>
                  </a:lnTo>
                  <a:lnTo>
                    <a:pt x="231004" y="195289"/>
                  </a:lnTo>
                  <a:lnTo>
                    <a:pt x="230767" y="192799"/>
                  </a:lnTo>
                  <a:lnTo>
                    <a:pt x="230351" y="190369"/>
                  </a:lnTo>
                  <a:lnTo>
                    <a:pt x="229818" y="187879"/>
                  </a:lnTo>
                  <a:lnTo>
                    <a:pt x="229165" y="185507"/>
                  </a:lnTo>
                  <a:lnTo>
                    <a:pt x="228513" y="183136"/>
                  </a:lnTo>
                  <a:lnTo>
                    <a:pt x="227683" y="180883"/>
                  </a:lnTo>
                  <a:lnTo>
                    <a:pt x="226734" y="178630"/>
                  </a:lnTo>
                  <a:lnTo>
                    <a:pt x="225725" y="176377"/>
                  </a:lnTo>
                  <a:lnTo>
                    <a:pt x="224539" y="174302"/>
                  </a:lnTo>
                  <a:lnTo>
                    <a:pt x="223353" y="172227"/>
                  </a:lnTo>
                  <a:lnTo>
                    <a:pt x="222048" y="170211"/>
                  </a:lnTo>
                  <a:lnTo>
                    <a:pt x="220625" y="168196"/>
                  </a:lnTo>
                  <a:lnTo>
                    <a:pt x="219202" y="166358"/>
                  </a:lnTo>
                  <a:lnTo>
                    <a:pt x="217600" y="164520"/>
                  </a:lnTo>
                  <a:lnTo>
                    <a:pt x="215940" y="162800"/>
                  </a:lnTo>
                  <a:lnTo>
                    <a:pt x="214220" y="161141"/>
                  </a:lnTo>
                  <a:lnTo>
                    <a:pt x="212440" y="159599"/>
                  </a:lnTo>
                  <a:lnTo>
                    <a:pt x="210543" y="158058"/>
                  </a:lnTo>
                  <a:lnTo>
                    <a:pt x="208645" y="156635"/>
                  </a:lnTo>
                  <a:lnTo>
                    <a:pt x="206569" y="155271"/>
                  </a:lnTo>
                  <a:lnTo>
                    <a:pt x="204552" y="154085"/>
                  </a:lnTo>
                  <a:lnTo>
                    <a:pt x="202417" y="152900"/>
                  </a:lnTo>
                  <a:lnTo>
                    <a:pt x="200223" y="151892"/>
                  </a:lnTo>
                  <a:lnTo>
                    <a:pt x="198029" y="150943"/>
                  </a:lnTo>
                  <a:lnTo>
                    <a:pt x="195775" y="150054"/>
                  </a:lnTo>
                  <a:lnTo>
                    <a:pt x="193403" y="149283"/>
                  </a:lnTo>
                  <a:lnTo>
                    <a:pt x="190971" y="148690"/>
                  </a:lnTo>
                  <a:lnTo>
                    <a:pt x="188599" y="148157"/>
                  </a:lnTo>
                  <a:lnTo>
                    <a:pt x="186167" y="147742"/>
                  </a:lnTo>
                  <a:lnTo>
                    <a:pt x="183617" y="147445"/>
                  </a:lnTo>
                  <a:lnTo>
                    <a:pt x="181126" y="147267"/>
                  </a:lnTo>
                  <a:lnTo>
                    <a:pt x="178516" y="147208"/>
                  </a:lnTo>
                  <a:close/>
                  <a:moveTo>
                    <a:pt x="149930" y="0"/>
                  </a:moveTo>
                  <a:lnTo>
                    <a:pt x="154141" y="59"/>
                  </a:lnTo>
                  <a:lnTo>
                    <a:pt x="158470" y="178"/>
                  </a:lnTo>
                  <a:lnTo>
                    <a:pt x="162741" y="534"/>
                  </a:lnTo>
                  <a:lnTo>
                    <a:pt x="164876" y="771"/>
                  </a:lnTo>
                  <a:lnTo>
                    <a:pt x="167011" y="1067"/>
                  </a:lnTo>
                  <a:lnTo>
                    <a:pt x="169146" y="1363"/>
                  </a:lnTo>
                  <a:lnTo>
                    <a:pt x="171162" y="1779"/>
                  </a:lnTo>
                  <a:lnTo>
                    <a:pt x="173297" y="2253"/>
                  </a:lnTo>
                  <a:lnTo>
                    <a:pt x="175373" y="2727"/>
                  </a:lnTo>
                  <a:lnTo>
                    <a:pt x="177449" y="3261"/>
                  </a:lnTo>
                  <a:lnTo>
                    <a:pt x="179465" y="3794"/>
                  </a:lnTo>
                  <a:lnTo>
                    <a:pt x="181541" y="4506"/>
                  </a:lnTo>
                  <a:lnTo>
                    <a:pt x="183498" y="5099"/>
                  </a:lnTo>
                  <a:lnTo>
                    <a:pt x="185456" y="5869"/>
                  </a:lnTo>
                  <a:lnTo>
                    <a:pt x="187472" y="6581"/>
                  </a:lnTo>
                  <a:lnTo>
                    <a:pt x="189429" y="7411"/>
                  </a:lnTo>
                  <a:lnTo>
                    <a:pt x="191327" y="8241"/>
                  </a:lnTo>
                  <a:lnTo>
                    <a:pt x="193284" y="9130"/>
                  </a:lnTo>
                  <a:lnTo>
                    <a:pt x="195123" y="10079"/>
                  </a:lnTo>
                  <a:lnTo>
                    <a:pt x="197080" y="11027"/>
                  </a:lnTo>
                  <a:lnTo>
                    <a:pt x="198918" y="11976"/>
                  </a:lnTo>
                  <a:lnTo>
                    <a:pt x="202477" y="14110"/>
                  </a:lnTo>
                  <a:lnTo>
                    <a:pt x="206035" y="16245"/>
                  </a:lnTo>
                  <a:lnTo>
                    <a:pt x="209416" y="18557"/>
                  </a:lnTo>
                  <a:lnTo>
                    <a:pt x="212737" y="20987"/>
                  </a:lnTo>
                  <a:lnTo>
                    <a:pt x="215940" y="23477"/>
                  </a:lnTo>
                  <a:lnTo>
                    <a:pt x="218905" y="26086"/>
                  </a:lnTo>
                  <a:lnTo>
                    <a:pt x="221811" y="28695"/>
                  </a:lnTo>
                  <a:lnTo>
                    <a:pt x="224717" y="31422"/>
                  </a:lnTo>
                  <a:lnTo>
                    <a:pt x="227505" y="34149"/>
                  </a:lnTo>
                  <a:lnTo>
                    <a:pt x="230114" y="36935"/>
                  </a:lnTo>
                  <a:lnTo>
                    <a:pt x="232665" y="39781"/>
                  </a:lnTo>
                  <a:lnTo>
                    <a:pt x="235096" y="42746"/>
                  </a:lnTo>
                  <a:lnTo>
                    <a:pt x="237468" y="45651"/>
                  </a:lnTo>
                  <a:lnTo>
                    <a:pt x="239722" y="48615"/>
                  </a:lnTo>
                  <a:lnTo>
                    <a:pt x="241917" y="51579"/>
                  </a:lnTo>
                  <a:lnTo>
                    <a:pt x="244052" y="54603"/>
                  </a:lnTo>
                  <a:lnTo>
                    <a:pt x="246009" y="57567"/>
                  </a:lnTo>
                  <a:lnTo>
                    <a:pt x="247966" y="60650"/>
                  </a:lnTo>
                  <a:lnTo>
                    <a:pt x="249804" y="63674"/>
                  </a:lnTo>
                  <a:lnTo>
                    <a:pt x="251643" y="66697"/>
                  </a:lnTo>
                  <a:lnTo>
                    <a:pt x="253363" y="69780"/>
                  </a:lnTo>
                  <a:lnTo>
                    <a:pt x="255083" y="72804"/>
                  </a:lnTo>
                  <a:lnTo>
                    <a:pt x="256625" y="75827"/>
                  </a:lnTo>
                  <a:lnTo>
                    <a:pt x="258285" y="78792"/>
                  </a:lnTo>
                  <a:lnTo>
                    <a:pt x="259768" y="81874"/>
                  </a:lnTo>
                  <a:lnTo>
                    <a:pt x="261191" y="84839"/>
                  </a:lnTo>
                  <a:lnTo>
                    <a:pt x="262615" y="87862"/>
                  </a:lnTo>
                  <a:lnTo>
                    <a:pt x="263979" y="90827"/>
                  </a:lnTo>
                  <a:lnTo>
                    <a:pt x="265284" y="93791"/>
                  </a:lnTo>
                  <a:lnTo>
                    <a:pt x="267715" y="99720"/>
                  </a:lnTo>
                  <a:lnTo>
                    <a:pt x="269969" y="105589"/>
                  </a:lnTo>
                  <a:lnTo>
                    <a:pt x="272104" y="111399"/>
                  </a:lnTo>
                  <a:lnTo>
                    <a:pt x="274061" y="117091"/>
                  </a:lnTo>
                  <a:lnTo>
                    <a:pt x="275959" y="122723"/>
                  </a:lnTo>
                  <a:lnTo>
                    <a:pt x="277679" y="128237"/>
                  </a:lnTo>
                  <a:lnTo>
                    <a:pt x="279280" y="133632"/>
                  </a:lnTo>
                  <a:lnTo>
                    <a:pt x="280822" y="138967"/>
                  </a:lnTo>
                  <a:lnTo>
                    <a:pt x="282127" y="144185"/>
                  </a:lnTo>
                  <a:lnTo>
                    <a:pt x="283432" y="149224"/>
                  </a:lnTo>
                  <a:lnTo>
                    <a:pt x="284618" y="154204"/>
                  </a:lnTo>
                  <a:lnTo>
                    <a:pt x="285685" y="159125"/>
                  </a:lnTo>
                  <a:lnTo>
                    <a:pt x="286694" y="163808"/>
                  </a:lnTo>
                  <a:lnTo>
                    <a:pt x="287643" y="168373"/>
                  </a:lnTo>
                  <a:lnTo>
                    <a:pt x="288473" y="172761"/>
                  </a:lnTo>
                  <a:lnTo>
                    <a:pt x="289956" y="181239"/>
                  </a:lnTo>
                  <a:lnTo>
                    <a:pt x="291261" y="189005"/>
                  </a:lnTo>
                  <a:lnTo>
                    <a:pt x="292387" y="196060"/>
                  </a:lnTo>
                  <a:lnTo>
                    <a:pt x="294938" y="217285"/>
                  </a:lnTo>
                  <a:lnTo>
                    <a:pt x="387280" y="309475"/>
                  </a:lnTo>
                  <a:lnTo>
                    <a:pt x="389237" y="311669"/>
                  </a:lnTo>
                  <a:lnTo>
                    <a:pt x="391135" y="313862"/>
                  </a:lnTo>
                  <a:lnTo>
                    <a:pt x="392914" y="316115"/>
                  </a:lnTo>
                  <a:lnTo>
                    <a:pt x="394575" y="318427"/>
                  </a:lnTo>
                  <a:lnTo>
                    <a:pt x="396057" y="320799"/>
                  </a:lnTo>
                  <a:lnTo>
                    <a:pt x="397421" y="323230"/>
                  </a:lnTo>
                  <a:lnTo>
                    <a:pt x="398667" y="325779"/>
                  </a:lnTo>
                  <a:lnTo>
                    <a:pt x="399734" y="328269"/>
                  </a:lnTo>
                  <a:lnTo>
                    <a:pt x="400683" y="330877"/>
                  </a:lnTo>
                  <a:lnTo>
                    <a:pt x="401573" y="333545"/>
                  </a:lnTo>
                  <a:lnTo>
                    <a:pt x="402225" y="336154"/>
                  </a:lnTo>
                  <a:lnTo>
                    <a:pt x="402878" y="338822"/>
                  </a:lnTo>
                  <a:lnTo>
                    <a:pt x="403293" y="341549"/>
                  </a:lnTo>
                  <a:lnTo>
                    <a:pt x="403589" y="344217"/>
                  </a:lnTo>
                  <a:lnTo>
                    <a:pt x="403827" y="346944"/>
                  </a:lnTo>
                  <a:lnTo>
                    <a:pt x="403886" y="349671"/>
                  </a:lnTo>
                  <a:lnTo>
                    <a:pt x="403827" y="352399"/>
                  </a:lnTo>
                  <a:lnTo>
                    <a:pt x="403589" y="355066"/>
                  </a:lnTo>
                  <a:lnTo>
                    <a:pt x="403293" y="357794"/>
                  </a:lnTo>
                  <a:lnTo>
                    <a:pt x="402878" y="360521"/>
                  </a:lnTo>
                  <a:lnTo>
                    <a:pt x="402225" y="363189"/>
                  </a:lnTo>
                  <a:lnTo>
                    <a:pt x="401573" y="365857"/>
                  </a:lnTo>
                  <a:lnTo>
                    <a:pt x="400683" y="368406"/>
                  </a:lnTo>
                  <a:lnTo>
                    <a:pt x="399734" y="371015"/>
                  </a:lnTo>
                  <a:lnTo>
                    <a:pt x="398667" y="373505"/>
                  </a:lnTo>
                  <a:lnTo>
                    <a:pt x="397421" y="376054"/>
                  </a:lnTo>
                  <a:lnTo>
                    <a:pt x="396057" y="378485"/>
                  </a:lnTo>
                  <a:lnTo>
                    <a:pt x="394575" y="380856"/>
                  </a:lnTo>
                  <a:lnTo>
                    <a:pt x="392914" y="383168"/>
                  </a:lnTo>
                  <a:lnTo>
                    <a:pt x="391135" y="385480"/>
                  </a:lnTo>
                  <a:lnTo>
                    <a:pt x="389237" y="387674"/>
                  </a:lnTo>
                  <a:lnTo>
                    <a:pt x="387280" y="389808"/>
                  </a:lnTo>
                  <a:lnTo>
                    <a:pt x="368539" y="408484"/>
                  </a:lnTo>
                  <a:lnTo>
                    <a:pt x="366463" y="410499"/>
                  </a:lnTo>
                  <a:lnTo>
                    <a:pt x="364268" y="412396"/>
                  </a:lnTo>
                  <a:lnTo>
                    <a:pt x="362015" y="414175"/>
                  </a:lnTo>
                  <a:lnTo>
                    <a:pt x="359642" y="415776"/>
                  </a:lnTo>
                  <a:lnTo>
                    <a:pt x="357270" y="417199"/>
                  </a:lnTo>
                  <a:lnTo>
                    <a:pt x="354779" y="418622"/>
                  </a:lnTo>
                  <a:lnTo>
                    <a:pt x="352347" y="419867"/>
                  </a:lnTo>
                  <a:lnTo>
                    <a:pt x="349738" y="420993"/>
                  </a:lnTo>
                  <a:lnTo>
                    <a:pt x="347188" y="421942"/>
                  </a:lnTo>
                  <a:lnTo>
                    <a:pt x="344578" y="422831"/>
                  </a:lnTo>
                  <a:lnTo>
                    <a:pt x="341909" y="423483"/>
                  </a:lnTo>
                  <a:lnTo>
                    <a:pt x="339300" y="424076"/>
                  </a:lnTo>
                  <a:lnTo>
                    <a:pt x="336572" y="424491"/>
                  </a:lnTo>
                  <a:lnTo>
                    <a:pt x="333843" y="424847"/>
                  </a:lnTo>
                  <a:lnTo>
                    <a:pt x="331115" y="425024"/>
                  </a:lnTo>
                  <a:lnTo>
                    <a:pt x="328387" y="425143"/>
                  </a:lnTo>
                  <a:lnTo>
                    <a:pt x="325659" y="425024"/>
                  </a:lnTo>
                  <a:lnTo>
                    <a:pt x="322990" y="424847"/>
                  </a:lnTo>
                  <a:lnTo>
                    <a:pt x="320262" y="424491"/>
                  </a:lnTo>
                  <a:lnTo>
                    <a:pt x="317534" y="424076"/>
                  </a:lnTo>
                  <a:lnTo>
                    <a:pt x="314924" y="423483"/>
                  </a:lnTo>
                  <a:lnTo>
                    <a:pt x="312255" y="422831"/>
                  </a:lnTo>
                  <a:lnTo>
                    <a:pt x="309646" y="421942"/>
                  </a:lnTo>
                  <a:lnTo>
                    <a:pt x="307096" y="420993"/>
                  </a:lnTo>
                  <a:lnTo>
                    <a:pt x="304486" y="419867"/>
                  </a:lnTo>
                  <a:lnTo>
                    <a:pt x="302054" y="418622"/>
                  </a:lnTo>
                  <a:lnTo>
                    <a:pt x="299564" y="417317"/>
                  </a:lnTo>
                  <a:lnTo>
                    <a:pt x="297191" y="415776"/>
                  </a:lnTo>
                  <a:lnTo>
                    <a:pt x="294819" y="414175"/>
                  </a:lnTo>
                  <a:lnTo>
                    <a:pt x="292565" y="412396"/>
                  </a:lnTo>
                  <a:lnTo>
                    <a:pt x="290371" y="410499"/>
                  </a:lnTo>
                  <a:lnTo>
                    <a:pt x="288295" y="408484"/>
                  </a:lnTo>
                  <a:lnTo>
                    <a:pt x="100349" y="220664"/>
                  </a:lnTo>
                  <a:lnTo>
                    <a:pt x="98332" y="218530"/>
                  </a:lnTo>
                  <a:lnTo>
                    <a:pt x="96316" y="216218"/>
                  </a:lnTo>
                  <a:lnTo>
                    <a:pt x="94359" y="213728"/>
                  </a:lnTo>
                  <a:lnTo>
                    <a:pt x="92520" y="211238"/>
                  </a:lnTo>
                  <a:lnTo>
                    <a:pt x="90682" y="208510"/>
                  </a:lnTo>
                  <a:lnTo>
                    <a:pt x="89021" y="205724"/>
                  </a:lnTo>
                  <a:lnTo>
                    <a:pt x="87360" y="202819"/>
                  </a:lnTo>
                  <a:lnTo>
                    <a:pt x="85818" y="199795"/>
                  </a:lnTo>
                  <a:lnTo>
                    <a:pt x="84336" y="196712"/>
                  </a:lnTo>
                  <a:lnTo>
                    <a:pt x="82972" y="193629"/>
                  </a:lnTo>
                  <a:lnTo>
                    <a:pt x="81726" y="190428"/>
                  </a:lnTo>
                  <a:lnTo>
                    <a:pt x="80540" y="187167"/>
                  </a:lnTo>
                  <a:lnTo>
                    <a:pt x="79472" y="183847"/>
                  </a:lnTo>
                  <a:lnTo>
                    <a:pt x="78524" y="180527"/>
                  </a:lnTo>
                  <a:lnTo>
                    <a:pt x="77693" y="177207"/>
                  </a:lnTo>
                  <a:lnTo>
                    <a:pt x="77041" y="173887"/>
                  </a:lnTo>
                  <a:lnTo>
                    <a:pt x="76507" y="170508"/>
                  </a:lnTo>
                  <a:lnTo>
                    <a:pt x="76092" y="167188"/>
                  </a:lnTo>
                  <a:lnTo>
                    <a:pt x="75795" y="163868"/>
                  </a:lnTo>
                  <a:lnTo>
                    <a:pt x="75618" y="160607"/>
                  </a:lnTo>
                  <a:lnTo>
                    <a:pt x="75677" y="157346"/>
                  </a:lnTo>
                  <a:lnTo>
                    <a:pt x="75795" y="154145"/>
                  </a:lnTo>
                  <a:lnTo>
                    <a:pt x="75914" y="152544"/>
                  </a:lnTo>
                  <a:lnTo>
                    <a:pt x="76151" y="151003"/>
                  </a:lnTo>
                  <a:lnTo>
                    <a:pt x="76329" y="149461"/>
                  </a:lnTo>
                  <a:lnTo>
                    <a:pt x="76626" y="147920"/>
                  </a:lnTo>
                  <a:lnTo>
                    <a:pt x="76863" y="146378"/>
                  </a:lnTo>
                  <a:lnTo>
                    <a:pt x="77219" y="144955"/>
                  </a:lnTo>
                  <a:lnTo>
                    <a:pt x="77634" y="143473"/>
                  </a:lnTo>
                  <a:lnTo>
                    <a:pt x="78108" y="142050"/>
                  </a:lnTo>
                  <a:lnTo>
                    <a:pt x="78583" y="140568"/>
                  </a:lnTo>
                  <a:lnTo>
                    <a:pt x="79057" y="139205"/>
                  </a:lnTo>
                  <a:lnTo>
                    <a:pt x="79650" y="137900"/>
                  </a:lnTo>
                  <a:lnTo>
                    <a:pt x="80303" y="136537"/>
                  </a:lnTo>
                  <a:lnTo>
                    <a:pt x="80955" y="135232"/>
                  </a:lnTo>
                  <a:lnTo>
                    <a:pt x="81667" y="133928"/>
                  </a:lnTo>
                  <a:lnTo>
                    <a:pt x="82378" y="132683"/>
                  </a:lnTo>
                  <a:lnTo>
                    <a:pt x="83209" y="131557"/>
                  </a:lnTo>
                  <a:lnTo>
                    <a:pt x="84098" y="130312"/>
                  </a:lnTo>
                  <a:lnTo>
                    <a:pt x="84988" y="129245"/>
                  </a:lnTo>
                  <a:lnTo>
                    <a:pt x="85937" y="128118"/>
                  </a:lnTo>
                  <a:lnTo>
                    <a:pt x="86945" y="127051"/>
                  </a:lnTo>
                  <a:lnTo>
                    <a:pt x="105686" y="108316"/>
                  </a:lnTo>
                  <a:lnTo>
                    <a:pt x="106754" y="107308"/>
                  </a:lnTo>
                  <a:lnTo>
                    <a:pt x="107881" y="106360"/>
                  </a:lnTo>
                  <a:lnTo>
                    <a:pt x="109008" y="105471"/>
                  </a:lnTo>
                  <a:lnTo>
                    <a:pt x="110194" y="104581"/>
                  </a:lnTo>
                  <a:lnTo>
                    <a:pt x="111321" y="103751"/>
                  </a:lnTo>
                  <a:lnTo>
                    <a:pt x="112626" y="103040"/>
                  </a:lnTo>
                  <a:lnTo>
                    <a:pt x="113871" y="102328"/>
                  </a:lnTo>
                  <a:lnTo>
                    <a:pt x="115176" y="101676"/>
                  </a:lnTo>
                  <a:lnTo>
                    <a:pt x="116540" y="101083"/>
                  </a:lnTo>
                  <a:lnTo>
                    <a:pt x="117845" y="100431"/>
                  </a:lnTo>
                  <a:lnTo>
                    <a:pt x="119209" y="99957"/>
                  </a:lnTo>
                  <a:lnTo>
                    <a:pt x="120691" y="99483"/>
                  </a:lnTo>
                  <a:lnTo>
                    <a:pt x="122115" y="99008"/>
                  </a:lnTo>
                  <a:lnTo>
                    <a:pt x="123597" y="98593"/>
                  </a:lnTo>
                  <a:lnTo>
                    <a:pt x="125021" y="98238"/>
                  </a:lnTo>
                  <a:lnTo>
                    <a:pt x="126563" y="98000"/>
                  </a:lnTo>
                  <a:lnTo>
                    <a:pt x="128105" y="97704"/>
                  </a:lnTo>
                  <a:lnTo>
                    <a:pt x="129647" y="97526"/>
                  </a:lnTo>
                  <a:lnTo>
                    <a:pt x="131189" y="97289"/>
                  </a:lnTo>
                  <a:lnTo>
                    <a:pt x="132790" y="97170"/>
                  </a:lnTo>
                  <a:lnTo>
                    <a:pt x="135993" y="97052"/>
                  </a:lnTo>
                  <a:lnTo>
                    <a:pt x="139255" y="97052"/>
                  </a:lnTo>
                  <a:lnTo>
                    <a:pt x="142517" y="97170"/>
                  </a:lnTo>
                  <a:lnTo>
                    <a:pt x="145838" y="97467"/>
                  </a:lnTo>
                  <a:lnTo>
                    <a:pt x="149218" y="97882"/>
                  </a:lnTo>
                  <a:lnTo>
                    <a:pt x="152540" y="98415"/>
                  </a:lnTo>
                  <a:lnTo>
                    <a:pt x="155861" y="99068"/>
                  </a:lnTo>
                  <a:lnTo>
                    <a:pt x="159182" y="99898"/>
                  </a:lnTo>
                  <a:lnTo>
                    <a:pt x="162563" y="100846"/>
                  </a:lnTo>
                  <a:lnTo>
                    <a:pt x="165825" y="101913"/>
                  </a:lnTo>
                  <a:lnTo>
                    <a:pt x="169087" y="103099"/>
                  </a:lnTo>
                  <a:lnTo>
                    <a:pt x="172289" y="104344"/>
                  </a:lnTo>
                  <a:lnTo>
                    <a:pt x="175373" y="105708"/>
                  </a:lnTo>
                  <a:lnTo>
                    <a:pt x="178457" y="107190"/>
                  </a:lnTo>
                  <a:lnTo>
                    <a:pt x="181482" y="108731"/>
                  </a:lnTo>
                  <a:lnTo>
                    <a:pt x="184388" y="110391"/>
                  </a:lnTo>
                  <a:lnTo>
                    <a:pt x="187175" y="112051"/>
                  </a:lnTo>
                  <a:lnTo>
                    <a:pt x="189904" y="113889"/>
                  </a:lnTo>
                  <a:lnTo>
                    <a:pt x="192513" y="115727"/>
                  </a:lnTo>
                  <a:lnTo>
                    <a:pt x="194945" y="117684"/>
                  </a:lnTo>
                  <a:lnTo>
                    <a:pt x="197198" y="119699"/>
                  </a:lnTo>
                  <a:lnTo>
                    <a:pt x="199393" y="121715"/>
                  </a:lnTo>
                  <a:lnTo>
                    <a:pt x="228098" y="150469"/>
                  </a:lnTo>
                  <a:lnTo>
                    <a:pt x="227801" y="146497"/>
                  </a:lnTo>
                  <a:lnTo>
                    <a:pt x="227505" y="142525"/>
                  </a:lnTo>
                  <a:lnTo>
                    <a:pt x="227089" y="138434"/>
                  </a:lnTo>
                  <a:lnTo>
                    <a:pt x="226556" y="134284"/>
                  </a:lnTo>
                  <a:lnTo>
                    <a:pt x="225844" y="129422"/>
                  </a:lnTo>
                  <a:lnTo>
                    <a:pt x="224954" y="124442"/>
                  </a:lnTo>
                  <a:lnTo>
                    <a:pt x="224005" y="119403"/>
                  </a:lnTo>
                  <a:lnTo>
                    <a:pt x="222879" y="114304"/>
                  </a:lnTo>
                  <a:lnTo>
                    <a:pt x="221574" y="109206"/>
                  </a:lnTo>
                  <a:lnTo>
                    <a:pt x="220150" y="104048"/>
                  </a:lnTo>
                  <a:lnTo>
                    <a:pt x="219380" y="101439"/>
                  </a:lnTo>
                  <a:lnTo>
                    <a:pt x="218549" y="98890"/>
                  </a:lnTo>
                  <a:lnTo>
                    <a:pt x="217660" y="96281"/>
                  </a:lnTo>
                  <a:lnTo>
                    <a:pt x="216770" y="93732"/>
                  </a:lnTo>
                  <a:lnTo>
                    <a:pt x="215821" y="91123"/>
                  </a:lnTo>
                  <a:lnTo>
                    <a:pt x="214813" y="88574"/>
                  </a:lnTo>
                  <a:lnTo>
                    <a:pt x="213804" y="86025"/>
                  </a:lnTo>
                  <a:lnTo>
                    <a:pt x="212618" y="83475"/>
                  </a:lnTo>
                  <a:lnTo>
                    <a:pt x="211492" y="80985"/>
                  </a:lnTo>
                  <a:lnTo>
                    <a:pt x="210305" y="78555"/>
                  </a:lnTo>
                  <a:lnTo>
                    <a:pt x="209060" y="76005"/>
                  </a:lnTo>
                  <a:lnTo>
                    <a:pt x="207755" y="73634"/>
                  </a:lnTo>
                  <a:lnTo>
                    <a:pt x="206391" y="71203"/>
                  </a:lnTo>
                  <a:lnTo>
                    <a:pt x="204968" y="68772"/>
                  </a:lnTo>
                  <a:lnTo>
                    <a:pt x="203426" y="66460"/>
                  </a:lnTo>
                  <a:lnTo>
                    <a:pt x="201884" y="64148"/>
                  </a:lnTo>
                  <a:lnTo>
                    <a:pt x="200223" y="61954"/>
                  </a:lnTo>
                  <a:lnTo>
                    <a:pt x="198622" y="59701"/>
                  </a:lnTo>
                  <a:lnTo>
                    <a:pt x="196843" y="57508"/>
                  </a:lnTo>
                  <a:lnTo>
                    <a:pt x="195063" y="55314"/>
                  </a:lnTo>
                  <a:lnTo>
                    <a:pt x="193225" y="53299"/>
                  </a:lnTo>
                  <a:lnTo>
                    <a:pt x="191268" y="51283"/>
                  </a:lnTo>
                  <a:lnTo>
                    <a:pt x="189310" y="49445"/>
                  </a:lnTo>
                  <a:lnTo>
                    <a:pt x="187235" y="47607"/>
                  </a:lnTo>
                  <a:lnTo>
                    <a:pt x="185159" y="45947"/>
                  </a:lnTo>
                  <a:lnTo>
                    <a:pt x="182964" y="44346"/>
                  </a:lnTo>
                  <a:lnTo>
                    <a:pt x="180711" y="42805"/>
                  </a:lnTo>
                  <a:lnTo>
                    <a:pt x="178398" y="41382"/>
                  </a:lnTo>
                  <a:lnTo>
                    <a:pt x="176085" y="40078"/>
                  </a:lnTo>
                  <a:lnTo>
                    <a:pt x="173712" y="38833"/>
                  </a:lnTo>
                  <a:lnTo>
                    <a:pt x="171162" y="37706"/>
                  </a:lnTo>
                  <a:lnTo>
                    <a:pt x="168731" y="36698"/>
                  </a:lnTo>
                  <a:lnTo>
                    <a:pt x="166121" y="35809"/>
                  </a:lnTo>
                  <a:lnTo>
                    <a:pt x="163571" y="35038"/>
                  </a:lnTo>
                  <a:lnTo>
                    <a:pt x="160843" y="34386"/>
                  </a:lnTo>
                  <a:lnTo>
                    <a:pt x="158174" y="33734"/>
                  </a:lnTo>
                  <a:lnTo>
                    <a:pt x="155446" y="33319"/>
                  </a:lnTo>
                  <a:lnTo>
                    <a:pt x="152658" y="33023"/>
                  </a:lnTo>
                  <a:lnTo>
                    <a:pt x="149811" y="32845"/>
                  </a:lnTo>
                  <a:lnTo>
                    <a:pt x="146965" y="32785"/>
                  </a:lnTo>
                  <a:lnTo>
                    <a:pt x="143999" y="32785"/>
                  </a:lnTo>
                  <a:lnTo>
                    <a:pt x="141034" y="33023"/>
                  </a:lnTo>
                  <a:lnTo>
                    <a:pt x="138009" y="33260"/>
                  </a:lnTo>
                  <a:lnTo>
                    <a:pt x="135044" y="33615"/>
                  </a:lnTo>
                  <a:lnTo>
                    <a:pt x="131960" y="34090"/>
                  </a:lnTo>
                  <a:lnTo>
                    <a:pt x="128876" y="34683"/>
                  </a:lnTo>
                  <a:lnTo>
                    <a:pt x="125911" y="35394"/>
                  </a:lnTo>
                  <a:lnTo>
                    <a:pt x="122827" y="36165"/>
                  </a:lnTo>
                  <a:lnTo>
                    <a:pt x="119861" y="36995"/>
                  </a:lnTo>
                  <a:lnTo>
                    <a:pt x="116836" y="37943"/>
                  </a:lnTo>
                  <a:lnTo>
                    <a:pt x="113930" y="39070"/>
                  </a:lnTo>
                  <a:lnTo>
                    <a:pt x="111083" y="40137"/>
                  </a:lnTo>
                  <a:lnTo>
                    <a:pt x="108118" y="41382"/>
                  </a:lnTo>
                  <a:lnTo>
                    <a:pt x="105212" y="42686"/>
                  </a:lnTo>
                  <a:lnTo>
                    <a:pt x="102365" y="44109"/>
                  </a:lnTo>
                  <a:lnTo>
                    <a:pt x="99578" y="45532"/>
                  </a:lnTo>
                  <a:lnTo>
                    <a:pt x="96790" y="47014"/>
                  </a:lnTo>
                  <a:lnTo>
                    <a:pt x="94003" y="48674"/>
                  </a:lnTo>
                  <a:lnTo>
                    <a:pt x="91275" y="50334"/>
                  </a:lnTo>
                  <a:lnTo>
                    <a:pt x="88606" y="52053"/>
                  </a:lnTo>
                  <a:lnTo>
                    <a:pt x="85937" y="53891"/>
                  </a:lnTo>
                  <a:lnTo>
                    <a:pt x="83327" y="55789"/>
                  </a:lnTo>
                  <a:lnTo>
                    <a:pt x="80837" y="57686"/>
                  </a:lnTo>
                  <a:lnTo>
                    <a:pt x="78405" y="59761"/>
                  </a:lnTo>
                  <a:lnTo>
                    <a:pt x="75914" y="61836"/>
                  </a:lnTo>
                  <a:lnTo>
                    <a:pt x="73601" y="63970"/>
                  </a:lnTo>
                  <a:lnTo>
                    <a:pt x="71288" y="66223"/>
                  </a:lnTo>
                  <a:lnTo>
                    <a:pt x="69034" y="68476"/>
                  </a:lnTo>
                  <a:lnTo>
                    <a:pt x="66899" y="70788"/>
                  </a:lnTo>
                  <a:lnTo>
                    <a:pt x="64705" y="73100"/>
                  </a:lnTo>
                  <a:lnTo>
                    <a:pt x="62629" y="75472"/>
                  </a:lnTo>
                  <a:lnTo>
                    <a:pt x="60613" y="77902"/>
                  </a:lnTo>
                  <a:lnTo>
                    <a:pt x="58655" y="80452"/>
                  </a:lnTo>
                  <a:lnTo>
                    <a:pt x="56817" y="82942"/>
                  </a:lnTo>
                  <a:lnTo>
                    <a:pt x="54978" y="85491"/>
                  </a:lnTo>
                  <a:lnTo>
                    <a:pt x="53199" y="88040"/>
                  </a:lnTo>
                  <a:lnTo>
                    <a:pt x="51479" y="90708"/>
                  </a:lnTo>
                  <a:lnTo>
                    <a:pt x="49819" y="93376"/>
                  </a:lnTo>
                  <a:lnTo>
                    <a:pt x="48217" y="96044"/>
                  </a:lnTo>
                  <a:lnTo>
                    <a:pt x="46735" y="98771"/>
                  </a:lnTo>
                  <a:lnTo>
                    <a:pt x="45311" y="101439"/>
                  </a:lnTo>
                  <a:lnTo>
                    <a:pt x="43888" y="104226"/>
                  </a:lnTo>
                  <a:lnTo>
                    <a:pt x="42583" y="106953"/>
                  </a:lnTo>
                  <a:lnTo>
                    <a:pt x="41337" y="109858"/>
                  </a:lnTo>
                  <a:lnTo>
                    <a:pt x="40151" y="112644"/>
                  </a:lnTo>
                  <a:lnTo>
                    <a:pt x="39025" y="115490"/>
                  </a:lnTo>
                  <a:lnTo>
                    <a:pt x="38016" y="118336"/>
                  </a:lnTo>
                  <a:lnTo>
                    <a:pt x="37008" y="121181"/>
                  </a:lnTo>
                  <a:lnTo>
                    <a:pt x="36118" y="124087"/>
                  </a:lnTo>
                  <a:lnTo>
                    <a:pt x="35229" y="126932"/>
                  </a:lnTo>
                  <a:lnTo>
                    <a:pt x="34399" y="129778"/>
                  </a:lnTo>
                  <a:lnTo>
                    <a:pt x="33746" y="132683"/>
                  </a:lnTo>
                  <a:lnTo>
                    <a:pt x="33034" y="135529"/>
                  </a:lnTo>
                  <a:lnTo>
                    <a:pt x="32382" y="138434"/>
                  </a:lnTo>
                  <a:lnTo>
                    <a:pt x="31789" y="141280"/>
                  </a:lnTo>
                  <a:lnTo>
                    <a:pt x="31315" y="144125"/>
                  </a:lnTo>
                  <a:lnTo>
                    <a:pt x="30840" y="146971"/>
                  </a:lnTo>
                  <a:lnTo>
                    <a:pt x="30484" y="149876"/>
                  </a:lnTo>
                  <a:lnTo>
                    <a:pt x="30128" y="152722"/>
                  </a:lnTo>
                  <a:lnTo>
                    <a:pt x="29832" y="155508"/>
                  </a:lnTo>
                  <a:lnTo>
                    <a:pt x="29595" y="158354"/>
                  </a:lnTo>
                  <a:lnTo>
                    <a:pt x="29357" y="161141"/>
                  </a:lnTo>
                  <a:lnTo>
                    <a:pt x="29239" y="163927"/>
                  </a:lnTo>
                  <a:lnTo>
                    <a:pt x="29120" y="166714"/>
                  </a:lnTo>
                  <a:lnTo>
                    <a:pt x="29001" y="169500"/>
                  </a:lnTo>
                  <a:lnTo>
                    <a:pt x="29001" y="172227"/>
                  </a:lnTo>
                  <a:lnTo>
                    <a:pt x="29001" y="177681"/>
                  </a:lnTo>
                  <a:lnTo>
                    <a:pt x="29239" y="183017"/>
                  </a:lnTo>
                  <a:lnTo>
                    <a:pt x="29654" y="188234"/>
                  </a:lnTo>
                  <a:lnTo>
                    <a:pt x="30128" y="193392"/>
                  </a:lnTo>
                  <a:lnTo>
                    <a:pt x="30662" y="198432"/>
                  </a:lnTo>
                  <a:lnTo>
                    <a:pt x="31493" y="203352"/>
                  </a:lnTo>
                  <a:lnTo>
                    <a:pt x="32382" y="208095"/>
                  </a:lnTo>
                  <a:lnTo>
                    <a:pt x="33331" y="212779"/>
                  </a:lnTo>
                  <a:lnTo>
                    <a:pt x="34339" y="217344"/>
                  </a:lnTo>
                  <a:lnTo>
                    <a:pt x="35407" y="221791"/>
                  </a:lnTo>
                  <a:lnTo>
                    <a:pt x="36534" y="226059"/>
                  </a:lnTo>
                  <a:lnTo>
                    <a:pt x="37679" y="230150"/>
                  </a:lnTo>
                  <a:lnTo>
                    <a:pt x="38906" y="234181"/>
                  </a:lnTo>
                  <a:lnTo>
                    <a:pt x="40033" y="238035"/>
                  </a:lnTo>
                  <a:lnTo>
                    <a:pt x="41278" y="241770"/>
                  </a:lnTo>
                  <a:lnTo>
                    <a:pt x="42524" y="245327"/>
                  </a:lnTo>
                  <a:lnTo>
                    <a:pt x="43829" y="248766"/>
                  </a:lnTo>
                  <a:lnTo>
                    <a:pt x="46201" y="255169"/>
                  </a:lnTo>
                  <a:lnTo>
                    <a:pt x="48514" y="261038"/>
                  </a:lnTo>
                  <a:lnTo>
                    <a:pt x="49581" y="263706"/>
                  </a:lnTo>
                  <a:lnTo>
                    <a:pt x="50649" y="266196"/>
                  </a:lnTo>
                  <a:lnTo>
                    <a:pt x="51776" y="268508"/>
                  </a:lnTo>
                  <a:lnTo>
                    <a:pt x="52784" y="270702"/>
                  </a:lnTo>
                  <a:lnTo>
                    <a:pt x="56283" y="277698"/>
                  </a:lnTo>
                  <a:lnTo>
                    <a:pt x="59189" y="283567"/>
                  </a:lnTo>
                  <a:lnTo>
                    <a:pt x="59249" y="283626"/>
                  </a:lnTo>
                  <a:lnTo>
                    <a:pt x="59664" y="284516"/>
                  </a:lnTo>
                  <a:lnTo>
                    <a:pt x="60019" y="285464"/>
                  </a:lnTo>
                  <a:lnTo>
                    <a:pt x="60316" y="286353"/>
                  </a:lnTo>
                  <a:lnTo>
                    <a:pt x="60553" y="287243"/>
                  </a:lnTo>
                  <a:lnTo>
                    <a:pt x="60850" y="288191"/>
                  </a:lnTo>
                  <a:lnTo>
                    <a:pt x="60968" y="289081"/>
                  </a:lnTo>
                  <a:lnTo>
                    <a:pt x="61087" y="290029"/>
                  </a:lnTo>
                  <a:lnTo>
                    <a:pt x="61146" y="290918"/>
                  </a:lnTo>
                  <a:lnTo>
                    <a:pt x="61206" y="291867"/>
                  </a:lnTo>
                  <a:lnTo>
                    <a:pt x="61146" y="292756"/>
                  </a:lnTo>
                  <a:lnTo>
                    <a:pt x="61146" y="293705"/>
                  </a:lnTo>
                  <a:lnTo>
                    <a:pt x="61028" y="294594"/>
                  </a:lnTo>
                  <a:lnTo>
                    <a:pt x="60909" y="295484"/>
                  </a:lnTo>
                  <a:lnTo>
                    <a:pt x="60672" y="296373"/>
                  </a:lnTo>
                  <a:lnTo>
                    <a:pt x="60494" y="297262"/>
                  </a:lnTo>
                  <a:lnTo>
                    <a:pt x="60197" y="298151"/>
                  </a:lnTo>
                  <a:lnTo>
                    <a:pt x="59960" y="298922"/>
                  </a:lnTo>
                  <a:lnTo>
                    <a:pt x="59545" y="299812"/>
                  </a:lnTo>
                  <a:lnTo>
                    <a:pt x="59189" y="300641"/>
                  </a:lnTo>
                  <a:lnTo>
                    <a:pt x="58715" y="301471"/>
                  </a:lnTo>
                  <a:lnTo>
                    <a:pt x="58240" y="302242"/>
                  </a:lnTo>
                  <a:lnTo>
                    <a:pt x="57766" y="302954"/>
                  </a:lnTo>
                  <a:lnTo>
                    <a:pt x="57232" y="303724"/>
                  </a:lnTo>
                  <a:lnTo>
                    <a:pt x="56580" y="304436"/>
                  </a:lnTo>
                  <a:lnTo>
                    <a:pt x="55987" y="305147"/>
                  </a:lnTo>
                  <a:lnTo>
                    <a:pt x="55393" y="305740"/>
                  </a:lnTo>
                  <a:lnTo>
                    <a:pt x="54682" y="306392"/>
                  </a:lnTo>
                  <a:lnTo>
                    <a:pt x="53970" y="306985"/>
                  </a:lnTo>
                  <a:lnTo>
                    <a:pt x="53199" y="307519"/>
                  </a:lnTo>
                  <a:lnTo>
                    <a:pt x="52369" y="308052"/>
                  </a:lnTo>
                  <a:lnTo>
                    <a:pt x="51538" y="308527"/>
                  </a:lnTo>
                  <a:lnTo>
                    <a:pt x="50649" y="309001"/>
                  </a:lnTo>
                  <a:lnTo>
                    <a:pt x="49819" y="309416"/>
                  </a:lnTo>
                  <a:lnTo>
                    <a:pt x="48929" y="309772"/>
                  </a:lnTo>
                  <a:lnTo>
                    <a:pt x="48039" y="310127"/>
                  </a:lnTo>
                  <a:lnTo>
                    <a:pt x="47090" y="310365"/>
                  </a:lnTo>
                  <a:lnTo>
                    <a:pt x="46201" y="310602"/>
                  </a:lnTo>
                  <a:lnTo>
                    <a:pt x="45252" y="310779"/>
                  </a:lnTo>
                  <a:lnTo>
                    <a:pt x="44362" y="310839"/>
                  </a:lnTo>
                  <a:lnTo>
                    <a:pt x="43413" y="311017"/>
                  </a:lnTo>
                  <a:lnTo>
                    <a:pt x="42524" y="311017"/>
                  </a:lnTo>
                  <a:lnTo>
                    <a:pt x="41575" y="311017"/>
                  </a:lnTo>
                  <a:lnTo>
                    <a:pt x="40685" y="310898"/>
                  </a:lnTo>
                  <a:lnTo>
                    <a:pt x="39796" y="310839"/>
                  </a:lnTo>
                  <a:lnTo>
                    <a:pt x="38847" y="310720"/>
                  </a:lnTo>
                  <a:lnTo>
                    <a:pt x="37957" y="310542"/>
                  </a:lnTo>
                  <a:lnTo>
                    <a:pt x="37067" y="310305"/>
                  </a:lnTo>
                  <a:lnTo>
                    <a:pt x="36237" y="310068"/>
                  </a:lnTo>
                  <a:lnTo>
                    <a:pt x="35347" y="309712"/>
                  </a:lnTo>
                  <a:lnTo>
                    <a:pt x="34517" y="309357"/>
                  </a:lnTo>
                  <a:lnTo>
                    <a:pt x="33746" y="308942"/>
                  </a:lnTo>
                  <a:lnTo>
                    <a:pt x="32916" y="308527"/>
                  </a:lnTo>
                  <a:lnTo>
                    <a:pt x="32085" y="308052"/>
                  </a:lnTo>
                  <a:lnTo>
                    <a:pt x="31315" y="307519"/>
                  </a:lnTo>
                  <a:lnTo>
                    <a:pt x="30603" y="306985"/>
                  </a:lnTo>
                  <a:lnTo>
                    <a:pt x="29891" y="306452"/>
                  </a:lnTo>
                  <a:lnTo>
                    <a:pt x="29239" y="305799"/>
                  </a:lnTo>
                  <a:lnTo>
                    <a:pt x="28527" y="305147"/>
                  </a:lnTo>
                  <a:lnTo>
                    <a:pt x="27934" y="304436"/>
                  </a:lnTo>
                  <a:lnTo>
                    <a:pt x="27341" y="303724"/>
                  </a:lnTo>
                  <a:lnTo>
                    <a:pt x="26807" y="302954"/>
                  </a:lnTo>
                  <a:lnTo>
                    <a:pt x="26214" y="302124"/>
                  </a:lnTo>
                  <a:lnTo>
                    <a:pt x="25740" y="301353"/>
                  </a:lnTo>
                  <a:lnTo>
                    <a:pt x="25265" y="300523"/>
                  </a:lnTo>
                  <a:lnTo>
                    <a:pt x="24613" y="299041"/>
                  </a:lnTo>
                  <a:lnTo>
                    <a:pt x="23960" y="297322"/>
                  </a:lnTo>
                  <a:lnTo>
                    <a:pt x="22122" y="292282"/>
                  </a:lnTo>
                  <a:lnTo>
                    <a:pt x="20876" y="288547"/>
                  </a:lnTo>
                  <a:lnTo>
                    <a:pt x="19334" y="284101"/>
                  </a:lnTo>
                  <a:lnTo>
                    <a:pt x="17674" y="278883"/>
                  </a:lnTo>
                  <a:lnTo>
                    <a:pt x="15776" y="272955"/>
                  </a:lnTo>
                  <a:lnTo>
                    <a:pt x="13641" y="266374"/>
                  </a:lnTo>
                  <a:lnTo>
                    <a:pt x="12632" y="262817"/>
                  </a:lnTo>
                  <a:lnTo>
                    <a:pt x="11506" y="259082"/>
                  </a:lnTo>
                  <a:lnTo>
                    <a:pt x="10438" y="255169"/>
                  </a:lnTo>
                  <a:lnTo>
                    <a:pt x="9371" y="251137"/>
                  </a:lnTo>
                  <a:lnTo>
                    <a:pt x="8303" y="246869"/>
                  </a:lnTo>
                  <a:lnTo>
                    <a:pt x="7295" y="242482"/>
                  </a:lnTo>
                  <a:lnTo>
                    <a:pt x="6287" y="237916"/>
                  </a:lnTo>
                  <a:lnTo>
                    <a:pt x="5338" y="233114"/>
                  </a:lnTo>
                  <a:lnTo>
                    <a:pt x="4448" y="228312"/>
                  </a:lnTo>
                  <a:lnTo>
                    <a:pt x="3618" y="223273"/>
                  </a:lnTo>
                  <a:lnTo>
                    <a:pt x="2788" y="218055"/>
                  </a:lnTo>
                  <a:lnTo>
                    <a:pt x="2135" y="212720"/>
                  </a:lnTo>
                  <a:lnTo>
                    <a:pt x="1423" y="207265"/>
                  </a:lnTo>
                  <a:lnTo>
                    <a:pt x="890" y="201633"/>
                  </a:lnTo>
                  <a:lnTo>
                    <a:pt x="474" y="195942"/>
                  </a:lnTo>
                  <a:lnTo>
                    <a:pt x="237" y="190072"/>
                  </a:lnTo>
                  <a:lnTo>
                    <a:pt x="0" y="184084"/>
                  </a:lnTo>
                  <a:lnTo>
                    <a:pt x="0" y="177978"/>
                  </a:lnTo>
                  <a:lnTo>
                    <a:pt x="0" y="174836"/>
                  </a:lnTo>
                  <a:lnTo>
                    <a:pt x="119" y="171694"/>
                  </a:lnTo>
                  <a:lnTo>
                    <a:pt x="237" y="168551"/>
                  </a:lnTo>
                  <a:lnTo>
                    <a:pt x="415" y="165350"/>
                  </a:lnTo>
                  <a:lnTo>
                    <a:pt x="652" y="162148"/>
                  </a:lnTo>
                  <a:lnTo>
                    <a:pt x="890" y="158888"/>
                  </a:lnTo>
                  <a:lnTo>
                    <a:pt x="1186" y="155686"/>
                  </a:lnTo>
                  <a:lnTo>
                    <a:pt x="1601" y="152425"/>
                  </a:lnTo>
                  <a:lnTo>
                    <a:pt x="2016" y="149105"/>
                  </a:lnTo>
                  <a:lnTo>
                    <a:pt x="2491" y="145845"/>
                  </a:lnTo>
                  <a:lnTo>
                    <a:pt x="3025" y="142525"/>
                  </a:lnTo>
                  <a:lnTo>
                    <a:pt x="3558" y="139145"/>
                  </a:lnTo>
                  <a:lnTo>
                    <a:pt x="4270" y="135825"/>
                  </a:lnTo>
                  <a:lnTo>
                    <a:pt x="4923" y="132505"/>
                  </a:lnTo>
                  <a:lnTo>
                    <a:pt x="5694" y="129185"/>
                  </a:lnTo>
                  <a:lnTo>
                    <a:pt x="6583" y="125747"/>
                  </a:lnTo>
                  <a:lnTo>
                    <a:pt x="7473" y="122426"/>
                  </a:lnTo>
                  <a:lnTo>
                    <a:pt x="8422" y="119047"/>
                  </a:lnTo>
                  <a:lnTo>
                    <a:pt x="9489" y="115668"/>
                  </a:lnTo>
                  <a:lnTo>
                    <a:pt x="10557" y="112288"/>
                  </a:lnTo>
                  <a:lnTo>
                    <a:pt x="11743" y="108909"/>
                  </a:lnTo>
                  <a:lnTo>
                    <a:pt x="13048" y="105530"/>
                  </a:lnTo>
                  <a:lnTo>
                    <a:pt x="14293" y="102150"/>
                  </a:lnTo>
                  <a:lnTo>
                    <a:pt x="15776" y="98831"/>
                  </a:lnTo>
                  <a:lnTo>
                    <a:pt x="17259" y="95451"/>
                  </a:lnTo>
                  <a:lnTo>
                    <a:pt x="18800" y="92131"/>
                  </a:lnTo>
                  <a:lnTo>
                    <a:pt x="20402" y="88870"/>
                  </a:lnTo>
                  <a:lnTo>
                    <a:pt x="22062" y="85550"/>
                  </a:lnTo>
                  <a:lnTo>
                    <a:pt x="23842" y="82290"/>
                  </a:lnTo>
                  <a:lnTo>
                    <a:pt x="25680" y="79088"/>
                  </a:lnTo>
                  <a:lnTo>
                    <a:pt x="27637" y="75887"/>
                  </a:lnTo>
                  <a:lnTo>
                    <a:pt x="29654" y="72685"/>
                  </a:lnTo>
                  <a:lnTo>
                    <a:pt x="31670" y="69543"/>
                  </a:lnTo>
                  <a:lnTo>
                    <a:pt x="33865" y="66401"/>
                  </a:lnTo>
                  <a:lnTo>
                    <a:pt x="36059" y="63377"/>
                  </a:lnTo>
                  <a:lnTo>
                    <a:pt x="38372" y="60294"/>
                  </a:lnTo>
                  <a:lnTo>
                    <a:pt x="40745" y="57271"/>
                  </a:lnTo>
                  <a:lnTo>
                    <a:pt x="43176" y="54366"/>
                  </a:lnTo>
                  <a:lnTo>
                    <a:pt x="45786" y="51520"/>
                  </a:lnTo>
                  <a:lnTo>
                    <a:pt x="48336" y="48674"/>
                  </a:lnTo>
                  <a:lnTo>
                    <a:pt x="51005" y="45888"/>
                  </a:lnTo>
                  <a:lnTo>
                    <a:pt x="53792" y="43161"/>
                  </a:lnTo>
                  <a:lnTo>
                    <a:pt x="56580" y="40493"/>
                  </a:lnTo>
                  <a:lnTo>
                    <a:pt x="59486" y="37884"/>
                  </a:lnTo>
                  <a:lnTo>
                    <a:pt x="62451" y="35394"/>
                  </a:lnTo>
                  <a:lnTo>
                    <a:pt x="65476" y="32845"/>
                  </a:lnTo>
                  <a:lnTo>
                    <a:pt x="68501" y="30414"/>
                  </a:lnTo>
                  <a:lnTo>
                    <a:pt x="71644" y="28102"/>
                  </a:lnTo>
                  <a:lnTo>
                    <a:pt x="74846" y="25790"/>
                  </a:lnTo>
                  <a:lnTo>
                    <a:pt x="78108" y="23596"/>
                  </a:lnTo>
                  <a:lnTo>
                    <a:pt x="81429" y="21521"/>
                  </a:lnTo>
                  <a:lnTo>
                    <a:pt x="84810" y="19387"/>
                  </a:lnTo>
                  <a:lnTo>
                    <a:pt x="88250" y="17430"/>
                  </a:lnTo>
                  <a:lnTo>
                    <a:pt x="91749" y="15592"/>
                  </a:lnTo>
                  <a:lnTo>
                    <a:pt x="95248" y="13755"/>
                  </a:lnTo>
                  <a:lnTo>
                    <a:pt x="98866" y="12035"/>
                  </a:lnTo>
                  <a:lnTo>
                    <a:pt x="102543" y="10434"/>
                  </a:lnTo>
                  <a:lnTo>
                    <a:pt x="106280" y="8893"/>
                  </a:lnTo>
                  <a:lnTo>
                    <a:pt x="110016" y="7470"/>
                  </a:lnTo>
                  <a:lnTo>
                    <a:pt x="113871" y="6166"/>
                  </a:lnTo>
                  <a:lnTo>
                    <a:pt x="117667" y="4980"/>
                  </a:lnTo>
                  <a:lnTo>
                    <a:pt x="121640" y="3972"/>
                  </a:lnTo>
                  <a:lnTo>
                    <a:pt x="125495" y="3024"/>
                  </a:lnTo>
                  <a:lnTo>
                    <a:pt x="129528" y="2134"/>
                  </a:lnTo>
                  <a:lnTo>
                    <a:pt x="133443" y="1423"/>
                  </a:lnTo>
                  <a:lnTo>
                    <a:pt x="137535" y="889"/>
                  </a:lnTo>
                  <a:lnTo>
                    <a:pt x="141627" y="474"/>
                  </a:lnTo>
                  <a:lnTo>
                    <a:pt x="145779" y="119"/>
                  </a:lnTo>
                  <a:lnTo>
                    <a:pt x="149930" y="0"/>
                  </a:lnTo>
                  <a:close/>
                </a:path>
              </a:pathLst>
            </a:custGeom>
            <a:solidFill>
              <a:schemeClr val="accent2">
                <a:alpha val="100000"/>
              </a:schemeClr>
            </a:solidFill>
            <a:ln>
              <a:noFill/>
            </a:ln>
          </p:spPr>
          <p:txBody>
            <a:bodyPr anchor="ctr"/>
            <a:p>
              <a:pPr algn="ctr">
                <a:lnSpc>
                  <a:spcPct val="130000"/>
                </a:lnSpc>
              </a:pPr>
              <a:endParaRPr lang="zh-CN" sz="2398">
                <a:solidFill>
                  <a:srgbClr val="FFFFFF"/>
                </a:solidFill>
                <a:latin typeface="微软雅黑"/>
                <a:ea typeface="微软雅黑"/>
              </a:endParaRPr>
            </a:p>
          </p:txBody>
        </p:sp>
        <p:sp>
          <p:nvSpPr>
            <p:cNvPr id="15" name="KSO_Shape"/>
            <p:cNvSpPr/>
            <p:nvPr/>
          </p:nvSpPr>
          <p:spPr>
            <a:xfrm rot="0" flipH="false" flipV="false">
              <a:off x="5811398" y="3793559"/>
              <a:ext cx="507079" cy="371857"/>
            </a:xfrm>
            <a:custGeom>
              <a:rect l="0" t="0" r="r" b="b"/>
              <a:pathLst>
                <a:path w="425143" h="311771">
                  <a:moveTo>
                    <a:pt x="255300" y="216087"/>
                  </a:moveTo>
                  <a:lnTo>
                    <a:pt x="254859" y="216136"/>
                  </a:lnTo>
                  <a:lnTo>
                    <a:pt x="254515" y="216234"/>
                  </a:lnTo>
                  <a:lnTo>
                    <a:pt x="254123" y="216382"/>
                  </a:lnTo>
                  <a:lnTo>
                    <a:pt x="253780" y="216529"/>
                  </a:lnTo>
                  <a:lnTo>
                    <a:pt x="253485" y="216725"/>
                  </a:lnTo>
                  <a:lnTo>
                    <a:pt x="253093" y="216970"/>
                  </a:lnTo>
                  <a:lnTo>
                    <a:pt x="252848" y="217265"/>
                  </a:lnTo>
                  <a:lnTo>
                    <a:pt x="252553" y="217559"/>
                  </a:lnTo>
                  <a:lnTo>
                    <a:pt x="252357" y="217854"/>
                  </a:lnTo>
                  <a:lnTo>
                    <a:pt x="252161" y="218148"/>
                  </a:lnTo>
                  <a:lnTo>
                    <a:pt x="251965" y="218492"/>
                  </a:lnTo>
                  <a:lnTo>
                    <a:pt x="251866" y="218884"/>
                  </a:lnTo>
                  <a:lnTo>
                    <a:pt x="251768" y="219277"/>
                  </a:lnTo>
                  <a:lnTo>
                    <a:pt x="251670" y="219669"/>
                  </a:lnTo>
                  <a:lnTo>
                    <a:pt x="251670" y="220062"/>
                  </a:lnTo>
                  <a:lnTo>
                    <a:pt x="251670" y="231985"/>
                  </a:lnTo>
                  <a:lnTo>
                    <a:pt x="251670" y="232378"/>
                  </a:lnTo>
                  <a:lnTo>
                    <a:pt x="251768" y="232770"/>
                  </a:lnTo>
                  <a:lnTo>
                    <a:pt x="251866" y="233212"/>
                  </a:lnTo>
                  <a:lnTo>
                    <a:pt x="251965" y="233556"/>
                  </a:lnTo>
                  <a:lnTo>
                    <a:pt x="252161" y="233899"/>
                  </a:lnTo>
                  <a:lnTo>
                    <a:pt x="252357" y="234194"/>
                  </a:lnTo>
                  <a:lnTo>
                    <a:pt x="252553" y="234586"/>
                  </a:lnTo>
                  <a:lnTo>
                    <a:pt x="252848" y="234880"/>
                  </a:lnTo>
                  <a:lnTo>
                    <a:pt x="253093" y="235077"/>
                  </a:lnTo>
                  <a:lnTo>
                    <a:pt x="253485" y="235322"/>
                  </a:lnTo>
                  <a:lnTo>
                    <a:pt x="253780" y="235518"/>
                  </a:lnTo>
                  <a:lnTo>
                    <a:pt x="254123" y="235665"/>
                  </a:lnTo>
                  <a:lnTo>
                    <a:pt x="254515" y="235862"/>
                  </a:lnTo>
                  <a:lnTo>
                    <a:pt x="254859" y="235911"/>
                  </a:lnTo>
                  <a:lnTo>
                    <a:pt x="255300" y="236009"/>
                  </a:lnTo>
                  <a:lnTo>
                    <a:pt x="255693" y="236058"/>
                  </a:lnTo>
                  <a:lnTo>
                    <a:pt x="278505" y="236058"/>
                  </a:lnTo>
                  <a:lnTo>
                    <a:pt x="278946" y="236009"/>
                  </a:lnTo>
                  <a:lnTo>
                    <a:pt x="279338" y="235911"/>
                  </a:lnTo>
                  <a:lnTo>
                    <a:pt x="279780" y="235862"/>
                  </a:lnTo>
                  <a:lnTo>
                    <a:pt x="280124" y="235665"/>
                  </a:lnTo>
                  <a:lnTo>
                    <a:pt x="280467" y="235518"/>
                  </a:lnTo>
                  <a:lnTo>
                    <a:pt x="280810" y="235322"/>
                  </a:lnTo>
                  <a:lnTo>
                    <a:pt x="281105" y="235077"/>
                  </a:lnTo>
                  <a:lnTo>
                    <a:pt x="281399" y="234880"/>
                  </a:lnTo>
                  <a:lnTo>
                    <a:pt x="281644" y="234586"/>
                  </a:lnTo>
                  <a:lnTo>
                    <a:pt x="281890" y="234194"/>
                  </a:lnTo>
                  <a:lnTo>
                    <a:pt x="282135" y="233899"/>
                  </a:lnTo>
                  <a:lnTo>
                    <a:pt x="282233" y="233556"/>
                  </a:lnTo>
                  <a:lnTo>
                    <a:pt x="282429" y="233212"/>
                  </a:lnTo>
                  <a:lnTo>
                    <a:pt x="282478" y="232770"/>
                  </a:lnTo>
                  <a:lnTo>
                    <a:pt x="282527" y="232378"/>
                  </a:lnTo>
                  <a:lnTo>
                    <a:pt x="282625" y="231985"/>
                  </a:lnTo>
                  <a:lnTo>
                    <a:pt x="282625" y="220062"/>
                  </a:lnTo>
                  <a:lnTo>
                    <a:pt x="282527" y="219669"/>
                  </a:lnTo>
                  <a:lnTo>
                    <a:pt x="282478" y="219277"/>
                  </a:lnTo>
                  <a:lnTo>
                    <a:pt x="282429" y="218884"/>
                  </a:lnTo>
                  <a:lnTo>
                    <a:pt x="282233" y="218492"/>
                  </a:lnTo>
                  <a:lnTo>
                    <a:pt x="282135" y="218148"/>
                  </a:lnTo>
                  <a:lnTo>
                    <a:pt x="281890" y="217854"/>
                  </a:lnTo>
                  <a:lnTo>
                    <a:pt x="281644" y="217559"/>
                  </a:lnTo>
                  <a:lnTo>
                    <a:pt x="281399" y="217265"/>
                  </a:lnTo>
                  <a:lnTo>
                    <a:pt x="281105" y="216970"/>
                  </a:lnTo>
                  <a:lnTo>
                    <a:pt x="280810" y="216725"/>
                  </a:lnTo>
                  <a:lnTo>
                    <a:pt x="280467" y="216529"/>
                  </a:lnTo>
                  <a:lnTo>
                    <a:pt x="280124" y="216382"/>
                  </a:lnTo>
                  <a:lnTo>
                    <a:pt x="279780" y="216234"/>
                  </a:lnTo>
                  <a:lnTo>
                    <a:pt x="279338" y="216136"/>
                  </a:lnTo>
                  <a:lnTo>
                    <a:pt x="278946" y="216087"/>
                  </a:lnTo>
                  <a:lnTo>
                    <a:pt x="278505" y="216087"/>
                  </a:lnTo>
                  <a:lnTo>
                    <a:pt x="255693" y="216087"/>
                  </a:lnTo>
                  <a:lnTo>
                    <a:pt x="255300" y="216087"/>
                  </a:lnTo>
                  <a:close/>
                  <a:moveTo>
                    <a:pt x="200749" y="216087"/>
                  </a:moveTo>
                  <a:lnTo>
                    <a:pt x="200307" y="216136"/>
                  </a:lnTo>
                  <a:lnTo>
                    <a:pt x="199915" y="216234"/>
                  </a:lnTo>
                  <a:lnTo>
                    <a:pt x="199571" y="216382"/>
                  </a:lnTo>
                  <a:lnTo>
                    <a:pt x="199179" y="216529"/>
                  </a:lnTo>
                  <a:lnTo>
                    <a:pt x="198835" y="216725"/>
                  </a:lnTo>
                  <a:lnTo>
                    <a:pt x="198541" y="216970"/>
                  </a:lnTo>
                  <a:lnTo>
                    <a:pt x="198247" y="217265"/>
                  </a:lnTo>
                  <a:lnTo>
                    <a:pt x="198001" y="217559"/>
                  </a:lnTo>
                  <a:lnTo>
                    <a:pt x="197805" y="217854"/>
                  </a:lnTo>
                  <a:lnTo>
                    <a:pt x="197560" y="218148"/>
                  </a:lnTo>
                  <a:lnTo>
                    <a:pt x="197364" y="218492"/>
                  </a:lnTo>
                  <a:lnTo>
                    <a:pt x="197266" y="218884"/>
                  </a:lnTo>
                  <a:lnTo>
                    <a:pt x="197118" y="219277"/>
                  </a:lnTo>
                  <a:lnTo>
                    <a:pt x="197069" y="219669"/>
                  </a:lnTo>
                  <a:lnTo>
                    <a:pt x="197069" y="220062"/>
                  </a:lnTo>
                  <a:lnTo>
                    <a:pt x="197069" y="231985"/>
                  </a:lnTo>
                  <a:lnTo>
                    <a:pt x="197069" y="232378"/>
                  </a:lnTo>
                  <a:lnTo>
                    <a:pt x="197118" y="232770"/>
                  </a:lnTo>
                  <a:lnTo>
                    <a:pt x="197266" y="233212"/>
                  </a:lnTo>
                  <a:lnTo>
                    <a:pt x="197364" y="233556"/>
                  </a:lnTo>
                  <a:lnTo>
                    <a:pt x="197560" y="233899"/>
                  </a:lnTo>
                  <a:lnTo>
                    <a:pt x="197805" y="234194"/>
                  </a:lnTo>
                  <a:lnTo>
                    <a:pt x="198001" y="234586"/>
                  </a:lnTo>
                  <a:lnTo>
                    <a:pt x="198247" y="234880"/>
                  </a:lnTo>
                  <a:lnTo>
                    <a:pt x="198541" y="235077"/>
                  </a:lnTo>
                  <a:lnTo>
                    <a:pt x="198835" y="235322"/>
                  </a:lnTo>
                  <a:lnTo>
                    <a:pt x="199179" y="235518"/>
                  </a:lnTo>
                  <a:lnTo>
                    <a:pt x="199571" y="235665"/>
                  </a:lnTo>
                  <a:lnTo>
                    <a:pt x="199915" y="235862"/>
                  </a:lnTo>
                  <a:lnTo>
                    <a:pt x="200307" y="235911"/>
                  </a:lnTo>
                  <a:lnTo>
                    <a:pt x="200749" y="236009"/>
                  </a:lnTo>
                  <a:lnTo>
                    <a:pt x="201141" y="236058"/>
                  </a:lnTo>
                  <a:lnTo>
                    <a:pt x="223953" y="236058"/>
                  </a:lnTo>
                  <a:lnTo>
                    <a:pt x="224394" y="236009"/>
                  </a:lnTo>
                  <a:lnTo>
                    <a:pt x="224787" y="235911"/>
                  </a:lnTo>
                  <a:lnTo>
                    <a:pt x="225130" y="235862"/>
                  </a:lnTo>
                  <a:lnTo>
                    <a:pt x="225572" y="235665"/>
                  </a:lnTo>
                  <a:lnTo>
                    <a:pt x="225915" y="235518"/>
                  </a:lnTo>
                  <a:lnTo>
                    <a:pt x="226209" y="235322"/>
                  </a:lnTo>
                  <a:lnTo>
                    <a:pt x="226504" y="235077"/>
                  </a:lnTo>
                  <a:lnTo>
                    <a:pt x="226798" y="234880"/>
                  </a:lnTo>
                  <a:lnTo>
                    <a:pt x="227093" y="234586"/>
                  </a:lnTo>
                  <a:lnTo>
                    <a:pt x="227338" y="234194"/>
                  </a:lnTo>
                  <a:lnTo>
                    <a:pt x="227534" y="233899"/>
                  </a:lnTo>
                  <a:lnTo>
                    <a:pt x="227681" y="233556"/>
                  </a:lnTo>
                  <a:lnTo>
                    <a:pt x="227828" y="233212"/>
                  </a:lnTo>
                  <a:lnTo>
                    <a:pt x="227926" y="232770"/>
                  </a:lnTo>
                  <a:lnTo>
                    <a:pt x="227976" y="232378"/>
                  </a:lnTo>
                  <a:lnTo>
                    <a:pt x="227976" y="231985"/>
                  </a:lnTo>
                  <a:lnTo>
                    <a:pt x="227976" y="220062"/>
                  </a:lnTo>
                  <a:lnTo>
                    <a:pt x="227976" y="219669"/>
                  </a:lnTo>
                  <a:lnTo>
                    <a:pt x="227926" y="219277"/>
                  </a:lnTo>
                  <a:lnTo>
                    <a:pt x="227828" y="218884"/>
                  </a:lnTo>
                  <a:lnTo>
                    <a:pt x="227681" y="218492"/>
                  </a:lnTo>
                  <a:lnTo>
                    <a:pt x="227534" y="218148"/>
                  </a:lnTo>
                  <a:lnTo>
                    <a:pt x="227338" y="217854"/>
                  </a:lnTo>
                  <a:lnTo>
                    <a:pt x="227093" y="217559"/>
                  </a:lnTo>
                  <a:lnTo>
                    <a:pt x="226798" y="217265"/>
                  </a:lnTo>
                  <a:lnTo>
                    <a:pt x="226504" y="216970"/>
                  </a:lnTo>
                  <a:lnTo>
                    <a:pt x="226209" y="216725"/>
                  </a:lnTo>
                  <a:lnTo>
                    <a:pt x="225915" y="216529"/>
                  </a:lnTo>
                  <a:lnTo>
                    <a:pt x="225572" y="216382"/>
                  </a:lnTo>
                  <a:lnTo>
                    <a:pt x="225130" y="216234"/>
                  </a:lnTo>
                  <a:lnTo>
                    <a:pt x="224787" y="216136"/>
                  </a:lnTo>
                  <a:lnTo>
                    <a:pt x="224394" y="216087"/>
                  </a:lnTo>
                  <a:lnTo>
                    <a:pt x="223953" y="216087"/>
                  </a:lnTo>
                  <a:lnTo>
                    <a:pt x="201141" y="216087"/>
                  </a:lnTo>
                  <a:lnTo>
                    <a:pt x="200749" y="216087"/>
                  </a:lnTo>
                  <a:close/>
                  <a:moveTo>
                    <a:pt x="146148" y="216087"/>
                  </a:moveTo>
                  <a:lnTo>
                    <a:pt x="145706" y="216136"/>
                  </a:lnTo>
                  <a:lnTo>
                    <a:pt x="145363" y="216234"/>
                  </a:lnTo>
                  <a:lnTo>
                    <a:pt x="144922" y="216382"/>
                  </a:lnTo>
                  <a:lnTo>
                    <a:pt x="144578" y="216529"/>
                  </a:lnTo>
                  <a:lnTo>
                    <a:pt x="144284" y="216725"/>
                  </a:lnTo>
                  <a:lnTo>
                    <a:pt x="143940" y="216970"/>
                  </a:lnTo>
                  <a:lnTo>
                    <a:pt x="143695" y="217265"/>
                  </a:lnTo>
                  <a:lnTo>
                    <a:pt x="143401" y="217559"/>
                  </a:lnTo>
                  <a:lnTo>
                    <a:pt x="143155" y="217854"/>
                  </a:lnTo>
                  <a:lnTo>
                    <a:pt x="143008" y="218148"/>
                  </a:lnTo>
                  <a:lnTo>
                    <a:pt x="142812" y="218492"/>
                  </a:lnTo>
                  <a:lnTo>
                    <a:pt x="142714" y="218884"/>
                  </a:lnTo>
                  <a:lnTo>
                    <a:pt x="142567" y="219277"/>
                  </a:lnTo>
                  <a:lnTo>
                    <a:pt x="142518" y="219669"/>
                  </a:lnTo>
                  <a:lnTo>
                    <a:pt x="142518" y="220062"/>
                  </a:lnTo>
                  <a:lnTo>
                    <a:pt x="142518" y="231985"/>
                  </a:lnTo>
                  <a:lnTo>
                    <a:pt x="142518" y="232378"/>
                  </a:lnTo>
                  <a:lnTo>
                    <a:pt x="142567" y="232770"/>
                  </a:lnTo>
                  <a:lnTo>
                    <a:pt x="142714" y="233212"/>
                  </a:lnTo>
                  <a:lnTo>
                    <a:pt x="142812" y="233556"/>
                  </a:lnTo>
                  <a:lnTo>
                    <a:pt x="143008" y="233899"/>
                  </a:lnTo>
                  <a:lnTo>
                    <a:pt x="143155" y="234194"/>
                  </a:lnTo>
                  <a:lnTo>
                    <a:pt x="143401" y="234586"/>
                  </a:lnTo>
                  <a:lnTo>
                    <a:pt x="143695" y="234880"/>
                  </a:lnTo>
                  <a:lnTo>
                    <a:pt x="143940" y="235077"/>
                  </a:lnTo>
                  <a:lnTo>
                    <a:pt x="144284" y="235322"/>
                  </a:lnTo>
                  <a:lnTo>
                    <a:pt x="144578" y="235518"/>
                  </a:lnTo>
                  <a:lnTo>
                    <a:pt x="144922" y="235665"/>
                  </a:lnTo>
                  <a:lnTo>
                    <a:pt x="145363" y="235862"/>
                  </a:lnTo>
                  <a:lnTo>
                    <a:pt x="145706" y="235911"/>
                  </a:lnTo>
                  <a:lnTo>
                    <a:pt x="146148" y="236009"/>
                  </a:lnTo>
                  <a:lnTo>
                    <a:pt x="146540" y="236058"/>
                  </a:lnTo>
                  <a:lnTo>
                    <a:pt x="169352" y="236058"/>
                  </a:lnTo>
                  <a:lnTo>
                    <a:pt x="169745" y="236009"/>
                  </a:lnTo>
                  <a:lnTo>
                    <a:pt x="170186" y="235911"/>
                  </a:lnTo>
                  <a:lnTo>
                    <a:pt x="170578" y="235862"/>
                  </a:lnTo>
                  <a:lnTo>
                    <a:pt x="170971" y="235665"/>
                  </a:lnTo>
                  <a:lnTo>
                    <a:pt x="171314" y="235518"/>
                  </a:lnTo>
                  <a:lnTo>
                    <a:pt x="171658" y="235322"/>
                  </a:lnTo>
                  <a:lnTo>
                    <a:pt x="171952" y="235077"/>
                  </a:lnTo>
                  <a:lnTo>
                    <a:pt x="172246" y="234880"/>
                  </a:lnTo>
                  <a:lnTo>
                    <a:pt x="172492" y="234586"/>
                  </a:lnTo>
                  <a:lnTo>
                    <a:pt x="172737" y="234194"/>
                  </a:lnTo>
                  <a:lnTo>
                    <a:pt x="172982" y="233899"/>
                  </a:lnTo>
                  <a:lnTo>
                    <a:pt x="173080" y="233556"/>
                  </a:lnTo>
                  <a:lnTo>
                    <a:pt x="173277" y="233212"/>
                  </a:lnTo>
                  <a:lnTo>
                    <a:pt x="173326" y="232770"/>
                  </a:lnTo>
                  <a:lnTo>
                    <a:pt x="173375" y="232378"/>
                  </a:lnTo>
                  <a:lnTo>
                    <a:pt x="173424" y="231985"/>
                  </a:lnTo>
                  <a:lnTo>
                    <a:pt x="173424" y="220062"/>
                  </a:lnTo>
                  <a:lnTo>
                    <a:pt x="173375" y="219669"/>
                  </a:lnTo>
                  <a:lnTo>
                    <a:pt x="173326" y="219277"/>
                  </a:lnTo>
                  <a:lnTo>
                    <a:pt x="173277" y="218884"/>
                  </a:lnTo>
                  <a:lnTo>
                    <a:pt x="173080" y="218492"/>
                  </a:lnTo>
                  <a:lnTo>
                    <a:pt x="172982" y="218148"/>
                  </a:lnTo>
                  <a:lnTo>
                    <a:pt x="172737" y="217854"/>
                  </a:lnTo>
                  <a:lnTo>
                    <a:pt x="172492" y="217559"/>
                  </a:lnTo>
                  <a:lnTo>
                    <a:pt x="172246" y="217265"/>
                  </a:lnTo>
                  <a:lnTo>
                    <a:pt x="171952" y="216970"/>
                  </a:lnTo>
                  <a:lnTo>
                    <a:pt x="171658" y="216725"/>
                  </a:lnTo>
                  <a:lnTo>
                    <a:pt x="171314" y="216529"/>
                  </a:lnTo>
                  <a:lnTo>
                    <a:pt x="170971" y="216382"/>
                  </a:lnTo>
                  <a:lnTo>
                    <a:pt x="170578" y="216234"/>
                  </a:lnTo>
                  <a:lnTo>
                    <a:pt x="170186" y="216136"/>
                  </a:lnTo>
                  <a:lnTo>
                    <a:pt x="169745" y="216087"/>
                  </a:lnTo>
                  <a:lnTo>
                    <a:pt x="169352" y="216087"/>
                  </a:lnTo>
                  <a:lnTo>
                    <a:pt x="146540" y="216087"/>
                  </a:lnTo>
                  <a:lnTo>
                    <a:pt x="146148" y="216087"/>
                  </a:lnTo>
                  <a:close/>
                  <a:moveTo>
                    <a:pt x="255300" y="180709"/>
                  </a:moveTo>
                  <a:lnTo>
                    <a:pt x="254859" y="180758"/>
                  </a:lnTo>
                  <a:lnTo>
                    <a:pt x="254515" y="180905"/>
                  </a:lnTo>
                  <a:lnTo>
                    <a:pt x="254123" y="181003"/>
                  </a:lnTo>
                  <a:lnTo>
                    <a:pt x="253780" y="181199"/>
                  </a:lnTo>
                  <a:lnTo>
                    <a:pt x="253485" y="181445"/>
                  </a:lnTo>
                  <a:lnTo>
                    <a:pt x="253093" y="181641"/>
                  </a:lnTo>
                  <a:lnTo>
                    <a:pt x="252848" y="181886"/>
                  </a:lnTo>
                  <a:lnTo>
                    <a:pt x="252553" y="182181"/>
                  </a:lnTo>
                  <a:lnTo>
                    <a:pt x="252357" y="182475"/>
                  </a:lnTo>
                  <a:lnTo>
                    <a:pt x="252161" y="182819"/>
                  </a:lnTo>
                  <a:lnTo>
                    <a:pt x="251965" y="183211"/>
                  </a:lnTo>
                  <a:lnTo>
                    <a:pt x="251866" y="183555"/>
                  </a:lnTo>
                  <a:lnTo>
                    <a:pt x="251768" y="183947"/>
                  </a:lnTo>
                  <a:lnTo>
                    <a:pt x="251670" y="184389"/>
                  </a:lnTo>
                  <a:lnTo>
                    <a:pt x="251670" y="184781"/>
                  </a:lnTo>
                  <a:lnTo>
                    <a:pt x="251670" y="196656"/>
                  </a:lnTo>
                  <a:lnTo>
                    <a:pt x="251670" y="197098"/>
                  </a:lnTo>
                  <a:lnTo>
                    <a:pt x="251768" y="197490"/>
                  </a:lnTo>
                  <a:lnTo>
                    <a:pt x="251866" y="197834"/>
                  </a:lnTo>
                  <a:lnTo>
                    <a:pt x="251965" y="198226"/>
                  </a:lnTo>
                  <a:lnTo>
                    <a:pt x="252161" y="198570"/>
                  </a:lnTo>
                  <a:lnTo>
                    <a:pt x="252357" y="198913"/>
                  </a:lnTo>
                  <a:lnTo>
                    <a:pt x="252553" y="199208"/>
                  </a:lnTo>
                  <a:lnTo>
                    <a:pt x="252848" y="199502"/>
                  </a:lnTo>
                  <a:lnTo>
                    <a:pt x="253093" y="199747"/>
                  </a:lnTo>
                  <a:lnTo>
                    <a:pt x="253485" y="199993"/>
                  </a:lnTo>
                  <a:lnTo>
                    <a:pt x="253780" y="200238"/>
                  </a:lnTo>
                  <a:lnTo>
                    <a:pt x="254123" y="200385"/>
                  </a:lnTo>
                  <a:lnTo>
                    <a:pt x="254515" y="200532"/>
                  </a:lnTo>
                  <a:lnTo>
                    <a:pt x="254859" y="200631"/>
                  </a:lnTo>
                  <a:lnTo>
                    <a:pt x="255300" y="200680"/>
                  </a:lnTo>
                  <a:lnTo>
                    <a:pt x="255693" y="200680"/>
                  </a:lnTo>
                  <a:lnTo>
                    <a:pt x="278505" y="200680"/>
                  </a:lnTo>
                  <a:lnTo>
                    <a:pt x="278946" y="200680"/>
                  </a:lnTo>
                  <a:lnTo>
                    <a:pt x="279338" y="200631"/>
                  </a:lnTo>
                  <a:lnTo>
                    <a:pt x="279780" y="200532"/>
                  </a:lnTo>
                  <a:lnTo>
                    <a:pt x="280124" y="200385"/>
                  </a:lnTo>
                  <a:lnTo>
                    <a:pt x="280467" y="200238"/>
                  </a:lnTo>
                  <a:lnTo>
                    <a:pt x="280810" y="199993"/>
                  </a:lnTo>
                  <a:lnTo>
                    <a:pt x="281105" y="199747"/>
                  </a:lnTo>
                  <a:lnTo>
                    <a:pt x="281399" y="199502"/>
                  </a:lnTo>
                  <a:lnTo>
                    <a:pt x="281644" y="199208"/>
                  </a:lnTo>
                  <a:lnTo>
                    <a:pt x="281890" y="198913"/>
                  </a:lnTo>
                  <a:lnTo>
                    <a:pt x="282135" y="198570"/>
                  </a:lnTo>
                  <a:lnTo>
                    <a:pt x="282233" y="198226"/>
                  </a:lnTo>
                  <a:lnTo>
                    <a:pt x="282429" y="197834"/>
                  </a:lnTo>
                  <a:lnTo>
                    <a:pt x="282478" y="197490"/>
                  </a:lnTo>
                  <a:lnTo>
                    <a:pt x="282527" y="197098"/>
                  </a:lnTo>
                  <a:lnTo>
                    <a:pt x="282625" y="196656"/>
                  </a:lnTo>
                  <a:lnTo>
                    <a:pt x="282625" y="184781"/>
                  </a:lnTo>
                  <a:lnTo>
                    <a:pt x="282527" y="184389"/>
                  </a:lnTo>
                  <a:lnTo>
                    <a:pt x="282478" y="183947"/>
                  </a:lnTo>
                  <a:lnTo>
                    <a:pt x="282429" y="183555"/>
                  </a:lnTo>
                  <a:lnTo>
                    <a:pt x="282233" y="183211"/>
                  </a:lnTo>
                  <a:lnTo>
                    <a:pt x="282135" y="182819"/>
                  </a:lnTo>
                  <a:lnTo>
                    <a:pt x="281890" y="182475"/>
                  </a:lnTo>
                  <a:lnTo>
                    <a:pt x="281644" y="182181"/>
                  </a:lnTo>
                  <a:lnTo>
                    <a:pt x="281399" y="181886"/>
                  </a:lnTo>
                  <a:lnTo>
                    <a:pt x="281105" y="181641"/>
                  </a:lnTo>
                  <a:lnTo>
                    <a:pt x="280810" y="181445"/>
                  </a:lnTo>
                  <a:lnTo>
                    <a:pt x="280467" y="181199"/>
                  </a:lnTo>
                  <a:lnTo>
                    <a:pt x="280124" y="181003"/>
                  </a:lnTo>
                  <a:lnTo>
                    <a:pt x="279780" y="180905"/>
                  </a:lnTo>
                  <a:lnTo>
                    <a:pt x="279338" y="180758"/>
                  </a:lnTo>
                  <a:lnTo>
                    <a:pt x="278946" y="180709"/>
                  </a:lnTo>
                  <a:lnTo>
                    <a:pt x="278505" y="180709"/>
                  </a:lnTo>
                  <a:lnTo>
                    <a:pt x="255693" y="180709"/>
                  </a:lnTo>
                  <a:lnTo>
                    <a:pt x="255300" y="180709"/>
                  </a:lnTo>
                  <a:close/>
                  <a:moveTo>
                    <a:pt x="200749" y="180709"/>
                  </a:moveTo>
                  <a:lnTo>
                    <a:pt x="200307" y="180758"/>
                  </a:lnTo>
                  <a:lnTo>
                    <a:pt x="199915" y="180905"/>
                  </a:lnTo>
                  <a:lnTo>
                    <a:pt x="199571" y="181003"/>
                  </a:lnTo>
                  <a:lnTo>
                    <a:pt x="199179" y="181199"/>
                  </a:lnTo>
                  <a:lnTo>
                    <a:pt x="198835" y="181445"/>
                  </a:lnTo>
                  <a:lnTo>
                    <a:pt x="198541" y="181641"/>
                  </a:lnTo>
                  <a:lnTo>
                    <a:pt x="198247" y="181886"/>
                  </a:lnTo>
                  <a:lnTo>
                    <a:pt x="198001" y="182181"/>
                  </a:lnTo>
                  <a:lnTo>
                    <a:pt x="197805" y="182475"/>
                  </a:lnTo>
                  <a:lnTo>
                    <a:pt x="197560" y="182819"/>
                  </a:lnTo>
                  <a:lnTo>
                    <a:pt x="197364" y="183211"/>
                  </a:lnTo>
                  <a:lnTo>
                    <a:pt x="197266" y="183555"/>
                  </a:lnTo>
                  <a:lnTo>
                    <a:pt x="197118" y="183947"/>
                  </a:lnTo>
                  <a:lnTo>
                    <a:pt x="197069" y="184389"/>
                  </a:lnTo>
                  <a:lnTo>
                    <a:pt x="197069" y="184781"/>
                  </a:lnTo>
                  <a:lnTo>
                    <a:pt x="197069" y="196656"/>
                  </a:lnTo>
                  <a:lnTo>
                    <a:pt x="197069" y="197098"/>
                  </a:lnTo>
                  <a:lnTo>
                    <a:pt x="197118" y="197490"/>
                  </a:lnTo>
                  <a:lnTo>
                    <a:pt x="197266" y="197834"/>
                  </a:lnTo>
                  <a:lnTo>
                    <a:pt x="197364" y="198226"/>
                  </a:lnTo>
                  <a:lnTo>
                    <a:pt x="197560" y="198570"/>
                  </a:lnTo>
                  <a:lnTo>
                    <a:pt x="197805" y="198913"/>
                  </a:lnTo>
                  <a:lnTo>
                    <a:pt x="198001" y="199208"/>
                  </a:lnTo>
                  <a:lnTo>
                    <a:pt x="198247" y="199502"/>
                  </a:lnTo>
                  <a:lnTo>
                    <a:pt x="198541" y="199747"/>
                  </a:lnTo>
                  <a:lnTo>
                    <a:pt x="198835" y="199993"/>
                  </a:lnTo>
                  <a:lnTo>
                    <a:pt x="199179" y="200238"/>
                  </a:lnTo>
                  <a:lnTo>
                    <a:pt x="199571" y="200385"/>
                  </a:lnTo>
                  <a:lnTo>
                    <a:pt x="199915" y="200532"/>
                  </a:lnTo>
                  <a:lnTo>
                    <a:pt x="200307" y="200631"/>
                  </a:lnTo>
                  <a:lnTo>
                    <a:pt x="200749" y="200680"/>
                  </a:lnTo>
                  <a:lnTo>
                    <a:pt x="201141" y="200680"/>
                  </a:lnTo>
                  <a:lnTo>
                    <a:pt x="223953" y="200680"/>
                  </a:lnTo>
                  <a:lnTo>
                    <a:pt x="224394" y="200680"/>
                  </a:lnTo>
                  <a:lnTo>
                    <a:pt x="224787" y="200631"/>
                  </a:lnTo>
                  <a:lnTo>
                    <a:pt x="225130" y="200532"/>
                  </a:lnTo>
                  <a:lnTo>
                    <a:pt x="225572" y="200385"/>
                  </a:lnTo>
                  <a:lnTo>
                    <a:pt x="225915" y="200238"/>
                  </a:lnTo>
                  <a:lnTo>
                    <a:pt x="226209" y="199993"/>
                  </a:lnTo>
                  <a:lnTo>
                    <a:pt x="226504" y="199747"/>
                  </a:lnTo>
                  <a:lnTo>
                    <a:pt x="226798" y="199502"/>
                  </a:lnTo>
                  <a:lnTo>
                    <a:pt x="227093" y="199208"/>
                  </a:lnTo>
                  <a:lnTo>
                    <a:pt x="227338" y="198913"/>
                  </a:lnTo>
                  <a:lnTo>
                    <a:pt x="227534" y="198570"/>
                  </a:lnTo>
                  <a:lnTo>
                    <a:pt x="227681" y="198226"/>
                  </a:lnTo>
                  <a:lnTo>
                    <a:pt x="227828" y="197834"/>
                  </a:lnTo>
                  <a:lnTo>
                    <a:pt x="227926" y="197490"/>
                  </a:lnTo>
                  <a:lnTo>
                    <a:pt x="227976" y="197098"/>
                  </a:lnTo>
                  <a:lnTo>
                    <a:pt x="227976" y="196656"/>
                  </a:lnTo>
                  <a:lnTo>
                    <a:pt x="227976" y="184781"/>
                  </a:lnTo>
                  <a:lnTo>
                    <a:pt x="227976" y="184389"/>
                  </a:lnTo>
                  <a:lnTo>
                    <a:pt x="227926" y="183947"/>
                  </a:lnTo>
                  <a:lnTo>
                    <a:pt x="227828" y="183555"/>
                  </a:lnTo>
                  <a:lnTo>
                    <a:pt x="227681" y="183211"/>
                  </a:lnTo>
                  <a:lnTo>
                    <a:pt x="227534" y="182819"/>
                  </a:lnTo>
                  <a:lnTo>
                    <a:pt x="227338" y="182475"/>
                  </a:lnTo>
                  <a:lnTo>
                    <a:pt x="227093" y="182181"/>
                  </a:lnTo>
                  <a:lnTo>
                    <a:pt x="226798" y="181886"/>
                  </a:lnTo>
                  <a:lnTo>
                    <a:pt x="226504" y="181641"/>
                  </a:lnTo>
                  <a:lnTo>
                    <a:pt x="226209" y="181445"/>
                  </a:lnTo>
                  <a:lnTo>
                    <a:pt x="225915" y="181199"/>
                  </a:lnTo>
                  <a:lnTo>
                    <a:pt x="225572" y="181003"/>
                  </a:lnTo>
                  <a:lnTo>
                    <a:pt x="225130" y="180905"/>
                  </a:lnTo>
                  <a:lnTo>
                    <a:pt x="224787" y="180758"/>
                  </a:lnTo>
                  <a:lnTo>
                    <a:pt x="224394" y="180709"/>
                  </a:lnTo>
                  <a:lnTo>
                    <a:pt x="223953" y="180709"/>
                  </a:lnTo>
                  <a:lnTo>
                    <a:pt x="201141" y="180709"/>
                  </a:lnTo>
                  <a:lnTo>
                    <a:pt x="200749" y="180709"/>
                  </a:lnTo>
                  <a:close/>
                  <a:moveTo>
                    <a:pt x="146148" y="180709"/>
                  </a:moveTo>
                  <a:lnTo>
                    <a:pt x="145706" y="180758"/>
                  </a:lnTo>
                  <a:lnTo>
                    <a:pt x="145363" y="180905"/>
                  </a:lnTo>
                  <a:lnTo>
                    <a:pt x="144922" y="181003"/>
                  </a:lnTo>
                  <a:lnTo>
                    <a:pt x="144578" y="181199"/>
                  </a:lnTo>
                  <a:lnTo>
                    <a:pt x="144284" y="181445"/>
                  </a:lnTo>
                  <a:lnTo>
                    <a:pt x="143940" y="181641"/>
                  </a:lnTo>
                  <a:lnTo>
                    <a:pt x="143695" y="181886"/>
                  </a:lnTo>
                  <a:lnTo>
                    <a:pt x="143401" y="182181"/>
                  </a:lnTo>
                  <a:lnTo>
                    <a:pt x="143155" y="182475"/>
                  </a:lnTo>
                  <a:lnTo>
                    <a:pt x="143008" y="182819"/>
                  </a:lnTo>
                  <a:lnTo>
                    <a:pt x="142812" y="183211"/>
                  </a:lnTo>
                  <a:lnTo>
                    <a:pt x="142714" y="183555"/>
                  </a:lnTo>
                  <a:lnTo>
                    <a:pt x="142567" y="183947"/>
                  </a:lnTo>
                  <a:lnTo>
                    <a:pt x="142518" y="184389"/>
                  </a:lnTo>
                  <a:lnTo>
                    <a:pt x="142518" y="184781"/>
                  </a:lnTo>
                  <a:lnTo>
                    <a:pt x="142518" y="196656"/>
                  </a:lnTo>
                  <a:lnTo>
                    <a:pt x="142518" y="197098"/>
                  </a:lnTo>
                  <a:lnTo>
                    <a:pt x="142567" y="197490"/>
                  </a:lnTo>
                  <a:lnTo>
                    <a:pt x="142714" y="197834"/>
                  </a:lnTo>
                  <a:lnTo>
                    <a:pt x="142812" y="198226"/>
                  </a:lnTo>
                  <a:lnTo>
                    <a:pt x="143008" y="198570"/>
                  </a:lnTo>
                  <a:lnTo>
                    <a:pt x="143155" y="198913"/>
                  </a:lnTo>
                  <a:lnTo>
                    <a:pt x="143401" y="199208"/>
                  </a:lnTo>
                  <a:lnTo>
                    <a:pt x="143695" y="199502"/>
                  </a:lnTo>
                  <a:lnTo>
                    <a:pt x="143940" y="199747"/>
                  </a:lnTo>
                  <a:lnTo>
                    <a:pt x="144284" y="199993"/>
                  </a:lnTo>
                  <a:lnTo>
                    <a:pt x="144578" y="200238"/>
                  </a:lnTo>
                  <a:lnTo>
                    <a:pt x="144922" y="200385"/>
                  </a:lnTo>
                  <a:lnTo>
                    <a:pt x="145363" y="200532"/>
                  </a:lnTo>
                  <a:lnTo>
                    <a:pt x="145706" y="200631"/>
                  </a:lnTo>
                  <a:lnTo>
                    <a:pt x="146148" y="200680"/>
                  </a:lnTo>
                  <a:lnTo>
                    <a:pt x="146540" y="200680"/>
                  </a:lnTo>
                  <a:lnTo>
                    <a:pt x="169352" y="200680"/>
                  </a:lnTo>
                  <a:lnTo>
                    <a:pt x="169745" y="200680"/>
                  </a:lnTo>
                  <a:lnTo>
                    <a:pt x="170186" y="200631"/>
                  </a:lnTo>
                  <a:lnTo>
                    <a:pt x="170578" y="200532"/>
                  </a:lnTo>
                  <a:lnTo>
                    <a:pt x="170971" y="200385"/>
                  </a:lnTo>
                  <a:lnTo>
                    <a:pt x="171314" y="200238"/>
                  </a:lnTo>
                  <a:lnTo>
                    <a:pt x="171658" y="199993"/>
                  </a:lnTo>
                  <a:lnTo>
                    <a:pt x="171952" y="199747"/>
                  </a:lnTo>
                  <a:lnTo>
                    <a:pt x="172246" y="199502"/>
                  </a:lnTo>
                  <a:lnTo>
                    <a:pt x="172492" y="199208"/>
                  </a:lnTo>
                  <a:lnTo>
                    <a:pt x="172737" y="198913"/>
                  </a:lnTo>
                  <a:lnTo>
                    <a:pt x="172982" y="198570"/>
                  </a:lnTo>
                  <a:lnTo>
                    <a:pt x="173080" y="198226"/>
                  </a:lnTo>
                  <a:lnTo>
                    <a:pt x="173277" y="197834"/>
                  </a:lnTo>
                  <a:lnTo>
                    <a:pt x="173326" y="197490"/>
                  </a:lnTo>
                  <a:lnTo>
                    <a:pt x="173375" y="197098"/>
                  </a:lnTo>
                  <a:lnTo>
                    <a:pt x="173424" y="196656"/>
                  </a:lnTo>
                  <a:lnTo>
                    <a:pt x="173424" y="184781"/>
                  </a:lnTo>
                  <a:lnTo>
                    <a:pt x="173375" y="184389"/>
                  </a:lnTo>
                  <a:lnTo>
                    <a:pt x="173326" y="183947"/>
                  </a:lnTo>
                  <a:lnTo>
                    <a:pt x="173277" y="183555"/>
                  </a:lnTo>
                  <a:lnTo>
                    <a:pt x="173080" y="183211"/>
                  </a:lnTo>
                  <a:lnTo>
                    <a:pt x="172982" y="182819"/>
                  </a:lnTo>
                  <a:lnTo>
                    <a:pt x="172737" y="182475"/>
                  </a:lnTo>
                  <a:lnTo>
                    <a:pt x="172492" y="182181"/>
                  </a:lnTo>
                  <a:lnTo>
                    <a:pt x="172246" y="181886"/>
                  </a:lnTo>
                  <a:lnTo>
                    <a:pt x="171952" y="181641"/>
                  </a:lnTo>
                  <a:lnTo>
                    <a:pt x="171658" y="181445"/>
                  </a:lnTo>
                  <a:lnTo>
                    <a:pt x="171314" y="181199"/>
                  </a:lnTo>
                  <a:lnTo>
                    <a:pt x="170971" y="181003"/>
                  </a:lnTo>
                  <a:lnTo>
                    <a:pt x="170578" y="180905"/>
                  </a:lnTo>
                  <a:lnTo>
                    <a:pt x="170186" y="180758"/>
                  </a:lnTo>
                  <a:lnTo>
                    <a:pt x="169745" y="180709"/>
                  </a:lnTo>
                  <a:lnTo>
                    <a:pt x="169352" y="180709"/>
                  </a:lnTo>
                  <a:lnTo>
                    <a:pt x="146540" y="180709"/>
                  </a:lnTo>
                  <a:lnTo>
                    <a:pt x="146148" y="180709"/>
                  </a:lnTo>
                  <a:close/>
                  <a:moveTo>
                    <a:pt x="255300" y="145428"/>
                  </a:moveTo>
                  <a:lnTo>
                    <a:pt x="254859" y="145477"/>
                  </a:lnTo>
                  <a:lnTo>
                    <a:pt x="254515" y="145576"/>
                  </a:lnTo>
                  <a:lnTo>
                    <a:pt x="254123" y="145723"/>
                  </a:lnTo>
                  <a:lnTo>
                    <a:pt x="253780" y="145870"/>
                  </a:lnTo>
                  <a:lnTo>
                    <a:pt x="253485" y="146066"/>
                  </a:lnTo>
                  <a:lnTo>
                    <a:pt x="253093" y="146312"/>
                  </a:lnTo>
                  <a:lnTo>
                    <a:pt x="252848" y="146606"/>
                  </a:lnTo>
                  <a:lnTo>
                    <a:pt x="252553" y="146851"/>
                  </a:lnTo>
                  <a:lnTo>
                    <a:pt x="252357" y="147195"/>
                  </a:lnTo>
                  <a:lnTo>
                    <a:pt x="252161" y="147489"/>
                  </a:lnTo>
                  <a:lnTo>
                    <a:pt x="251965" y="147833"/>
                  </a:lnTo>
                  <a:lnTo>
                    <a:pt x="251866" y="148274"/>
                  </a:lnTo>
                  <a:lnTo>
                    <a:pt x="251768" y="148618"/>
                  </a:lnTo>
                  <a:lnTo>
                    <a:pt x="251670" y="149010"/>
                  </a:lnTo>
                  <a:lnTo>
                    <a:pt x="251670" y="149452"/>
                  </a:lnTo>
                  <a:lnTo>
                    <a:pt x="251670" y="161327"/>
                  </a:lnTo>
                  <a:lnTo>
                    <a:pt x="251670" y="161719"/>
                  </a:lnTo>
                  <a:lnTo>
                    <a:pt x="251768" y="162161"/>
                  </a:lnTo>
                  <a:lnTo>
                    <a:pt x="251866" y="162553"/>
                  </a:lnTo>
                  <a:lnTo>
                    <a:pt x="251965" y="162897"/>
                  </a:lnTo>
                  <a:lnTo>
                    <a:pt x="252161" y="163289"/>
                  </a:lnTo>
                  <a:lnTo>
                    <a:pt x="252357" y="163633"/>
                  </a:lnTo>
                  <a:lnTo>
                    <a:pt x="252553" y="163927"/>
                  </a:lnTo>
                  <a:lnTo>
                    <a:pt x="252848" y="164222"/>
                  </a:lnTo>
                  <a:lnTo>
                    <a:pt x="253093" y="164467"/>
                  </a:lnTo>
                  <a:lnTo>
                    <a:pt x="253485" y="164712"/>
                  </a:lnTo>
                  <a:lnTo>
                    <a:pt x="253780" y="164909"/>
                  </a:lnTo>
                  <a:lnTo>
                    <a:pt x="254123" y="165056"/>
                  </a:lnTo>
                  <a:lnTo>
                    <a:pt x="254515" y="165203"/>
                  </a:lnTo>
                  <a:lnTo>
                    <a:pt x="254859" y="165301"/>
                  </a:lnTo>
                  <a:lnTo>
                    <a:pt x="255300" y="165350"/>
                  </a:lnTo>
                  <a:lnTo>
                    <a:pt x="255693" y="165399"/>
                  </a:lnTo>
                  <a:lnTo>
                    <a:pt x="278505" y="165399"/>
                  </a:lnTo>
                  <a:lnTo>
                    <a:pt x="278946" y="165350"/>
                  </a:lnTo>
                  <a:lnTo>
                    <a:pt x="279338" y="165301"/>
                  </a:lnTo>
                  <a:lnTo>
                    <a:pt x="279780" y="165203"/>
                  </a:lnTo>
                  <a:lnTo>
                    <a:pt x="280124" y="165056"/>
                  </a:lnTo>
                  <a:lnTo>
                    <a:pt x="280467" y="164909"/>
                  </a:lnTo>
                  <a:lnTo>
                    <a:pt x="280810" y="164712"/>
                  </a:lnTo>
                  <a:lnTo>
                    <a:pt x="281105" y="164467"/>
                  </a:lnTo>
                  <a:lnTo>
                    <a:pt x="281399" y="164222"/>
                  </a:lnTo>
                  <a:lnTo>
                    <a:pt x="281644" y="163927"/>
                  </a:lnTo>
                  <a:lnTo>
                    <a:pt x="281890" y="163633"/>
                  </a:lnTo>
                  <a:lnTo>
                    <a:pt x="282135" y="163289"/>
                  </a:lnTo>
                  <a:lnTo>
                    <a:pt x="282233" y="162897"/>
                  </a:lnTo>
                  <a:lnTo>
                    <a:pt x="282429" y="162553"/>
                  </a:lnTo>
                  <a:lnTo>
                    <a:pt x="282478" y="162161"/>
                  </a:lnTo>
                  <a:lnTo>
                    <a:pt x="282527" y="161719"/>
                  </a:lnTo>
                  <a:lnTo>
                    <a:pt x="282625" y="161327"/>
                  </a:lnTo>
                  <a:lnTo>
                    <a:pt x="282625" y="149452"/>
                  </a:lnTo>
                  <a:lnTo>
                    <a:pt x="282527" y="149010"/>
                  </a:lnTo>
                  <a:lnTo>
                    <a:pt x="282478" y="148618"/>
                  </a:lnTo>
                  <a:lnTo>
                    <a:pt x="282429" y="148274"/>
                  </a:lnTo>
                  <a:lnTo>
                    <a:pt x="282233" y="147833"/>
                  </a:lnTo>
                  <a:lnTo>
                    <a:pt x="282135" y="147489"/>
                  </a:lnTo>
                  <a:lnTo>
                    <a:pt x="281890" y="147195"/>
                  </a:lnTo>
                  <a:lnTo>
                    <a:pt x="281644" y="146851"/>
                  </a:lnTo>
                  <a:lnTo>
                    <a:pt x="281399" y="146606"/>
                  </a:lnTo>
                  <a:lnTo>
                    <a:pt x="281105" y="146312"/>
                  </a:lnTo>
                  <a:lnTo>
                    <a:pt x="280810" y="146066"/>
                  </a:lnTo>
                  <a:lnTo>
                    <a:pt x="280467" y="145870"/>
                  </a:lnTo>
                  <a:lnTo>
                    <a:pt x="280124" y="145723"/>
                  </a:lnTo>
                  <a:lnTo>
                    <a:pt x="279780" y="145576"/>
                  </a:lnTo>
                  <a:lnTo>
                    <a:pt x="279338" y="145477"/>
                  </a:lnTo>
                  <a:lnTo>
                    <a:pt x="278946" y="145428"/>
                  </a:lnTo>
                  <a:lnTo>
                    <a:pt x="278505" y="145428"/>
                  </a:lnTo>
                  <a:lnTo>
                    <a:pt x="255693" y="145428"/>
                  </a:lnTo>
                  <a:lnTo>
                    <a:pt x="255300" y="145428"/>
                  </a:lnTo>
                  <a:close/>
                  <a:moveTo>
                    <a:pt x="200749" y="145428"/>
                  </a:moveTo>
                  <a:lnTo>
                    <a:pt x="200307" y="145477"/>
                  </a:lnTo>
                  <a:lnTo>
                    <a:pt x="199915" y="145576"/>
                  </a:lnTo>
                  <a:lnTo>
                    <a:pt x="199571" y="145723"/>
                  </a:lnTo>
                  <a:lnTo>
                    <a:pt x="199179" y="145870"/>
                  </a:lnTo>
                  <a:lnTo>
                    <a:pt x="198835" y="146066"/>
                  </a:lnTo>
                  <a:lnTo>
                    <a:pt x="198541" y="146312"/>
                  </a:lnTo>
                  <a:lnTo>
                    <a:pt x="198247" y="146606"/>
                  </a:lnTo>
                  <a:lnTo>
                    <a:pt x="198001" y="146851"/>
                  </a:lnTo>
                  <a:lnTo>
                    <a:pt x="197805" y="147195"/>
                  </a:lnTo>
                  <a:lnTo>
                    <a:pt x="197560" y="147489"/>
                  </a:lnTo>
                  <a:lnTo>
                    <a:pt x="197364" y="147833"/>
                  </a:lnTo>
                  <a:lnTo>
                    <a:pt x="197266" y="148274"/>
                  </a:lnTo>
                  <a:lnTo>
                    <a:pt x="197118" y="148618"/>
                  </a:lnTo>
                  <a:lnTo>
                    <a:pt x="197069" y="149010"/>
                  </a:lnTo>
                  <a:lnTo>
                    <a:pt x="197069" y="149452"/>
                  </a:lnTo>
                  <a:lnTo>
                    <a:pt x="197069" y="161327"/>
                  </a:lnTo>
                  <a:lnTo>
                    <a:pt x="197069" y="161719"/>
                  </a:lnTo>
                  <a:lnTo>
                    <a:pt x="197118" y="162161"/>
                  </a:lnTo>
                  <a:lnTo>
                    <a:pt x="197266" y="162553"/>
                  </a:lnTo>
                  <a:lnTo>
                    <a:pt x="197364" y="162897"/>
                  </a:lnTo>
                  <a:lnTo>
                    <a:pt x="197560" y="163289"/>
                  </a:lnTo>
                  <a:lnTo>
                    <a:pt x="197805" y="163633"/>
                  </a:lnTo>
                  <a:lnTo>
                    <a:pt x="198001" y="163927"/>
                  </a:lnTo>
                  <a:lnTo>
                    <a:pt x="198247" y="164222"/>
                  </a:lnTo>
                  <a:lnTo>
                    <a:pt x="198541" y="164467"/>
                  </a:lnTo>
                  <a:lnTo>
                    <a:pt x="198835" y="164712"/>
                  </a:lnTo>
                  <a:lnTo>
                    <a:pt x="199179" y="164909"/>
                  </a:lnTo>
                  <a:lnTo>
                    <a:pt x="199571" y="165056"/>
                  </a:lnTo>
                  <a:lnTo>
                    <a:pt x="199915" y="165203"/>
                  </a:lnTo>
                  <a:lnTo>
                    <a:pt x="200307" y="165301"/>
                  </a:lnTo>
                  <a:lnTo>
                    <a:pt x="200749" y="165350"/>
                  </a:lnTo>
                  <a:lnTo>
                    <a:pt x="201141" y="165399"/>
                  </a:lnTo>
                  <a:lnTo>
                    <a:pt x="223953" y="165399"/>
                  </a:lnTo>
                  <a:lnTo>
                    <a:pt x="224394" y="165350"/>
                  </a:lnTo>
                  <a:lnTo>
                    <a:pt x="224787" y="165301"/>
                  </a:lnTo>
                  <a:lnTo>
                    <a:pt x="225130" y="165203"/>
                  </a:lnTo>
                  <a:lnTo>
                    <a:pt x="225572" y="165056"/>
                  </a:lnTo>
                  <a:lnTo>
                    <a:pt x="225915" y="164909"/>
                  </a:lnTo>
                  <a:lnTo>
                    <a:pt x="226209" y="164712"/>
                  </a:lnTo>
                  <a:lnTo>
                    <a:pt x="226504" y="164467"/>
                  </a:lnTo>
                  <a:lnTo>
                    <a:pt x="226798" y="164222"/>
                  </a:lnTo>
                  <a:lnTo>
                    <a:pt x="227093" y="163927"/>
                  </a:lnTo>
                  <a:lnTo>
                    <a:pt x="227338" y="163633"/>
                  </a:lnTo>
                  <a:lnTo>
                    <a:pt x="227534" y="163289"/>
                  </a:lnTo>
                  <a:lnTo>
                    <a:pt x="227681" y="162897"/>
                  </a:lnTo>
                  <a:lnTo>
                    <a:pt x="227828" y="162553"/>
                  </a:lnTo>
                  <a:lnTo>
                    <a:pt x="227926" y="162161"/>
                  </a:lnTo>
                  <a:lnTo>
                    <a:pt x="227976" y="161719"/>
                  </a:lnTo>
                  <a:lnTo>
                    <a:pt x="227976" y="161327"/>
                  </a:lnTo>
                  <a:lnTo>
                    <a:pt x="227976" y="149452"/>
                  </a:lnTo>
                  <a:lnTo>
                    <a:pt x="227976" y="149010"/>
                  </a:lnTo>
                  <a:lnTo>
                    <a:pt x="227926" y="148618"/>
                  </a:lnTo>
                  <a:lnTo>
                    <a:pt x="227828" y="148274"/>
                  </a:lnTo>
                  <a:lnTo>
                    <a:pt x="227681" y="147833"/>
                  </a:lnTo>
                  <a:lnTo>
                    <a:pt x="227534" y="147489"/>
                  </a:lnTo>
                  <a:lnTo>
                    <a:pt x="227338" y="147195"/>
                  </a:lnTo>
                  <a:lnTo>
                    <a:pt x="227093" y="146851"/>
                  </a:lnTo>
                  <a:lnTo>
                    <a:pt x="226798" y="146606"/>
                  </a:lnTo>
                  <a:lnTo>
                    <a:pt x="226504" y="146312"/>
                  </a:lnTo>
                  <a:lnTo>
                    <a:pt x="226209" y="146066"/>
                  </a:lnTo>
                  <a:lnTo>
                    <a:pt x="225915" y="145870"/>
                  </a:lnTo>
                  <a:lnTo>
                    <a:pt x="225572" y="145723"/>
                  </a:lnTo>
                  <a:lnTo>
                    <a:pt x="225130" y="145576"/>
                  </a:lnTo>
                  <a:lnTo>
                    <a:pt x="224787" y="145477"/>
                  </a:lnTo>
                  <a:lnTo>
                    <a:pt x="224394" y="145428"/>
                  </a:lnTo>
                  <a:lnTo>
                    <a:pt x="223953" y="145428"/>
                  </a:lnTo>
                  <a:lnTo>
                    <a:pt x="201141" y="145428"/>
                  </a:lnTo>
                  <a:lnTo>
                    <a:pt x="200749" y="145428"/>
                  </a:lnTo>
                  <a:close/>
                  <a:moveTo>
                    <a:pt x="146148" y="145428"/>
                  </a:moveTo>
                  <a:lnTo>
                    <a:pt x="145706" y="145477"/>
                  </a:lnTo>
                  <a:lnTo>
                    <a:pt x="145363" y="145576"/>
                  </a:lnTo>
                  <a:lnTo>
                    <a:pt x="144922" y="145723"/>
                  </a:lnTo>
                  <a:lnTo>
                    <a:pt x="144578" y="145870"/>
                  </a:lnTo>
                  <a:lnTo>
                    <a:pt x="144284" y="146066"/>
                  </a:lnTo>
                  <a:lnTo>
                    <a:pt x="143940" y="146312"/>
                  </a:lnTo>
                  <a:lnTo>
                    <a:pt x="143695" y="146606"/>
                  </a:lnTo>
                  <a:lnTo>
                    <a:pt x="143401" y="146851"/>
                  </a:lnTo>
                  <a:lnTo>
                    <a:pt x="143155" y="147195"/>
                  </a:lnTo>
                  <a:lnTo>
                    <a:pt x="143008" y="147489"/>
                  </a:lnTo>
                  <a:lnTo>
                    <a:pt x="142812" y="147833"/>
                  </a:lnTo>
                  <a:lnTo>
                    <a:pt x="142714" y="148274"/>
                  </a:lnTo>
                  <a:lnTo>
                    <a:pt x="142567" y="148618"/>
                  </a:lnTo>
                  <a:lnTo>
                    <a:pt x="142518" y="149010"/>
                  </a:lnTo>
                  <a:lnTo>
                    <a:pt x="142518" y="149452"/>
                  </a:lnTo>
                  <a:lnTo>
                    <a:pt x="142518" y="161327"/>
                  </a:lnTo>
                  <a:lnTo>
                    <a:pt x="142518" y="161719"/>
                  </a:lnTo>
                  <a:lnTo>
                    <a:pt x="142567" y="162161"/>
                  </a:lnTo>
                  <a:lnTo>
                    <a:pt x="142714" y="162553"/>
                  </a:lnTo>
                  <a:lnTo>
                    <a:pt x="142812" y="162897"/>
                  </a:lnTo>
                  <a:lnTo>
                    <a:pt x="143008" y="163289"/>
                  </a:lnTo>
                  <a:lnTo>
                    <a:pt x="143155" y="163633"/>
                  </a:lnTo>
                  <a:lnTo>
                    <a:pt x="143401" y="163927"/>
                  </a:lnTo>
                  <a:lnTo>
                    <a:pt x="143695" y="164222"/>
                  </a:lnTo>
                  <a:lnTo>
                    <a:pt x="143940" y="164467"/>
                  </a:lnTo>
                  <a:lnTo>
                    <a:pt x="144284" y="164712"/>
                  </a:lnTo>
                  <a:lnTo>
                    <a:pt x="144578" y="164909"/>
                  </a:lnTo>
                  <a:lnTo>
                    <a:pt x="144922" y="165056"/>
                  </a:lnTo>
                  <a:lnTo>
                    <a:pt x="145363" y="165203"/>
                  </a:lnTo>
                  <a:lnTo>
                    <a:pt x="145706" y="165301"/>
                  </a:lnTo>
                  <a:lnTo>
                    <a:pt x="146148" y="165350"/>
                  </a:lnTo>
                  <a:lnTo>
                    <a:pt x="146540" y="165399"/>
                  </a:lnTo>
                  <a:lnTo>
                    <a:pt x="169352" y="165399"/>
                  </a:lnTo>
                  <a:lnTo>
                    <a:pt x="169745" y="165350"/>
                  </a:lnTo>
                  <a:lnTo>
                    <a:pt x="170186" y="165301"/>
                  </a:lnTo>
                  <a:lnTo>
                    <a:pt x="170578" y="165203"/>
                  </a:lnTo>
                  <a:lnTo>
                    <a:pt x="170971" y="165056"/>
                  </a:lnTo>
                  <a:lnTo>
                    <a:pt x="171314" y="164909"/>
                  </a:lnTo>
                  <a:lnTo>
                    <a:pt x="171658" y="164712"/>
                  </a:lnTo>
                  <a:lnTo>
                    <a:pt x="171952" y="164467"/>
                  </a:lnTo>
                  <a:lnTo>
                    <a:pt x="172246" y="164222"/>
                  </a:lnTo>
                  <a:lnTo>
                    <a:pt x="172492" y="163927"/>
                  </a:lnTo>
                  <a:lnTo>
                    <a:pt x="172737" y="163633"/>
                  </a:lnTo>
                  <a:lnTo>
                    <a:pt x="172982" y="163289"/>
                  </a:lnTo>
                  <a:lnTo>
                    <a:pt x="173080" y="162897"/>
                  </a:lnTo>
                  <a:lnTo>
                    <a:pt x="173277" y="162553"/>
                  </a:lnTo>
                  <a:lnTo>
                    <a:pt x="173326" y="162161"/>
                  </a:lnTo>
                  <a:lnTo>
                    <a:pt x="173375" y="161719"/>
                  </a:lnTo>
                  <a:lnTo>
                    <a:pt x="173424" y="161327"/>
                  </a:lnTo>
                  <a:lnTo>
                    <a:pt x="173424" y="149452"/>
                  </a:lnTo>
                  <a:lnTo>
                    <a:pt x="173375" y="149010"/>
                  </a:lnTo>
                  <a:lnTo>
                    <a:pt x="173326" y="148618"/>
                  </a:lnTo>
                  <a:lnTo>
                    <a:pt x="173277" y="148274"/>
                  </a:lnTo>
                  <a:lnTo>
                    <a:pt x="173080" y="147833"/>
                  </a:lnTo>
                  <a:lnTo>
                    <a:pt x="172982" y="147489"/>
                  </a:lnTo>
                  <a:lnTo>
                    <a:pt x="172737" y="147195"/>
                  </a:lnTo>
                  <a:lnTo>
                    <a:pt x="172492" y="146851"/>
                  </a:lnTo>
                  <a:lnTo>
                    <a:pt x="172246" y="146606"/>
                  </a:lnTo>
                  <a:lnTo>
                    <a:pt x="171952" y="146312"/>
                  </a:lnTo>
                  <a:lnTo>
                    <a:pt x="171658" y="146066"/>
                  </a:lnTo>
                  <a:lnTo>
                    <a:pt x="171314" y="145870"/>
                  </a:lnTo>
                  <a:lnTo>
                    <a:pt x="170971" y="145723"/>
                  </a:lnTo>
                  <a:lnTo>
                    <a:pt x="170578" y="145576"/>
                  </a:lnTo>
                  <a:lnTo>
                    <a:pt x="170186" y="145477"/>
                  </a:lnTo>
                  <a:lnTo>
                    <a:pt x="169745" y="145428"/>
                  </a:lnTo>
                  <a:lnTo>
                    <a:pt x="169352" y="145428"/>
                  </a:lnTo>
                  <a:lnTo>
                    <a:pt x="146540" y="145428"/>
                  </a:lnTo>
                  <a:lnTo>
                    <a:pt x="146148" y="145428"/>
                  </a:lnTo>
                  <a:close/>
                  <a:moveTo>
                    <a:pt x="320881" y="97873"/>
                  </a:moveTo>
                  <a:lnTo>
                    <a:pt x="425143" y="98364"/>
                  </a:lnTo>
                  <a:lnTo>
                    <a:pt x="424996" y="100375"/>
                  </a:lnTo>
                  <a:lnTo>
                    <a:pt x="424701" y="102583"/>
                  </a:lnTo>
                  <a:lnTo>
                    <a:pt x="424358" y="105379"/>
                  </a:lnTo>
                  <a:lnTo>
                    <a:pt x="423818" y="108519"/>
                  </a:lnTo>
                  <a:lnTo>
                    <a:pt x="423230" y="111708"/>
                  </a:lnTo>
                  <a:lnTo>
                    <a:pt x="422837" y="113278"/>
                  </a:lnTo>
                  <a:lnTo>
                    <a:pt x="422494" y="114897"/>
                  </a:lnTo>
                  <a:lnTo>
                    <a:pt x="422150" y="116368"/>
                  </a:lnTo>
                  <a:lnTo>
                    <a:pt x="421660" y="117742"/>
                  </a:lnTo>
                  <a:lnTo>
                    <a:pt x="421316" y="118870"/>
                  </a:lnTo>
                  <a:lnTo>
                    <a:pt x="420776" y="119999"/>
                  </a:lnTo>
                  <a:lnTo>
                    <a:pt x="420237" y="121078"/>
                  </a:lnTo>
                  <a:lnTo>
                    <a:pt x="419599" y="122206"/>
                  </a:lnTo>
                  <a:lnTo>
                    <a:pt x="418912" y="123286"/>
                  </a:lnTo>
                  <a:lnTo>
                    <a:pt x="418078" y="124414"/>
                  </a:lnTo>
                  <a:lnTo>
                    <a:pt x="417244" y="125395"/>
                  </a:lnTo>
                  <a:lnTo>
                    <a:pt x="416311" y="126425"/>
                  </a:lnTo>
                  <a:lnTo>
                    <a:pt x="415281" y="127308"/>
                  </a:lnTo>
                  <a:lnTo>
                    <a:pt x="414251" y="128143"/>
                  </a:lnTo>
                  <a:lnTo>
                    <a:pt x="413122" y="128878"/>
                  </a:lnTo>
                  <a:lnTo>
                    <a:pt x="411945" y="129516"/>
                  </a:lnTo>
                  <a:lnTo>
                    <a:pt x="410669" y="130007"/>
                  </a:lnTo>
                  <a:lnTo>
                    <a:pt x="410031" y="130252"/>
                  </a:lnTo>
                  <a:lnTo>
                    <a:pt x="409344" y="130399"/>
                  </a:lnTo>
                  <a:lnTo>
                    <a:pt x="408657" y="130546"/>
                  </a:lnTo>
                  <a:lnTo>
                    <a:pt x="407970" y="130694"/>
                  </a:lnTo>
                  <a:lnTo>
                    <a:pt x="407235" y="130743"/>
                  </a:lnTo>
                  <a:lnTo>
                    <a:pt x="406548" y="130743"/>
                  </a:lnTo>
                  <a:lnTo>
                    <a:pt x="337121" y="130448"/>
                  </a:lnTo>
                  <a:lnTo>
                    <a:pt x="335846" y="130399"/>
                  </a:lnTo>
                  <a:lnTo>
                    <a:pt x="334619" y="130154"/>
                  </a:lnTo>
                  <a:lnTo>
                    <a:pt x="333442" y="129860"/>
                  </a:lnTo>
                  <a:lnTo>
                    <a:pt x="332166" y="129418"/>
                  </a:lnTo>
                  <a:lnTo>
                    <a:pt x="331038" y="128878"/>
                  </a:lnTo>
                  <a:lnTo>
                    <a:pt x="330007" y="128290"/>
                  </a:lnTo>
                  <a:lnTo>
                    <a:pt x="328928" y="127603"/>
                  </a:lnTo>
                  <a:lnTo>
                    <a:pt x="327996" y="126769"/>
                  </a:lnTo>
                  <a:lnTo>
                    <a:pt x="327112" y="125886"/>
                  </a:lnTo>
                  <a:lnTo>
                    <a:pt x="326278" y="124954"/>
                  </a:lnTo>
                  <a:lnTo>
                    <a:pt x="325493" y="123923"/>
                  </a:lnTo>
                  <a:lnTo>
                    <a:pt x="324855" y="122893"/>
                  </a:lnTo>
                  <a:lnTo>
                    <a:pt x="324316" y="121716"/>
                  </a:lnTo>
                  <a:lnTo>
                    <a:pt x="323825" y="120489"/>
                  </a:lnTo>
                  <a:lnTo>
                    <a:pt x="323531" y="119312"/>
                  </a:lnTo>
                  <a:lnTo>
                    <a:pt x="323285" y="118036"/>
                  </a:lnTo>
                  <a:lnTo>
                    <a:pt x="320881" y="97873"/>
                  </a:lnTo>
                  <a:close/>
                  <a:moveTo>
                    <a:pt x="104262" y="97873"/>
                  </a:moveTo>
                  <a:lnTo>
                    <a:pt x="101859" y="118036"/>
                  </a:lnTo>
                  <a:lnTo>
                    <a:pt x="101614" y="119312"/>
                  </a:lnTo>
                  <a:lnTo>
                    <a:pt x="101270" y="120489"/>
                  </a:lnTo>
                  <a:lnTo>
                    <a:pt x="100878" y="121716"/>
                  </a:lnTo>
                  <a:lnTo>
                    <a:pt x="100290" y="122893"/>
                  </a:lnTo>
                  <a:lnTo>
                    <a:pt x="99603" y="123923"/>
                  </a:lnTo>
                  <a:lnTo>
                    <a:pt x="98916" y="124954"/>
                  </a:lnTo>
                  <a:lnTo>
                    <a:pt x="98083" y="125886"/>
                  </a:lnTo>
                  <a:lnTo>
                    <a:pt x="97200" y="126769"/>
                  </a:lnTo>
                  <a:lnTo>
                    <a:pt x="96170" y="127603"/>
                  </a:lnTo>
                  <a:lnTo>
                    <a:pt x="95189" y="128290"/>
                  </a:lnTo>
                  <a:lnTo>
                    <a:pt x="94061" y="128878"/>
                  </a:lnTo>
                  <a:lnTo>
                    <a:pt x="92933" y="129418"/>
                  </a:lnTo>
                  <a:lnTo>
                    <a:pt x="91756" y="129860"/>
                  </a:lnTo>
                  <a:lnTo>
                    <a:pt x="90530" y="130154"/>
                  </a:lnTo>
                  <a:lnTo>
                    <a:pt x="89255" y="130399"/>
                  </a:lnTo>
                  <a:lnTo>
                    <a:pt x="88029" y="130448"/>
                  </a:lnTo>
                  <a:lnTo>
                    <a:pt x="18587" y="130743"/>
                  </a:lnTo>
                  <a:lnTo>
                    <a:pt x="17900" y="130743"/>
                  </a:lnTo>
                  <a:lnTo>
                    <a:pt x="17213" y="130694"/>
                  </a:lnTo>
                  <a:lnTo>
                    <a:pt x="16527" y="130546"/>
                  </a:lnTo>
                  <a:lnTo>
                    <a:pt x="15840" y="130399"/>
                  </a:lnTo>
                  <a:lnTo>
                    <a:pt x="15203" y="130252"/>
                  </a:lnTo>
                  <a:lnTo>
                    <a:pt x="14516" y="130007"/>
                  </a:lnTo>
                  <a:lnTo>
                    <a:pt x="13290" y="129516"/>
                  </a:lnTo>
                  <a:lnTo>
                    <a:pt x="12064" y="128878"/>
                  </a:lnTo>
                  <a:lnTo>
                    <a:pt x="10936" y="128143"/>
                  </a:lnTo>
                  <a:lnTo>
                    <a:pt x="9857" y="127308"/>
                  </a:lnTo>
                  <a:lnTo>
                    <a:pt x="8877" y="126425"/>
                  </a:lnTo>
                  <a:lnTo>
                    <a:pt x="7994" y="125395"/>
                  </a:lnTo>
                  <a:lnTo>
                    <a:pt x="7062" y="124414"/>
                  </a:lnTo>
                  <a:lnTo>
                    <a:pt x="6326" y="123286"/>
                  </a:lnTo>
                  <a:lnTo>
                    <a:pt x="5542" y="122206"/>
                  </a:lnTo>
                  <a:lnTo>
                    <a:pt x="4953" y="121078"/>
                  </a:lnTo>
                  <a:lnTo>
                    <a:pt x="4365" y="119999"/>
                  </a:lnTo>
                  <a:lnTo>
                    <a:pt x="3874" y="118870"/>
                  </a:lnTo>
                  <a:lnTo>
                    <a:pt x="3482" y="117742"/>
                  </a:lnTo>
                  <a:lnTo>
                    <a:pt x="3090" y="116368"/>
                  </a:lnTo>
                  <a:lnTo>
                    <a:pt x="2648" y="114897"/>
                  </a:lnTo>
                  <a:lnTo>
                    <a:pt x="2305" y="113278"/>
                  </a:lnTo>
                  <a:lnTo>
                    <a:pt x="1962" y="111708"/>
                  </a:lnTo>
                  <a:lnTo>
                    <a:pt x="1373" y="108519"/>
                  </a:lnTo>
                  <a:lnTo>
                    <a:pt x="883" y="105379"/>
                  </a:lnTo>
                  <a:lnTo>
                    <a:pt x="490" y="102583"/>
                  </a:lnTo>
                  <a:lnTo>
                    <a:pt x="245" y="100375"/>
                  </a:lnTo>
                  <a:lnTo>
                    <a:pt x="0" y="98364"/>
                  </a:lnTo>
                  <a:lnTo>
                    <a:pt x="104262" y="97873"/>
                  </a:lnTo>
                  <a:close/>
                  <a:moveTo>
                    <a:pt x="149974" y="57890"/>
                  </a:moveTo>
                  <a:lnTo>
                    <a:pt x="150416" y="57890"/>
                  </a:lnTo>
                  <a:lnTo>
                    <a:pt x="162631" y="57890"/>
                  </a:lnTo>
                  <a:lnTo>
                    <a:pt x="163024" y="57890"/>
                  </a:lnTo>
                  <a:lnTo>
                    <a:pt x="163514" y="57939"/>
                  </a:lnTo>
                  <a:lnTo>
                    <a:pt x="163907" y="58037"/>
                  </a:lnTo>
                  <a:lnTo>
                    <a:pt x="164348" y="58233"/>
                  </a:lnTo>
                  <a:lnTo>
                    <a:pt x="164741" y="58381"/>
                  </a:lnTo>
                  <a:lnTo>
                    <a:pt x="165084" y="58626"/>
                  </a:lnTo>
                  <a:lnTo>
                    <a:pt x="165476" y="58871"/>
                  </a:lnTo>
                  <a:lnTo>
                    <a:pt x="165771" y="59166"/>
                  </a:lnTo>
                  <a:lnTo>
                    <a:pt x="166065" y="59460"/>
                  </a:lnTo>
                  <a:lnTo>
                    <a:pt x="166261" y="59803"/>
                  </a:lnTo>
                  <a:lnTo>
                    <a:pt x="166507" y="60196"/>
                  </a:lnTo>
                  <a:lnTo>
                    <a:pt x="166703" y="60589"/>
                  </a:lnTo>
                  <a:lnTo>
                    <a:pt x="166850" y="60981"/>
                  </a:lnTo>
                  <a:lnTo>
                    <a:pt x="166997" y="61423"/>
                  </a:lnTo>
                  <a:lnTo>
                    <a:pt x="167046" y="61815"/>
                  </a:lnTo>
                  <a:lnTo>
                    <a:pt x="167046" y="62306"/>
                  </a:lnTo>
                  <a:lnTo>
                    <a:pt x="167046" y="73101"/>
                  </a:lnTo>
                  <a:lnTo>
                    <a:pt x="257999" y="73101"/>
                  </a:lnTo>
                  <a:lnTo>
                    <a:pt x="257999" y="62306"/>
                  </a:lnTo>
                  <a:lnTo>
                    <a:pt x="258097" y="61815"/>
                  </a:lnTo>
                  <a:lnTo>
                    <a:pt x="258146" y="61423"/>
                  </a:lnTo>
                  <a:lnTo>
                    <a:pt x="258244" y="60981"/>
                  </a:lnTo>
                  <a:lnTo>
                    <a:pt x="258391" y="60589"/>
                  </a:lnTo>
                  <a:lnTo>
                    <a:pt x="258538" y="60196"/>
                  </a:lnTo>
                  <a:lnTo>
                    <a:pt x="258784" y="59803"/>
                  </a:lnTo>
                  <a:lnTo>
                    <a:pt x="259078" y="59460"/>
                  </a:lnTo>
                  <a:lnTo>
                    <a:pt x="259323" y="59166"/>
                  </a:lnTo>
                  <a:lnTo>
                    <a:pt x="259667" y="58871"/>
                  </a:lnTo>
                  <a:lnTo>
                    <a:pt x="260010" y="58626"/>
                  </a:lnTo>
                  <a:lnTo>
                    <a:pt x="260402" y="58381"/>
                  </a:lnTo>
                  <a:lnTo>
                    <a:pt x="260746" y="58233"/>
                  </a:lnTo>
                  <a:lnTo>
                    <a:pt x="261138" y="58037"/>
                  </a:lnTo>
                  <a:lnTo>
                    <a:pt x="261629" y="57939"/>
                  </a:lnTo>
                  <a:lnTo>
                    <a:pt x="262021" y="57890"/>
                  </a:lnTo>
                  <a:lnTo>
                    <a:pt x="262512" y="57890"/>
                  </a:lnTo>
                  <a:lnTo>
                    <a:pt x="274678" y="57890"/>
                  </a:lnTo>
                  <a:lnTo>
                    <a:pt x="275120" y="57890"/>
                  </a:lnTo>
                  <a:lnTo>
                    <a:pt x="275561" y="57939"/>
                  </a:lnTo>
                  <a:lnTo>
                    <a:pt x="276003" y="58037"/>
                  </a:lnTo>
                  <a:lnTo>
                    <a:pt x="276395" y="58233"/>
                  </a:lnTo>
                  <a:lnTo>
                    <a:pt x="276788" y="58381"/>
                  </a:lnTo>
                  <a:lnTo>
                    <a:pt x="277180" y="58626"/>
                  </a:lnTo>
                  <a:lnTo>
                    <a:pt x="277523" y="58871"/>
                  </a:lnTo>
                  <a:lnTo>
                    <a:pt x="277818" y="59166"/>
                  </a:lnTo>
                  <a:lnTo>
                    <a:pt x="278112" y="59460"/>
                  </a:lnTo>
                  <a:lnTo>
                    <a:pt x="278357" y="59803"/>
                  </a:lnTo>
                  <a:lnTo>
                    <a:pt x="278603" y="60196"/>
                  </a:lnTo>
                  <a:lnTo>
                    <a:pt x="278750" y="60589"/>
                  </a:lnTo>
                  <a:lnTo>
                    <a:pt x="278946" y="60981"/>
                  </a:lnTo>
                  <a:lnTo>
                    <a:pt x="279044" y="61423"/>
                  </a:lnTo>
                  <a:lnTo>
                    <a:pt x="279093" y="61815"/>
                  </a:lnTo>
                  <a:lnTo>
                    <a:pt x="279093" y="62306"/>
                  </a:lnTo>
                  <a:lnTo>
                    <a:pt x="279093" y="73543"/>
                  </a:lnTo>
                  <a:lnTo>
                    <a:pt x="281105" y="73886"/>
                  </a:lnTo>
                  <a:lnTo>
                    <a:pt x="282135" y="74083"/>
                  </a:lnTo>
                  <a:lnTo>
                    <a:pt x="283018" y="74328"/>
                  </a:lnTo>
                  <a:lnTo>
                    <a:pt x="283901" y="74622"/>
                  </a:lnTo>
                  <a:lnTo>
                    <a:pt x="284784" y="74917"/>
                  </a:lnTo>
                  <a:lnTo>
                    <a:pt x="285618" y="75260"/>
                  </a:lnTo>
                  <a:lnTo>
                    <a:pt x="286403" y="75653"/>
                  </a:lnTo>
                  <a:lnTo>
                    <a:pt x="287139" y="76094"/>
                  </a:lnTo>
                  <a:lnTo>
                    <a:pt x="287924" y="76536"/>
                  </a:lnTo>
                  <a:lnTo>
                    <a:pt x="288610" y="77076"/>
                  </a:lnTo>
                  <a:lnTo>
                    <a:pt x="289346" y="77615"/>
                  </a:lnTo>
                  <a:lnTo>
                    <a:pt x="289984" y="78253"/>
                  </a:lnTo>
                  <a:lnTo>
                    <a:pt x="290622" y="78891"/>
                  </a:lnTo>
                  <a:lnTo>
                    <a:pt x="291308" y="79676"/>
                  </a:lnTo>
                  <a:lnTo>
                    <a:pt x="291897" y="80461"/>
                  </a:lnTo>
                  <a:lnTo>
                    <a:pt x="292486" y="81296"/>
                  </a:lnTo>
                  <a:lnTo>
                    <a:pt x="293026" y="82228"/>
                  </a:lnTo>
                  <a:lnTo>
                    <a:pt x="293614" y="83160"/>
                  </a:lnTo>
                  <a:lnTo>
                    <a:pt x="294105" y="84240"/>
                  </a:lnTo>
                  <a:lnTo>
                    <a:pt x="294644" y="85319"/>
                  </a:lnTo>
                  <a:lnTo>
                    <a:pt x="295135" y="86497"/>
                  </a:lnTo>
                  <a:lnTo>
                    <a:pt x="295675" y="87724"/>
                  </a:lnTo>
                  <a:lnTo>
                    <a:pt x="296116" y="89097"/>
                  </a:lnTo>
                  <a:lnTo>
                    <a:pt x="297097" y="91943"/>
                  </a:lnTo>
                  <a:lnTo>
                    <a:pt x="298029" y="95133"/>
                  </a:lnTo>
                  <a:lnTo>
                    <a:pt x="298912" y="98666"/>
                  </a:lnTo>
                  <a:lnTo>
                    <a:pt x="299795" y="102542"/>
                  </a:lnTo>
                  <a:lnTo>
                    <a:pt x="300384" y="105143"/>
                  </a:lnTo>
                  <a:lnTo>
                    <a:pt x="301169" y="107695"/>
                  </a:lnTo>
                  <a:lnTo>
                    <a:pt x="302003" y="110246"/>
                  </a:lnTo>
                  <a:lnTo>
                    <a:pt x="302935" y="112749"/>
                  </a:lnTo>
                  <a:lnTo>
                    <a:pt x="303916" y="115202"/>
                  </a:lnTo>
                  <a:lnTo>
                    <a:pt x="305045" y="117705"/>
                  </a:lnTo>
                  <a:lnTo>
                    <a:pt x="306222" y="120109"/>
                  </a:lnTo>
                  <a:lnTo>
                    <a:pt x="307546" y="122464"/>
                  </a:lnTo>
                  <a:lnTo>
                    <a:pt x="308822" y="124869"/>
                  </a:lnTo>
                  <a:lnTo>
                    <a:pt x="310245" y="127224"/>
                  </a:lnTo>
                  <a:lnTo>
                    <a:pt x="311814" y="129530"/>
                  </a:lnTo>
                  <a:lnTo>
                    <a:pt x="313335" y="131787"/>
                  </a:lnTo>
                  <a:lnTo>
                    <a:pt x="314954" y="134093"/>
                  </a:lnTo>
                  <a:lnTo>
                    <a:pt x="316573" y="136301"/>
                  </a:lnTo>
                  <a:lnTo>
                    <a:pt x="318290" y="138510"/>
                  </a:lnTo>
                  <a:lnTo>
                    <a:pt x="320007" y="140669"/>
                  </a:lnTo>
                  <a:lnTo>
                    <a:pt x="321773" y="142877"/>
                  </a:lnTo>
                  <a:lnTo>
                    <a:pt x="323637" y="145085"/>
                  </a:lnTo>
                  <a:lnTo>
                    <a:pt x="327366" y="149305"/>
                  </a:lnTo>
                  <a:lnTo>
                    <a:pt x="331192" y="153525"/>
                  </a:lnTo>
                  <a:lnTo>
                    <a:pt x="335019" y="157646"/>
                  </a:lnTo>
                  <a:lnTo>
                    <a:pt x="342770" y="165743"/>
                  </a:lnTo>
                  <a:lnTo>
                    <a:pt x="346547" y="169717"/>
                  </a:lnTo>
                  <a:lnTo>
                    <a:pt x="350275" y="173692"/>
                  </a:lnTo>
                  <a:lnTo>
                    <a:pt x="351453" y="174968"/>
                  </a:lnTo>
                  <a:lnTo>
                    <a:pt x="352532" y="176292"/>
                  </a:lnTo>
                  <a:lnTo>
                    <a:pt x="353660" y="177617"/>
                  </a:lnTo>
                  <a:lnTo>
                    <a:pt x="354691" y="179040"/>
                  </a:lnTo>
                  <a:lnTo>
                    <a:pt x="355721" y="180512"/>
                  </a:lnTo>
                  <a:lnTo>
                    <a:pt x="356702" y="182034"/>
                  </a:lnTo>
                  <a:lnTo>
                    <a:pt x="357732" y="183555"/>
                  </a:lnTo>
                  <a:lnTo>
                    <a:pt x="358664" y="185125"/>
                  </a:lnTo>
                  <a:lnTo>
                    <a:pt x="359596" y="186793"/>
                  </a:lnTo>
                  <a:lnTo>
                    <a:pt x="360578" y="188461"/>
                  </a:lnTo>
                  <a:lnTo>
                    <a:pt x="362344" y="191847"/>
                  </a:lnTo>
                  <a:lnTo>
                    <a:pt x="364061" y="195380"/>
                  </a:lnTo>
                  <a:lnTo>
                    <a:pt x="365630" y="198962"/>
                  </a:lnTo>
                  <a:lnTo>
                    <a:pt x="367102" y="202691"/>
                  </a:lnTo>
                  <a:lnTo>
                    <a:pt x="368623" y="206421"/>
                  </a:lnTo>
                  <a:lnTo>
                    <a:pt x="369898" y="210199"/>
                  </a:lnTo>
                  <a:lnTo>
                    <a:pt x="371223" y="213977"/>
                  </a:lnTo>
                  <a:lnTo>
                    <a:pt x="372400" y="217755"/>
                  </a:lnTo>
                  <a:lnTo>
                    <a:pt x="373529" y="221583"/>
                  </a:lnTo>
                  <a:lnTo>
                    <a:pt x="374559" y="225263"/>
                  </a:lnTo>
                  <a:lnTo>
                    <a:pt x="375540" y="228943"/>
                  </a:lnTo>
                  <a:lnTo>
                    <a:pt x="376423" y="232574"/>
                  </a:lnTo>
                  <a:lnTo>
                    <a:pt x="377257" y="236058"/>
                  </a:lnTo>
                  <a:lnTo>
                    <a:pt x="377993" y="239493"/>
                  </a:lnTo>
                  <a:lnTo>
                    <a:pt x="378729" y="242731"/>
                  </a:lnTo>
                  <a:lnTo>
                    <a:pt x="379906" y="248767"/>
                  </a:lnTo>
                  <a:lnTo>
                    <a:pt x="380838" y="254017"/>
                  </a:lnTo>
                  <a:lnTo>
                    <a:pt x="381525" y="258384"/>
                  </a:lnTo>
                  <a:lnTo>
                    <a:pt x="382015" y="261721"/>
                  </a:lnTo>
                  <a:lnTo>
                    <a:pt x="382457" y="264469"/>
                  </a:lnTo>
                  <a:lnTo>
                    <a:pt x="382359" y="266137"/>
                  </a:lnTo>
                  <a:lnTo>
                    <a:pt x="382261" y="267805"/>
                  </a:lnTo>
                  <a:lnTo>
                    <a:pt x="382015" y="269376"/>
                  </a:lnTo>
                  <a:lnTo>
                    <a:pt x="381721" y="270995"/>
                  </a:lnTo>
                  <a:lnTo>
                    <a:pt x="381378" y="272516"/>
                  </a:lnTo>
                  <a:lnTo>
                    <a:pt x="380936" y="274037"/>
                  </a:lnTo>
                  <a:lnTo>
                    <a:pt x="380495" y="275509"/>
                  </a:lnTo>
                  <a:lnTo>
                    <a:pt x="379906" y="277030"/>
                  </a:lnTo>
                  <a:lnTo>
                    <a:pt x="379219" y="278453"/>
                  </a:lnTo>
                  <a:lnTo>
                    <a:pt x="378532" y="279827"/>
                  </a:lnTo>
                  <a:lnTo>
                    <a:pt x="377748" y="281201"/>
                  </a:lnTo>
                  <a:lnTo>
                    <a:pt x="376914" y="282526"/>
                  </a:lnTo>
                  <a:lnTo>
                    <a:pt x="375981" y="283753"/>
                  </a:lnTo>
                  <a:lnTo>
                    <a:pt x="375049" y="284980"/>
                  </a:lnTo>
                  <a:lnTo>
                    <a:pt x="374019" y="286108"/>
                  </a:lnTo>
                  <a:lnTo>
                    <a:pt x="372989" y="287237"/>
                  </a:lnTo>
                  <a:lnTo>
                    <a:pt x="371861" y="288316"/>
                  </a:lnTo>
                  <a:lnTo>
                    <a:pt x="370683" y="289298"/>
                  </a:lnTo>
                  <a:lnTo>
                    <a:pt x="369506" y="290328"/>
                  </a:lnTo>
                  <a:lnTo>
                    <a:pt x="368230" y="291211"/>
                  </a:lnTo>
                  <a:lnTo>
                    <a:pt x="366906" y="292045"/>
                  </a:lnTo>
                  <a:lnTo>
                    <a:pt x="365581" y="292781"/>
                  </a:lnTo>
                  <a:lnTo>
                    <a:pt x="364159" y="293517"/>
                  </a:lnTo>
                  <a:lnTo>
                    <a:pt x="362736" y="294155"/>
                  </a:lnTo>
                  <a:lnTo>
                    <a:pt x="361264" y="294744"/>
                  </a:lnTo>
                  <a:lnTo>
                    <a:pt x="359792" y="295235"/>
                  </a:lnTo>
                  <a:lnTo>
                    <a:pt x="358272" y="295677"/>
                  </a:lnTo>
                  <a:lnTo>
                    <a:pt x="356702" y="296069"/>
                  </a:lnTo>
                  <a:lnTo>
                    <a:pt x="355132" y="296265"/>
                  </a:lnTo>
                  <a:lnTo>
                    <a:pt x="353513" y="296511"/>
                  </a:lnTo>
                  <a:lnTo>
                    <a:pt x="351894" y="296658"/>
                  </a:lnTo>
                  <a:lnTo>
                    <a:pt x="350226" y="296707"/>
                  </a:lnTo>
                  <a:lnTo>
                    <a:pt x="344290" y="296707"/>
                  </a:lnTo>
                  <a:lnTo>
                    <a:pt x="344290" y="305441"/>
                  </a:lnTo>
                  <a:lnTo>
                    <a:pt x="344241" y="306079"/>
                  </a:lnTo>
                  <a:lnTo>
                    <a:pt x="344192" y="306766"/>
                  </a:lnTo>
                  <a:lnTo>
                    <a:pt x="343996" y="307355"/>
                  </a:lnTo>
                  <a:lnTo>
                    <a:pt x="343849" y="307944"/>
                  </a:lnTo>
                  <a:lnTo>
                    <a:pt x="343604" y="308483"/>
                  </a:lnTo>
                  <a:lnTo>
                    <a:pt x="343309" y="308974"/>
                  </a:lnTo>
                  <a:lnTo>
                    <a:pt x="342966" y="309465"/>
                  </a:lnTo>
                  <a:lnTo>
                    <a:pt x="342573" y="309955"/>
                  </a:lnTo>
                  <a:lnTo>
                    <a:pt x="342181" y="310348"/>
                  </a:lnTo>
                  <a:lnTo>
                    <a:pt x="341789" y="310692"/>
                  </a:lnTo>
                  <a:lnTo>
                    <a:pt x="341249" y="310986"/>
                  </a:lnTo>
                  <a:lnTo>
                    <a:pt x="340758" y="311280"/>
                  </a:lnTo>
                  <a:lnTo>
                    <a:pt x="340250" y="311680"/>
                  </a:lnTo>
                  <a:lnTo>
                    <a:pt x="339630" y="311673"/>
                  </a:lnTo>
                  <a:lnTo>
                    <a:pt x="339090" y="311771"/>
                  </a:lnTo>
                  <a:lnTo>
                    <a:pt x="338502" y="311771"/>
                  </a:lnTo>
                  <a:lnTo>
                    <a:pt x="319369" y="311771"/>
                  </a:lnTo>
                  <a:lnTo>
                    <a:pt x="318781" y="311771"/>
                  </a:lnTo>
                  <a:lnTo>
                    <a:pt x="318192" y="311673"/>
                  </a:lnTo>
                  <a:lnTo>
                    <a:pt x="317603" y="311680"/>
                  </a:lnTo>
                  <a:lnTo>
                    <a:pt x="317064" y="311280"/>
                  </a:lnTo>
                  <a:lnTo>
                    <a:pt x="316573" y="310986"/>
                  </a:lnTo>
                  <a:lnTo>
                    <a:pt x="316132" y="310692"/>
                  </a:lnTo>
                  <a:lnTo>
                    <a:pt x="315641" y="310348"/>
                  </a:lnTo>
                  <a:lnTo>
                    <a:pt x="315249" y="309955"/>
                  </a:lnTo>
                  <a:lnTo>
                    <a:pt x="314856" y="309465"/>
                  </a:lnTo>
                  <a:lnTo>
                    <a:pt x="314513" y="308974"/>
                  </a:lnTo>
                  <a:lnTo>
                    <a:pt x="314218" y="308483"/>
                  </a:lnTo>
                  <a:lnTo>
                    <a:pt x="313973" y="307944"/>
                  </a:lnTo>
                  <a:lnTo>
                    <a:pt x="313826" y="307355"/>
                  </a:lnTo>
                  <a:lnTo>
                    <a:pt x="313630" y="306766"/>
                  </a:lnTo>
                  <a:lnTo>
                    <a:pt x="313580" y="306079"/>
                  </a:lnTo>
                  <a:lnTo>
                    <a:pt x="313531" y="305441"/>
                  </a:lnTo>
                  <a:lnTo>
                    <a:pt x="313531" y="296707"/>
                  </a:lnTo>
                  <a:lnTo>
                    <a:pt x="111563" y="296707"/>
                  </a:lnTo>
                  <a:lnTo>
                    <a:pt x="111563" y="305441"/>
                  </a:lnTo>
                  <a:lnTo>
                    <a:pt x="111563" y="306079"/>
                  </a:lnTo>
                  <a:lnTo>
                    <a:pt x="111415" y="306766"/>
                  </a:lnTo>
                  <a:lnTo>
                    <a:pt x="111317" y="307355"/>
                  </a:lnTo>
                  <a:lnTo>
                    <a:pt x="111072" y="307944"/>
                  </a:lnTo>
                  <a:lnTo>
                    <a:pt x="110827" y="308483"/>
                  </a:lnTo>
                  <a:lnTo>
                    <a:pt x="110532" y="308974"/>
                  </a:lnTo>
                  <a:lnTo>
                    <a:pt x="110238" y="309465"/>
                  </a:lnTo>
                  <a:lnTo>
                    <a:pt x="109846" y="309955"/>
                  </a:lnTo>
                  <a:lnTo>
                    <a:pt x="109404" y="310348"/>
                  </a:lnTo>
                  <a:lnTo>
                    <a:pt x="109011" y="310692"/>
                  </a:lnTo>
                  <a:lnTo>
                    <a:pt x="108521" y="310986"/>
                  </a:lnTo>
                  <a:lnTo>
                    <a:pt x="107981" y="311280"/>
                  </a:lnTo>
                  <a:lnTo>
                    <a:pt x="107491" y="311680"/>
                  </a:lnTo>
                  <a:lnTo>
                    <a:pt x="106951" y="311673"/>
                  </a:lnTo>
                  <a:lnTo>
                    <a:pt x="106362" y="311771"/>
                  </a:lnTo>
                  <a:lnTo>
                    <a:pt x="105774" y="311771"/>
                  </a:lnTo>
                  <a:lnTo>
                    <a:pt x="86592" y="311771"/>
                  </a:lnTo>
                  <a:lnTo>
                    <a:pt x="86004" y="311771"/>
                  </a:lnTo>
                  <a:lnTo>
                    <a:pt x="85415" y="311673"/>
                  </a:lnTo>
                  <a:lnTo>
                    <a:pt x="84875" y="311680"/>
                  </a:lnTo>
                  <a:lnTo>
                    <a:pt x="84336" y="311280"/>
                  </a:lnTo>
                  <a:lnTo>
                    <a:pt x="83845" y="310986"/>
                  </a:lnTo>
                  <a:lnTo>
                    <a:pt x="83355" y="310692"/>
                  </a:lnTo>
                  <a:lnTo>
                    <a:pt x="82864" y="310348"/>
                  </a:lnTo>
                  <a:lnTo>
                    <a:pt x="82471" y="309955"/>
                  </a:lnTo>
                  <a:lnTo>
                    <a:pt x="82128" y="309465"/>
                  </a:lnTo>
                  <a:lnTo>
                    <a:pt x="81736" y="308974"/>
                  </a:lnTo>
                  <a:lnTo>
                    <a:pt x="81441" y="308483"/>
                  </a:lnTo>
                  <a:lnTo>
                    <a:pt x="81245" y="307944"/>
                  </a:lnTo>
                  <a:lnTo>
                    <a:pt x="81049" y="307355"/>
                  </a:lnTo>
                  <a:lnTo>
                    <a:pt x="80951" y="306766"/>
                  </a:lnTo>
                  <a:lnTo>
                    <a:pt x="80804" y="306079"/>
                  </a:lnTo>
                  <a:lnTo>
                    <a:pt x="80804" y="305441"/>
                  </a:lnTo>
                  <a:lnTo>
                    <a:pt x="80804" y="296707"/>
                  </a:lnTo>
                  <a:lnTo>
                    <a:pt x="74819" y="296707"/>
                  </a:lnTo>
                  <a:lnTo>
                    <a:pt x="73200" y="296658"/>
                  </a:lnTo>
                  <a:lnTo>
                    <a:pt x="71581" y="296511"/>
                  </a:lnTo>
                  <a:lnTo>
                    <a:pt x="69913" y="296265"/>
                  </a:lnTo>
                  <a:lnTo>
                    <a:pt x="68392" y="296069"/>
                  </a:lnTo>
                  <a:lnTo>
                    <a:pt x="66822" y="295677"/>
                  </a:lnTo>
                  <a:lnTo>
                    <a:pt x="65252" y="295235"/>
                  </a:lnTo>
                  <a:lnTo>
                    <a:pt x="63781" y="294744"/>
                  </a:lnTo>
                  <a:lnTo>
                    <a:pt x="62309" y="294155"/>
                  </a:lnTo>
                  <a:lnTo>
                    <a:pt x="60886" y="293517"/>
                  </a:lnTo>
                  <a:lnTo>
                    <a:pt x="59513" y="292781"/>
                  </a:lnTo>
                  <a:lnTo>
                    <a:pt x="58188" y="292045"/>
                  </a:lnTo>
                  <a:lnTo>
                    <a:pt x="56864" y="291211"/>
                  </a:lnTo>
                  <a:lnTo>
                    <a:pt x="55637" y="290328"/>
                  </a:lnTo>
                  <a:lnTo>
                    <a:pt x="54411" y="289298"/>
                  </a:lnTo>
                  <a:lnTo>
                    <a:pt x="53184" y="288316"/>
                  </a:lnTo>
                  <a:lnTo>
                    <a:pt x="52105" y="287237"/>
                  </a:lnTo>
                  <a:lnTo>
                    <a:pt x="51026" y="286108"/>
                  </a:lnTo>
                  <a:lnTo>
                    <a:pt x="49996" y="284980"/>
                  </a:lnTo>
                  <a:lnTo>
                    <a:pt x="49063" y="283753"/>
                  </a:lnTo>
                  <a:lnTo>
                    <a:pt x="48180" y="282526"/>
                  </a:lnTo>
                  <a:lnTo>
                    <a:pt x="47346" y="281201"/>
                  </a:lnTo>
                  <a:lnTo>
                    <a:pt x="46611" y="279827"/>
                  </a:lnTo>
                  <a:lnTo>
                    <a:pt x="45875" y="278453"/>
                  </a:lnTo>
                  <a:lnTo>
                    <a:pt x="45237" y="277030"/>
                  </a:lnTo>
                  <a:lnTo>
                    <a:pt x="44648" y="275509"/>
                  </a:lnTo>
                  <a:lnTo>
                    <a:pt x="44109" y="274037"/>
                  </a:lnTo>
                  <a:lnTo>
                    <a:pt x="43667" y="272516"/>
                  </a:lnTo>
                  <a:lnTo>
                    <a:pt x="43324" y="270995"/>
                  </a:lnTo>
                  <a:lnTo>
                    <a:pt x="43029" y="269376"/>
                  </a:lnTo>
                  <a:lnTo>
                    <a:pt x="42882" y="267805"/>
                  </a:lnTo>
                  <a:lnTo>
                    <a:pt x="42735" y="266137"/>
                  </a:lnTo>
                  <a:lnTo>
                    <a:pt x="42686" y="264469"/>
                  </a:lnTo>
                  <a:lnTo>
                    <a:pt x="43029" y="261721"/>
                  </a:lnTo>
                  <a:lnTo>
                    <a:pt x="43569" y="258384"/>
                  </a:lnTo>
                  <a:lnTo>
                    <a:pt x="44305" y="254017"/>
                  </a:lnTo>
                  <a:lnTo>
                    <a:pt x="45237" y="248767"/>
                  </a:lnTo>
                  <a:lnTo>
                    <a:pt x="46414" y="242731"/>
                  </a:lnTo>
                  <a:lnTo>
                    <a:pt x="47052" y="239493"/>
                  </a:lnTo>
                  <a:lnTo>
                    <a:pt x="47837" y="236058"/>
                  </a:lnTo>
                  <a:lnTo>
                    <a:pt x="48671" y="232574"/>
                  </a:lnTo>
                  <a:lnTo>
                    <a:pt x="49554" y="228943"/>
                  </a:lnTo>
                  <a:lnTo>
                    <a:pt x="50535" y="225263"/>
                  </a:lnTo>
                  <a:lnTo>
                    <a:pt x="51565" y="221583"/>
                  </a:lnTo>
                  <a:lnTo>
                    <a:pt x="52694" y="217755"/>
                  </a:lnTo>
                  <a:lnTo>
                    <a:pt x="53920" y="213977"/>
                  </a:lnTo>
                  <a:lnTo>
                    <a:pt x="55147" y="210199"/>
                  </a:lnTo>
                  <a:lnTo>
                    <a:pt x="56520" y="206421"/>
                  </a:lnTo>
                  <a:lnTo>
                    <a:pt x="57943" y="202691"/>
                  </a:lnTo>
                  <a:lnTo>
                    <a:pt x="59464" y="198962"/>
                  </a:lnTo>
                  <a:lnTo>
                    <a:pt x="61082" y="195380"/>
                  </a:lnTo>
                  <a:lnTo>
                    <a:pt x="62701" y="191847"/>
                  </a:lnTo>
                  <a:lnTo>
                    <a:pt x="64566" y="188461"/>
                  </a:lnTo>
                  <a:lnTo>
                    <a:pt x="65449" y="186793"/>
                  </a:lnTo>
                  <a:lnTo>
                    <a:pt x="66381" y="185125"/>
                  </a:lnTo>
                  <a:lnTo>
                    <a:pt x="67313" y="183555"/>
                  </a:lnTo>
                  <a:lnTo>
                    <a:pt x="68343" y="182034"/>
                  </a:lnTo>
                  <a:lnTo>
                    <a:pt x="69324" y="180512"/>
                  </a:lnTo>
                  <a:lnTo>
                    <a:pt x="70403" y="179040"/>
                  </a:lnTo>
                  <a:lnTo>
                    <a:pt x="71483" y="177617"/>
                  </a:lnTo>
                  <a:lnTo>
                    <a:pt x="72513" y="176292"/>
                  </a:lnTo>
                  <a:lnTo>
                    <a:pt x="73641" y="174968"/>
                  </a:lnTo>
                  <a:lnTo>
                    <a:pt x="74769" y="173692"/>
                  </a:lnTo>
                  <a:lnTo>
                    <a:pt x="78498" y="169717"/>
                  </a:lnTo>
                  <a:lnTo>
                    <a:pt x="82275" y="165743"/>
                  </a:lnTo>
                  <a:lnTo>
                    <a:pt x="90026" y="157646"/>
                  </a:lnTo>
                  <a:lnTo>
                    <a:pt x="93951" y="153525"/>
                  </a:lnTo>
                  <a:lnTo>
                    <a:pt x="97728" y="149305"/>
                  </a:lnTo>
                  <a:lnTo>
                    <a:pt x="101457" y="145085"/>
                  </a:lnTo>
                  <a:lnTo>
                    <a:pt x="103272" y="142877"/>
                  </a:lnTo>
                  <a:lnTo>
                    <a:pt x="105038" y="140669"/>
                  </a:lnTo>
                  <a:lnTo>
                    <a:pt x="106804" y="138510"/>
                  </a:lnTo>
                  <a:lnTo>
                    <a:pt x="108521" y="136301"/>
                  </a:lnTo>
                  <a:lnTo>
                    <a:pt x="110189" y="134093"/>
                  </a:lnTo>
                  <a:lnTo>
                    <a:pt x="111759" y="131787"/>
                  </a:lnTo>
                  <a:lnTo>
                    <a:pt x="113329" y="129530"/>
                  </a:lnTo>
                  <a:lnTo>
                    <a:pt x="114800" y="127224"/>
                  </a:lnTo>
                  <a:lnTo>
                    <a:pt x="116223" y="124869"/>
                  </a:lnTo>
                  <a:lnTo>
                    <a:pt x="117597" y="122464"/>
                  </a:lnTo>
                  <a:lnTo>
                    <a:pt x="118823" y="120109"/>
                  </a:lnTo>
                  <a:lnTo>
                    <a:pt x="120049" y="117705"/>
                  </a:lnTo>
                  <a:lnTo>
                    <a:pt x="121129" y="115202"/>
                  </a:lnTo>
                  <a:lnTo>
                    <a:pt x="122208" y="112749"/>
                  </a:lnTo>
                  <a:lnTo>
                    <a:pt x="123091" y="110246"/>
                  </a:lnTo>
                  <a:lnTo>
                    <a:pt x="123974" y="107695"/>
                  </a:lnTo>
                  <a:lnTo>
                    <a:pt x="124661" y="105143"/>
                  </a:lnTo>
                  <a:lnTo>
                    <a:pt x="125299" y="102542"/>
                  </a:lnTo>
                  <a:lnTo>
                    <a:pt x="126182" y="98666"/>
                  </a:lnTo>
                  <a:lnTo>
                    <a:pt x="127114" y="95133"/>
                  </a:lnTo>
                  <a:lnTo>
                    <a:pt x="127997" y="91943"/>
                  </a:lnTo>
                  <a:lnTo>
                    <a:pt x="128978" y="89097"/>
                  </a:lnTo>
                  <a:lnTo>
                    <a:pt x="129468" y="87724"/>
                  </a:lnTo>
                  <a:lnTo>
                    <a:pt x="129910" y="86497"/>
                  </a:lnTo>
                  <a:lnTo>
                    <a:pt x="130450" y="85319"/>
                  </a:lnTo>
                  <a:lnTo>
                    <a:pt x="130989" y="84240"/>
                  </a:lnTo>
                  <a:lnTo>
                    <a:pt x="131529" y="83160"/>
                  </a:lnTo>
                  <a:lnTo>
                    <a:pt x="132069" y="82228"/>
                  </a:lnTo>
                  <a:lnTo>
                    <a:pt x="132657" y="81296"/>
                  </a:lnTo>
                  <a:lnTo>
                    <a:pt x="133246" y="80461"/>
                  </a:lnTo>
                  <a:lnTo>
                    <a:pt x="133835" y="79676"/>
                  </a:lnTo>
                  <a:lnTo>
                    <a:pt x="134423" y="78891"/>
                  </a:lnTo>
                  <a:lnTo>
                    <a:pt x="135061" y="78253"/>
                  </a:lnTo>
                  <a:lnTo>
                    <a:pt x="135797" y="77615"/>
                  </a:lnTo>
                  <a:lnTo>
                    <a:pt x="136435" y="77076"/>
                  </a:lnTo>
                  <a:lnTo>
                    <a:pt x="137121" y="76536"/>
                  </a:lnTo>
                  <a:lnTo>
                    <a:pt x="137906" y="76094"/>
                  </a:lnTo>
                  <a:lnTo>
                    <a:pt x="138691" y="75653"/>
                  </a:lnTo>
                  <a:lnTo>
                    <a:pt x="139427" y="75260"/>
                  </a:lnTo>
                  <a:lnTo>
                    <a:pt x="140261" y="74917"/>
                  </a:lnTo>
                  <a:lnTo>
                    <a:pt x="141144" y="74622"/>
                  </a:lnTo>
                  <a:lnTo>
                    <a:pt x="142027" y="74328"/>
                  </a:lnTo>
                  <a:lnTo>
                    <a:pt x="143008" y="74083"/>
                  </a:lnTo>
                  <a:lnTo>
                    <a:pt x="143940" y="73886"/>
                  </a:lnTo>
                  <a:lnTo>
                    <a:pt x="145952" y="73543"/>
                  </a:lnTo>
                  <a:lnTo>
                    <a:pt x="145952" y="62306"/>
                  </a:lnTo>
                  <a:lnTo>
                    <a:pt x="145952" y="61815"/>
                  </a:lnTo>
                  <a:lnTo>
                    <a:pt x="146050" y="61423"/>
                  </a:lnTo>
                  <a:lnTo>
                    <a:pt x="146148" y="60981"/>
                  </a:lnTo>
                  <a:lnTo>
                    <a:pt x="146295" y="60589"/>
                  </a:lnTo>
                  <a:lnTo>
                    <a:pt x="146491" y="60196"/>
                  </a:lnTo>
                  <a:lnTo>
                    <a:pt x="146737" y="59803"/>
                  </a:lnTo>
                  <a:lnTo>
                    <a:pt x="146933" y="59460"/>
                  </a:lnTo>
                  <a:lnTo>
                    <a:pt x="147227" y="59166"/>
                  </a:lnTo>
                  <a:lnTo>
                    <a:pt x="147620" y="58871"/>
                  </a:lnTo>
                  <a:lnTo>
                    <a:pt x="147914" y="58626"/>
                  </a:lnTo>
                  <a:lnTo>
                    <a:pt x="148306" y="58381"/>
                  </a:lnTo>
                  <a:lnTo>
                    <a:pt x="148650" y="58233"/>
                  </a:lnTo>
                  <a:lnTo>
                    <a:pt x="149091" y="58037"/>
                  </a:lnTo>
                  <a:lnTo>
                    <a:pt x="149533" y="57939"/>
                  </a:lnTo>
                  <a:lnTo>
                    <a:pt x="149974" y="57890"/>
                  </a:lnTo>
                  <a:close/>
                  <a:moveTo>
                    <a:pt x="124575" y="10793"/>
                  </a:moveTo>
                  <a:lnTo>
                    <a:pt x="122121" y="10842"/>
                  </a:lnTo>
                  <a:lnTo>
                    <a:pt x="119668" y="10891"/>
                  </a:lnTo>
                  <a:lnTo>
                    <a:pt x="117264" y="10989"/>
                  </a:lnTo>
                  <a:lnTo>
                    <a:pt x="114909" y="11185"/>
                  </a:lnTo>
                  <a:lnTo>
                    <a:pt x="112603" y="11382"/>
                  </a:lnTo>
                  <a:lnTo>
                    <a:pt x="110297" y="11578"/>
                  </a:lnTo>
                  <a:lnTo>
                    <a:pt x="108089" y="11872"/>
                  </a:lnTo>
                  <a:lnTo>
                    <a:pt x="105930" y="12216"/>
                  </a:lnTo>
                  <a:lnTo>
                    <a:pt x="103771" y="12559"/>
                  </a:lnTo>
                  <a:lnTo>
                    <a:pt x="101661" y="12952"/>
                  </a:lnTo>
                  <a:lnTo>
                    <a:pt x="99650" y="13393"/>
                  </a:lnTo>
                  <a:lnTo>
                    <a:pt x="97638" y="13835"/>
                  </a:lnTo>
                  <a:lnTo>
                    <a:pt x="95627" y="14325"/>
                  </a:lnTo>
                  <a:lnTo>
                    <a:pt x="93713" y="14865"/>
                  </a:lnTo>
                  <a:lnTo>
                    <a:pt x="91849" y="15405"/>
                  </a:lnTo>
                  <a:lnTo>
                    <a:pt x="89984" y="15895"/>
                  </a:lnTo>
                  <a:lnTo>
                    <a:pt x="88218" y="16484"/>
                  </a:lnTo>
                  <a:lnTo>
                    <a:pt x="86501" y="17171"/>
                  </a:lnTo>
                  <a:lnTo>
                    <a:pt x="83164" y="18446"/>
                  </a:lnTo>
                  <a:lnTo>
                    <a:pt x="79975" y="19820"/>
                  </a:lnTo>
                  <a:lnTo>
                    <a:pt x="76933" y="21243"/>
                  </a:lnTo>
                  <a:lnTo>
                    <a:pt x="74038" y="22714"/>
                  </a:lnTo>
                  <a:lnTo>
                    <a:pt x="71389" y="24235"/>
                  </a:lnTo>
                  <a:lnTo>
                    <a:pt x="68837" y="25805"/>
                  </a:lnTo>
                  <a:lnTo>
                    <a:pt x="66482" y="27375"/>
                  </a:lnTo>
                  <a:lnTo>
                    <a:pt x="64274" y="28896"/>
                  </a:lnTo>
                  <a:lnTo>
                    <a:pt x="62214" y="30466"/>
                  </a:lnTo>
                  <a:lnTo>
                    <a:pt x="60349" y="31987"/>
                  </a:lnTo>
                  <a:lnTo>
                    <a:pt x="58583" y="33507"/>
                  </a:lnTo>
                  <a:lnTo>
                    <a:pt x="57013" y="34930"/>
                  </a:lnTo>
                  <a:lnTo>
                    <a:pt x="55541" y="36353"/>
                  </a:lnTo>
                  <a:lnTo>
                    <a:pt x="54265" y="37727"/>
                  </a:lnTo>
                  <a:lnTo>
                    <a:pt x="53039" y="38953"/>
                  </a:lnTo>
                  <a:lnTo>
                    <a:pt x="52057" y="40081"/>
                  </a:lnTo>
                  <a:lnTo>
                    <a:pt x="51174" y="41161"/>
                  </a:lnTo>
                  <a:lnTo>
                    <a:pt x="49800" y="42927"/>
                  </a:lnTo>
                  <a:lnTo>
                    <a:pt x="48917" y="44104"/>
                  </a:lnTo>
                  <a:lnTo>
                    <a:pt x="48574" y="44693"/>
                  </a:lnTo>
                  <a:lnTo>
                    <a:pt x="48279" y="45233"/>
                  </a:lnTo>
                  <a:lnTo>
                    <a:pt x="47985" y="45821"/>
                  </a:lnTo>
                  <a:lnTo>
                    <a:pt x="47789" y="46410"/>
                  </a:lnTo>
                  <a:lnTo>
                    <a:pt x="47691" y="47048"/>
                  </a:lnTo>
                  <a:lnTo>
                    <a:pt x="47642" y="47637"/>
                  </a:lnTo>
                  <a:lnTo>
                    <a:pt x="47543" y="48323"/>
                  </a:lnTo>
                  <a:lnTo>
                    <a:pt x="47642" y="48912"/>
                  </a:lnTo>
                  <a:lnTo>
                    <a:pt x="47740" y="49501"/>
                  </a:lnTo>
                  <a:lnTo>
                    <a:pt x="47936" y="50089"/>
                  </a:lnTo>
                  <a:lnTo>
                    <a:pt x="48132" y="50678"/>
                  </a:lnTo>
                  <a:lnTo>
                    <a:pt x="48377" y="51267"/>
                  </a:lnTo>
                  <a:lnTo>
                    <a:pt x="48770" y="51806"/>
                  </a:lnTo>
                  <a:lnTo>
                    <a:pt x="49114" y="52248"/>
                  </a:lnTo>
                  <a:lnTo>
                    <a:pt x="49555" y="52739"/>
                  </a:lnTo>
                  <a:lnTo>
                    <a:pt x="50046" y="53131"/>
                  </a:lnTo>
                  <a:lnTo>
                    <a:pt x="50585" y="53524"/>
                  </a:lnTo>
                  <a:lnTo>
                    <a:pt x="51174" y="53867"/>
                  </a:lnTo>
                  <a:lnTo>
                    <a:pt x="51763" y="54112"/>
                  </a:lnTo>
                  <a:lnTo>
                    <a:pt x="52352" y="54259"/>
                  </a:lnTo>
                  <a:lnTo>
                    <a:pt x="52941" y="54407"/>
                  </a:lnTo>
                  <a:lnTo>
                    <a:pt x="53578" y="54505"/>
                  </a:lnTo>
                  <a:lnTo>
                    <a:pt x="54167" y="54505"/>
                  </a:lnTo>
                  <a:lnTo>
                    <a:pt x="54854" y="54456"/>
                  </a:lnTo>
                  <a:lnTo>
                    <a:pt x="55443" y="54358"/>
                  </a:lnTo>
                  <a:lnTo>
                    <a:pt x="56032" y="54161"/>
                  </a:lnTo>
                  <a:lnTo>
                    <a:pt x="56620" y="53965"/>
                  </a:lnTo>
                  <a:lnTo>
                    <a:pt x="57160" y="53671"/>
                  </a:lnTo>
                  <a:lnTo>
                    <a:pt x="57651" y="53327"/>
                  </a:lnTo>
                  <a:lnTo>
                    <a:pt x="58141" y="52984"/>
                  </a:lnTo>
                  <a:lnTo>
                    <a:pt x="58632" y="52542"/>
                  </a:lnTo>
                  <a:lnTo>
                    <a:pt x="59025" y="52052"/>
                  </a:lnTo>
                  <a:lnTo>
                    <a:pt x="59466" y="51512"/>
                  </a:lnTo>
                  <a:lnTo>
                    <a:pt x="59466" y="51561"/>
                  </a:lnTo>
                  <a:lnTo>
                    <a:pt x="59613" y="51218"/>
                  </a:lnTo>
                  <a:lnTo>
                    <a:pt x="60251" y="50384"/>
                  </a:lnTo>
                  <a:lnTo>
                    <a:pt x="61232" y="49206"/>
                  </a:lnTo>
                  <a:lnTo>
                    <a:pt x="62508" y="47735"/>
                  </a:lnTo>
                  <a:lnTo>
                    <a:pt x="64176" y="45919"/>
                  </a:lnTo>
                  <a:lnTo>
                    <a:pt x="65109" y="44938"/>
                  </a:lnTo>
                  <a:lnTo>
                    <a:pt x="66188" y="43908"/>
                  </a:lnTo>
                  <a:lnTo>
                    <a:pt x="67365" y="42878"/>
                  </a:lnTo>
                  <a:lnTo>
                    <a:pt x="68690" y="41798"/>
                  </a:lnTo>
                  <a:lnTo>
                    <a:pt x="70015" y="40670"/>
                  </a:lnTo>
                  <a:lnTo>
                    <a:pt x="71487" y="39542"/>
                  </a:lnTo>
                  <a:lnTo>
                    <a:pt x="73057" y="38413"/>
                  </a:lnTo>
                  <a:lnTo>
                    <a:pt x="74676" y="37334"/>
                  </a:lnTo>
                  <a:lnTo>
                    <a:pt x="76540" y="36108"/>
                  </a:lnTo>
                  <a:lnTo>
                    <a:pt x="78356" y="35028"/>
                  </a:lnTo>
                  <a:lnTo>
                    <a:pt x="80367" y="33900"/>
                  </a:lnTo>
                  <a:lnTo>
                    <a:pt x="82477" y="32821"/>
                  </a:lnTo>
                  <a:lnTo>
                    <a:pt x="84685" y="31741"/>
                  </a:lnTo>
                  <a:lnTo>
                    <a:pt x="87040" y="30711"/>
                  </a:lnTo>
                  <a:lnTo>
                    <a:pt x="89493" y="29730"/>
                  </a:lnTo>
                  <a:lnTo>
                    <a:pt x="92094" y="28798"/>
                  </a:lnTo>
                  <a:lnTo>
                    <a:pt x="94743" y="27915"/>
                  </a:lnTo>
                  <a:lnTo>
                    <a:pt x="97540" y="27081"/>
                  </a:lnTo>
                  <a:lnTo>
                    <a:pt x="100484" y="26296"/>
                  </a:lnTo>
                  <a:lnTo>
                    <a:pt x="103526" y="25658"/>
                  </a:lnTo>
                  <a:lnTo>
                    <a:pt x="106666" y="25069"/>
                  </a:lnTo>
                  <a:lnTo>
                    <a:pt x="110051" y="24628"/>
                  </a:lnTo>
                  <a:lnTo>
                    <a:pt x="113486" y="24186"/>
                  </a:lnTo>
                  <a:lnTo>
                    <a:pt x="117019" y="23892"/>
                  </a:lnTo>
                  <a:lnTo>
                    <a:pt x="120748" y="23696"/>
                  </a:lnTo>
                  <a:lnTo>
                    <a:pt x="124575" y="23647"/>
                  </a:lnTo>
                  <a:lnTo>
                    <a:pt x="299146" y="23647"/>
                  </a:lnTo>
                  <a:lnTo>
                    <a:pt x="302139" y="23941"/>
                  </a:lnTo>
                  <a:lnTo>
                    <a:pt x="304837" y="24284"/>
                  </a:lnTo>
                  <a:lnTo>
                    <a:pt x="308272" y="24775"/>
                  </a:lnTo>
                  <a:lnTo>
                    <a:pt x="312295" y="25511"/>
                  </a:lnTo>
                  <a:lnTo>
                    <a:pt x="316760" y="26394"/>
                  </a:lnTo>
                  <a:lnTo>
                    <a:pt x="319213" y="26835"/>
                  </a:lnTo>
                  <a:lnTo>
                    <a:pt x="321764" y="27424"/>
                  </a:lnTo>
                  <a:lnTo>
                    <a:pt x="324267" y="28111"/>
                  </a:lnTo>
                  <a:lnTo>
                    <a:pt x="326965" y="28798"/>
                  </a:lnTo>
                  <a:lnTo>
                    <a:pt x="329713" y="29583"/>
                  </a:lnTo>
                  <a:lnTo>
                    <a:pt x="332509" y="30417"/>
                  </a:lnTo>
                  <a:lnTo>
                    <a:pt x="335355" y="31349"/>
                  </a:lnTo>
                  <a:lnTo>
                    <a:pt x="338152" y="32330"/>
                  </a:lnTo>
                  <a:lnTo>
                    <a:pt x="340997" y="33409"/>
                  </a:lnTo>
                  <a:lnTo>
                    <a:pt x="343843" y="34587"/>
                  </a:lnTo>
                  <a:lnTo>
                    <a:pt x="346689" y="35813"/>
                  </a:lnTo>
                  <a:lnTo>
                    <a:pt x="349486" y="37138"/>
                  </a:lnTo>
                  <a:lnTo>
                    <a:pt x="352184" y="38560"/>
                  </a:lnTo>
                  <a:lnTo>
                    <a:pt x="354834" y="40032"/>
                  </a:lnTo>
                  <a:lnTo>
                    <a:pt x="357434" y="41553"/>
                  </a:lnTo>
                  <a:lnTo>
                    <a:pt x="359985" y="43221"/>
                  </a:lnTo>
                  <a:lnTo>
                    <a:pt x="362341" y="44987"/>
                  </a:lnTo>
                  <a:lnTo>
                    <a:pt x="363518" y="45870"/>
                  </a:lnTo>
                  <a:lnTo>
                    <a:pt x="364696" y="46852"/>
                  </a:lnTo>
                  <a:lnTo>
                    <a:pt x="365775" y="47784"/>
                  </a:lnTo>
                  <a:lnTo>
                    <a:pt x="366903" y="48716"/>
                  </a:lnTo>
                  <a:lnTo>
                    <a:pt x="367934" y="49746"/>
                  </a:lnTo>
                  <a:lnTo>
                    <a:pt x="368915" y="50727"/>
                  </a:lnTo>
                  <a:lnTo>
                    <a:pt x="369406" y="51218"/>
                  </a:lnTo>
                  <a:lnTo>
                    <a:pt x="369896" y="51561"/>
                  </a:lnTo>
                  <a:lnTo>
                    <a:pt x="370436" y="51905"/>
                  </a:lnTo>
                  <a:lnTo>
                    <a:pt x="371025" y="52199"/>
                  </a:lnTo>
                  <a:lnTo>
                    <a:pt x="371614" y="52395"/>
                  </a:lnTo>
                  <a:lnTo>
                    <a:pt x="372202" y="52542"/>
                  </a:lnTo>
                  <a:lnTo>
                    <a:pt x="372840" y="52690"/>
                  </a:lnTo>
                  <a:lnTo>
                    <a:pt x="373478" y="52690"/>
                  </a:lnTo>
                  <a:lnTo>
                    <a:pt x="374067" y="52690"/>
                  </a:lnTo>
                  <a:lnTo>
                    <a:pt x="374705" y="52542"/>
                  </a:lnTo>
                  <a:lnTo>
                    <a:pt x="375294" y="52444"/>
                  </a:lnTo>
                  <a:lnTo>
                    <a:pt x="375882" y="52248"/>
                  </a:lnTo>
                  <a:lnTo>
                    <a:pt x="376422" y="51954"/>
                  </a:lnTo>
                  <a:lnTo>
                    <a:pt x="377011" y="51659"/>
                  </a:lnTo>
                  <a:lnTo>
                    <a:pt x="377551" y="51316"/>
                  </a:lnTo>
                  <a:lnTo>
                    <a:pt x="378041" y="50825"/>
                  </a:lnTo>
                  <a:lnTo>
                    <a:pt x="378483" y="50384"/>
                  </a:lnTo>
                  <a:lnTo>
                    <a:pt x="378826" y="49893"/>
                  </a:lnTo>
                  <a:lnTo>
                    <a:pt x="379219" y="49305"/>
                  </a:lnTo>
                  <a:lnTo>
                    <a:pt x="379415" y="48765"/>
                  </a:lnTo>
                  <a:lnTo>
                    <a:pt x="379660" y="48176"/>
                  </a:lnTo>
                  <a:lnTo>
                    <a:pt x="379856" y="47587"/>
                  </a:lnTo>
                  <a:lnTo>
                    <a:pt x="379906" y="46950"/>
                  </a:lnTo>
                  <a:lnTo>
                    <a:pt x="379955" y="46361"/>
                  </a:lnTo>
                  <a:lnTo>
                    <a:pt x="379955" y="45772"/>
                  </a:lnTo>
                  <a:lnTo>
                    <a:pt x="379856" y="45134"/>
                  </a:lnTo>
                  <a:lnTo>
                    <a:pt x="379758" y="44546"/>
                  </a:lnTo>
                  <a:lnTo>
                    <a:pt x="379562" y="43908"/>
                  </a:lnTo>
                  <a:lnTo>
                    <a:pt x="379268" y="43319"/>
                  </a:lnTo>
                  <a:lnTo>
                    <a:pt x="378973" y="42829"/>
                  </a:lnTo>
                  <a:lnTo>
                    <a:pt x="378532" y="42289"/>
                  </a:lnTo>
                  <a:lnTo>
                    <a:pt x="378139" y="41798"/>
                  </a:lnTo>
                  <a:lnTo>
                    <a:pt x="376815" y="40523"/>
                  </a:lnTo>
                  <a:lnTo>
                    <a:pt x="375490" y="39198"/>
                  </a:lnTo>
                  <a:lnTo>
                    <a:pt x="374116" y="37972"/>
                  </a:lnTo>
                  <a:lnTo>
                    <a:pt x="372693" y="36794"/>
                  </a:lnTo>
                  <a:lnTo>
                    <a:pt x="371270" y="35666"/>
                  </a:lnTo>
                  <a:lnTo>
                    <a:pt x="369847" y="34538"/>
                  </a:lnTo>
                  <a:lnTo>
                    <a:pt x="368375" y="33458"/>
                  </a:lnTo>
                  <a:lnTo>
                    <a:pt x="366855" y="32428"/>
                  </a:lnTo>
                  <a:lnTo>
                    <a:pt x="365383" y="31398"/>
                  </a:lnTo>
                  <a:lnTo>
                    <a:pt x="363813" y="30417"/>
                  </a:lnTo>
                  <a:lnTo>
                    <a:pt x="360721" y="28552"/>
                  </a:lnTo>
                  <a:lnTo>
                    <a:pt x="357483" y="26835"/>
                  </a:lnTo>
                  <a:lnTo>
                    <a:pt x="354294" y="25266"/>
                  </a:lnTo>
                  <a:lnTo>
                    <a:pt x="351890" y="24088"/>
                  </a:lnTo>
                  <a:lnTo>
                    <a:pt x="349486" y="23009"/>
                  </a:lnTo>
                  <a:lnTo>
                    <a:pt x="347032" y="22028"/>
                  </a:lnTo>
                  <a:lnTo>
                    <a:pt x="344628" y="21046"/>
                  </a:lnTo>
                  <a:lnTo>
                    <a:pt x="342126" y="20163"/>
                  </a:lnTo>
                  <a:lnTo>
                    <a:pt x="339771" y="19280"/>
                  </a:lnTo>
                  <a:lnTo>
                    <a:pt x="337367" y="18495"/>
                  </a:lnTo>
                  <a:lnTo>
                    <a:pt x="334963" y="17759"/>
                  </a:lnTo>
                  <a:lnTo>
                    <a:pt x="332657" y="17024"/>
                  </a:lnTo>
                  <a:lnTo>
                    <a:pt x="330351" y="16386"/>
                  </a:lnTo>
                  <a:lnTo>
                    <a:pt x="325886" y="15257"/>
                  </a:lnTo>
                  <a:lnTo>
                    <a:pt x="321617" y="14276"/>
                  </a:lnTo>
                  <a:lnTo>
                    <a:pt x="317594" y="13442"/>
                  </a:lnTo>
                  <a:lnTo>
                    <a:pt x="313865" y="12706"/>
                  </a:lnTo>
                  <a:lnTo>
                    <a:pt x="310430" y="12118"/>
                  </a:lnTo>
                  <a:lnTo>
                    <a:pt x="307487" y="11676"/>
                  </a:lnTo>
                  <a:lnTo>
                    <a:pt x="304886" y="11382"/>
                  </a:lnTo>
                  <a:lnTo>
                    <a:pt x="301206" y="10940"/>
                  </a:lnTo>
                  <a:lnTo>
                    <a:pt x="299882" y="10842"/>
                  </a:lnTo>
                  <a:lnTo>
                    <a:pt x="299391" y="10793"/>
                  </a:lnTo>
                  <a:lnTo>
                    <a:pt x="124575" y="10793"/>
                  </a:lnTo>
                  <a:close/>
                  <a:moveTo>
                    <a:pt x="135172" y="0"/>
                  </a:moveTo>
                  <a:lnTo>
                    <a:pt x="290216" y="0"/>
                  </a:lnTo>
                  <a:lnTo>
                    <a:pt x="293945" y="98"/>
                  </a:lnTo>
                  <a:lnTo>
                    <a:pt x="297674" y="196"/>
                  </a:lnTo>
                  <a:lnTo>
                    <a:pt x="301304" y="294"/>
                  </a:lnTo>
                  <a:lnTo>
                    <a:pt x="304886" y="491"/>
                  </a:lnTo>
                  <a:lnTo>
                    <a:pt x="308419" y="785"/>
                  </a:lnTo>
                  <a:lnTo>
                    <a:pt x="311951" y="1079"/>
                  </a:lnTo>
                  <a:lnTo>
                    <a:pt x="315337" y="1374"/>
                  </a:lnTo>
                  <a:lnTo>
                    <a:pt x="318771" y="1766"/>
                  </a:lnTo>
                  <a:lnTo>
                    <a:pt x="322108" y="2208"/>
                  </a:lnTo>
                  <a:lnTo>
                    <a:pt x="325395" y="2747"/>
                  </a:lnTo>
                  <a:lnTo>
                    <a:pt x="328682" y="3287"/>
                  </a:lnTo>
                  <a:lnTo>
                    <a:pt x="331872" y="3876"/>
                  </a:lnTo>
                  <a:lnTo>
                    <a:pt x="334963" y="4464"/>
                  </a:lnTo>
                  <a:lnTo>
                    <a:pt x="338054" y="5102"/>
                  </a:lnTo>
                  <a:lnTo>
                    <a:pt x="341096" y="5789"/>
                  </a:lnTo>
                  <a:lnTo>
                    <a:pt x="344089" y="6574"/>
                  </a:lnTo>
                  <a:lnTo>
                    <a:pt x="346983" y="7408"/>
                  </a:lnTo>
                  <a:lnTo>
                    <a:pt x="349878" y="8242"/>
                  </a:lnTo>
                  <a:lnTo>
                    <a:pt x="352724" y="9125"/>
                  </a:lnTo>
                  <a:lnTo>
                    <a:pt x="355521" y="10008"/>
                  </a:lnTo>
                  <a:lnTo>
                    <a:pt x="358219" y="10989"/>
                  </a:lnTo>
                  <a:lnTo>
                    <a:pt x="360869" y="11970"/>
                  </a:lnTo>
                  <a:lnTo>
                    <a:pt x="363469" y="13001"/>
                  </a:lnTo>
                  <a:lnTo>
                    <a:pt x="366069" y="14080"/>
                  </a:lnTo>
                  <a:lnTo>
                    <a:pt x="368572" y="15208"/>
                  </a:lnTo>
                  <a:lnTo>
                    <a:pt x="371025" y="16337"/>
                  </a:lnTo>
                  <a:lnTo>
                    <a:pt x="373429" y="17563"/>
                  </a:lnTo>
                  <a:lnTo>
                    <a:pt x="375784" y="18741"/>
                  </a:lnTo>
                  <a:lnTo>
                    <a:pt x="378090" y="20016"/>
                  </a:lnTo>
                  <a:lnTo>
                    <a:pt x="380347" y="21292"/>
                  </a:lnTo>
                  <a:lnTo>
                    <a:pt x="382506" y="22665"/>
                  </a:lnTo>
                  <a:lnTo>
                    <a:pt x="384665" y="23990"/>
                  </a:lnTo>
                  <a:lnTo>
                    <a:pt x="386726" y="25364"/>
                  </a:lnTo>
                  <a:lnTo>
                    <a:pt x="388737" y="26786"/>
                  </a:lnTo>
                  <a:lnTo>
                    <a:pt x="390651" y="28258"/>
                  </a:lnTo>
                  <a:lnTo>
                    <a:pt x="392613" y="29730"/>
                  </a:lnTo>
                  <a:lnTo>
                    <a:pt x="394478" y="31202"/>
                  </a:lnTo>
                  <a:lnTo>
                    <a:pt x="396244" y="32772"/>
                  </a:lnTo>
                  <a:lnTo>
                    <a:pt x="398010" y="34341"/>
                  </a:lnTo>
                  <a:lnTo>
                    <a:pt x="399679" y="35960"/>
                  </a:lnTo>
                  <a:lnTo>
                    <a:pt x="401298" y="37530"/>
                  </a:lnTo>
                  <a:lnTo>
                    <a:pt x="402917" y="39198"/>
                  </a:lnTo>
                  <a:lnTo>
                    <a:pt x="404389" y="40866"/>
                  </a:lnTo>
                  <a:lnTo>
                    <a:pt x="405861" y="42583"/>
                  </a:lnTo>
                  <a:lnTo>
                    <a:pt x="407284" y="44300"/>
                  </a:lnTo>
                  <a:lnTo>
                    <a:pt x="408657" y="46067"/>
                  </a:lnTo>
                  <a:lnTo>
                    <a:pt x="409884" y="47833"/>
                  </a:lnTo>
                  <a:lnTo>
                    <a:pt x="411111" y="49599"/>
                  </a:lnTo>
                  <a:lnTo>
                    <a:pt x="412288" y="51414"/>
                  </a:lnTo>
                  <a:lnTo>
                    <a:pt x="413417" y="53278"/>
                  </a:lnTo>
                  <a:lnTo>
                    <a:pt x="414496" y="55142"/>
                  </a:lnTo>
                  <a:lnTo>
                    <a:pt x="415477" y="57007"/>
                  </a:lnTo>
                  <a:lnTo>
                    <a:pt x="416410" y="58920"/>
                  </a:lnTo>
                  <a:lnTo>
                    <a:pt x="417293" y="60833"/>
                  </a:lnTo>
                  <a:lnTo>
                    <a:pt x="418078" y="62796"/>
                  </a:lnTo>
                  <a:lnTo>
                    <a:pt x="418863" y="64758"/>
                  </a:lnTo>
                  <a:lnTo>
                    <a:pt x="419599" y="66671"/>
                  </a:lnTo>
                  <a:lnTo>
                    <a:pt x="420237" y="68683"/>
                  </a:lnTo>
                  <a:lnTo>
                    <a:pt x="420825" y="70694"/>
                  </a:lnTo>
                  <a:lnTo>
                    <a:pt x="421365" y="72706"/>
                  </a:lnTo>
                  <a:lnTo>
                    <a:pt x="421757" y="74717"/>
                  </a:lnTo>
                  <a:lnTo>
                    <a:pt x="422199" y="76778"/>
                  </a:lnTo>
                  <a:lnTo>
                    <a:pt x="422543" y="78789"/>
                  </a:lnTo>
                  <a:lnTo>
                    <a:pt x="422837" y="80849"/>
                  </a:lnTo>
                  <a:lnTo>
                    <a:pt x="422935" y="82419"/>
                  </a:lnTo>
                  <a:lnTo>
                    <a:pt x="317545" y="81978"/>
                  </a:lnTo>
                  <a:lnTo>
                    <a:pt x="317250" y="79868"/>
                  </a:lnTo>
                  <a:lnTo>
                    <a:pt x="317005" y="78102"/>
                  </a:lnTo>
                  <a:lnTo>
                    <a:pt x="316613" y="76336"/>
                  </a:lnTo>
                  <a:lnTo>
                    <a:pt x="316171" y="74619"/>
                  </a:lnTo>
                  <a:lnTo>
                    <a:pt x="315582" y="72902"/>
                  </a:lnTo>
                  <a:lnTo>
                    <a:pt x="314944" y="71185"/>
                  </a:lnTo>
                  <a:lnTo>
                    <a:pt x="314257" y="69566"/>
                  </a:lnTo>
                  <a:lnTo>
                    <a:pt x="313423" y="67947"/>
                  </a:lnTo>
                  <a:lnTo>
                    <a:pt x="312442" y="66377"/>
                  </a:lnTo>
                  <a:lnTo>
                    <a:pt x="311819" y="64856"/>
                  </a:lnTo>
                  <a:lnTo>
                    <a:pt x="310430" y="63335"/>
                  </a:lnTo>
                  <a:lnTo>
                    <a:pt x="309253" y="61913"/>
                  </a:lnTo>
                  <a:lnTo>
                    <a:pt x="308075" y="60490"/>
                  </a:lnTo>
                  <a:lnTo>
                    <a:pt x="306800" y="59116"/>
                  </a:lnTo>
                  <a:lnTo>
                    <a:pt x="305475" y="57743"/>
                  </a:lnTo>
                  <a:lnTo>
                    <a:pt x="304052" y="56516"/>
                  </a:lnTo>
                  <a:lnTo>
                    <a:pt x="302580" y="55339"/>
                  </a:lnTo>
                  <a:lnTo>
                    <a:pt x="301059" y="54161"/>
                  </a:lnTo>
                  <a:lnTo>
                    <a:pt x="299440" y="53033"/>
                  </a:lnTo>
                  <a:lnTo>
                    <a:pt x="297870" y="52052"/>
                  </a:lnTo>
                  <a:lnTo>
                    <a:pt x="296153" y="51071"/>
                  </a:lnTo>
                  <a:lnTo>
                    <a:pt x="294435" y="50138"/>
                  </a:lnTo>
                  <a:lnTo>
                    <a:pt x="292669" y="49305"/>
                  </a:lnTo>
                  <a:lnTo>
                    <a:pt x="290903" y="48520"/>
                  </a:lnTo>
                  <a:lnTo>
                    <a:pt x="288989" y="47833"/>
                  </a:lnTo>
                  <a:lnTo>
                    <a:pt x="287076" y="47195"/>
                  </a:lnTo>
                  <a:lnTo>
                    <a:pt x="285211" y="46655"/>
                  </a:lnTo>
                  <a:lnTo>
                    <a:pt x="283249" y="46165"/>
                  </a:lnTo>
                  <a:lnTo>
                    <a:pt x="281286" y="45772"/>
                  </a:lnTo>
                  <a:lnTo>
                    <a:pt x="279274" y="45478"/>
                  </a:lnTo>
                  <a:lnTo>
                    <a:pt x="277263" y="45233"/>
                  </a:lnTo>
                  <a:lnTo>
                    <a:pt x="275300" y="45134"/>
                  </a:lnTo>
                  <a:lnTo>
                    <a:pt x="273191" y="45036"/>
                  </a:lnTo>
                  <a:lnTo>
                    <a:pt x="152198" y="45036"/>
                  </a:lnTo>
                  <a:lnTo>
                    <a:pt x="150186" y="45134"/>
                  </a:lnTo>
                  <a:lnTo>
                    <a:pt x="148125" y="45233"/>
                  </a:lnTo>
                  <a:lnTo>
                    <a:pt x="146114" y="45478"/>
                  </a:lnTo>
                  <a:lnTo>
                    <a:pt x="144151" y="45772"/>
                  </a:lnTo>
                  <a:lnTo>
                    <a:pt x="142140" y="46165"/>
                  </a:lnTo>
                  <a:lnTo>
                    <a:pt x="140177" y="46655"/>
                  </a:lnTo>
                  <a:lnTo>
                    <a:pt x="138313" y="47195"/>
                  </a:lnTo>
                  <a:lnTo>
                    <a:pt x="136399" y="47833"/>
                  </a:lnTo>
                  <a:lnTo>
                    <a:pt x="134584" y="48520"/>
                  </a:lnTo>
                  <a:lnTo>
                    <a:pt x="132768" y="49305"/>
                  </a:lnTo>
                  <a:lnTo>
                    <a:pt x="130953" y="50138"/>
                  </a:lnTo>
                  <a:lnTo>
                    <a:pt x="129285" y="51071"/>
                  </a:lnTo>
                  <a:lnTo>
                    <a:pt x="127617" y="52052"/>
                  </a:lnTo>
                  <a:lnTo>
                    <a:pt x="125948" y="53033"/>
                  </a:lnTo>
                  <a:lnTo>
                    <a:pt x="124378" y="54161"/>
                  </a:lnTo>
                  <a:lnTo>
                    <a:pt x="122857" y="55339"/>
                  </a:lnTo>
                  <a:lnTo>
                    <a:pt x="121385" y="56516"/>
                  </a:lnTo>
                  <a:lnTo>
                    <a:pt x="119963" y="57743"/>
                  </a:lnTo>
                  <a:lnTo>
                    <a:pt x="118638" y="59116"/>
                  </a:lnTo>
                  <a:lnTo>
                    <a:pt x="117362" y="60490"/>
                  </a:lnTo>
                  <a:lnTo>
                    <a:pt x="116135" y="61913"/>
                  </a:lnTo>
                  <a:lnTo>
                    <a:pt x="115007" y="63335"/>
                  </a:lnTo>
                  <a:lnTo>
                    <a:pt x="113928" y="64856"/>
                  </a:lnTo>
                  <a:lnTo>
                    <a:pt x="112946" y="66377"/>
                  </a:lnTo>
                  <a:lnTo>
                    <a:pt x="112063" y="67947"/>
                  </a:lnTo>
                  <a:lnTo>
                    <a:pt x="111229" y="69566"/>
                  </a:lnTo>
                  <a:lnTo>
                    <a:pt x="110444" y="71185"/>
                  </a:lnTo>
                  <a:lnTo>
                    <a:pt x="109806" y="72902"/>
                  </a:lnTo>
                  <a:lnTo>
                    <a:pt x="109266" y="74619"/>
                  </a:lnTo>
                  <a:lnTo>
                    <a:pt x="108825" y="76336"/>
                  </a:lnTo>
                  <a:lnTo>
                    <a:pt x="108432" y="78102"/>
                  </a:lnTo>
                  <a:lnTo>
                    <a:pt x="108138" y="79868"/>
                  </a:lnTo>
                  <a:lnTo>
                    <a:pt x="107942" y="81978"/>
                  </a:lnTo>
                  <a:lnTo>
                    <a:pt x="2453" y="82419"/>
                  </a:lnTo>
                  <a:lnTo>
                    <a:pt x="2649" y="80849"/>
                  </a:lnTo>
                  <a:lnTo>
                    <a:pt x="2895" y="78789"/>
                  </a:lnTo>
                  <a:lnTo>
                    <a:pt x="3238" y="76778"/>
                  </a:lnTo>
                  <a:lnTo>
                    <a:pt x="3631" y="74717"/>
                  </a:lnTo>
                  <a:lnTo>
                    <a:pt x="4121" y="72706"/>
                  </a:lnTo>
                  <a:lnTo>
                    <a:pt x="4661" y="70694"/>
                  </a:lnTo>
                  <a:lnTo>
                    <a:pt x="5250" y="68683"/>
                  </a:lnTo>
                  <a:lnTo>
                    <a:pt x="5839" y="66671"/>
                  </a:lnTo>
                  <a:lnTo>
                    <a:pt x="6526" y="64758"/>
                  </a:lnTo>
                  <a:lnTo>
                    <a:pt x="7311" y="62796"/>
                  </a:lnTo>
                  <a:lnTo>
                    <a:pt x="8145" y="60833"/>
                  </a:lnTo>
                  <a:lnTo>
                    <a:pt x="9028" y="58920"/>
                  </a:lnTo>
                  <a:lnTo>
                    <a:pt x="9960" y="57007"/>
                  </a:lnTo>
                  <a:lnTo>
                    <a:pt x="10990" y="55142"/>
                  </a:lnTo>
                  <a:lnTo>
                    <a:pt x="12021" y="53278"/>
                  </a:lnTo>
                  <a:lnTo>
                    <a:pt x="13100" y="51414"/>
                  </a:lnTo>
                  <a:lnTo>
                    <a:pt x="14278" y="49599"/>
                  </a:lnTo>
                  <a:lnTo>
                    <a:pt x="15504" y="47833"/>
                  </a:lnTo>
                  <a:lnTo>
                    <a:pt x="16829" y="46067"/>
                  </a:lnTo>
                  <a:lnTo>
                    <a:pt x="18203" y="44300"/>
                  </a:lnTo>
                  <a:lnTo>
                    <a:pt x="19528" y="42583"/>
                  </a:lnTo>
                  <a:lnTo>
                    <a:pt x="21000" y="40866"/>
                  </a:lnTo>
                  <a:lnTo>
                    <a:pt x="22570" y="39198"/>
                  </a:lnTo>
                  <a:lnTo>
                    <a:pt x="24091" y="37530"/>
                  </a:lnTo>
                  <a:lnTo>
                    <a:pt x="25759" y="35960"/>
                  </a:lnTo>
                  <a:lnTo>
                    <a:pt x="27427" y="34341"/>
                  </a:lnTo>
                  <a:lnTo>
                    <a:pt x="29193" y="32772"/>
                  </a:lnTo>
                  <a:lnTo>
                    <a:pt x="30960" y="31202"/>
                  </a:lnTo>
                  <a:lnTo>
                    <a:pt x="32824" y="29730"/>
                  </a:lnTo>
                  <a:lnTo>
                    <a:pt x="34738" y="28258"/>
                  </a:lnTo>
                  <a:lnTo>
                    <a:pt x="36700" y="26786"/>
                  </a:lnTo>
                  <a:lnTo>
                    <a:pt x="38712" y="25364"/>
                  </a:lnTo>
                  <a:lnTo>
                    <a:pt x="40822" y="23990"/>
                  </a:lnTo>
                  <a:lnTo>
                    <a:pt x="42931" y="22665"/>
                  </a:lnTo>
                  <a:lnTo>
                    <a:pt x="45139" y="21292"/>
                  </a:lnTo>
                  <a:lnTo>
                    <a:pt x="47396" y="20016"/>
                  </a:lnTo>
                  <a:lnTo>
                    <a:pt x="49653" y="18741"/>
                  </a:lnTo>
                  <a:lnTo>
                    <a:pt x="52008" y="17563"/>
                  </a:lnTo>
                  <a:lnTo>
                    <a:pt x="54412" y="16337"/>
                  </a:lnTo>
                  <a:lnTo>
                    <a:pt x="56866" y="15208"/>
                  </a:lnTo>
                  <a:lnTo>
                    <a:pt x="59368" y="14080"/>
                  </a:lnTo>
                  <a:lnTo>
                    <a:pt x="61919" y="13001"/>
                  </a:lnTo>
                  <a:lnTo>
                    <a:pt x="64520" y="11970"/>
                  </a:lnTo>
                  <a:lnTo>
                    <a:pt x="67169" y="10989"/>
                  </a:lnTo>
                  <a:lnTo>
                    <a:pt x="69966" y="10008"/>
                  </a:lnTo>
                  <a:lnTo>
                    <a:pt x="72664" y="9125"/>
                  </a:lnTo>
                  <a:lnTo>
                    <a:pt x="75510" y="8242"/>
                  </a:lnTo>
                  <a:lnTo>
                    <a:pt x="78405" y="7408"/>
                  </a:lnTo>
                  <a:lnTo>
                    <a:pt x="81398" y="6574"/>
                  </a:lnTo>
                  <a:lnTo>
                    <a:pt x="84342" y="5789"/>
                  </a:lnTo>
                  <a:lnTo>
                    <a:pt x="87335" y="5102"/>
                  </a:lnTo>
                  <a:lnTo>
                    <a:pt x="90475" y="4464"/>
                  </a:lnTo>
                  <a:lnTo>
                    <a:pt x="93615" y="3876"/>
                  </a:lnTo>
                  <a:lnTo>
                    <a:pt x="96804" y="3287"/>
                  </a:lnTo>
                  <a:lnTo>
                    <a:pt x="99993" y="2747"/>
                  </a:lnTo>
                  <a:lnTo>
                    <a:pt x="103330" y="2208"/>
                  </a:lnTo>
                  <a:lnTo>
                    <a:pt x="106666" y="1766"/>
                  </a:lnTo>
                  <a:lnTo>
                    <a:pt x="110051" y="1374"/>
                  </a:lnTo>
                  <a:lnTo>
                    <a:pt x="113486" y="1079"/>
                  </a:lnTo>
                  <a:lnTo>
                    <a:pt x="116970" y="785"/>
                  </a:lnTo>
                  <a:lnTo>
                    <a:pt x="120502" y="491"/>
                  </a:lnTo>
                  <a:lnTo>
                    <a:pt x="124133" y="294"/>
                  </a:lnTo>
                  <a:lnTo>
                    <a:pt x="127764" y="196"/>
                  </a:lnTo>
                  <a:lnTo>
                    <a:pt x="131444" y="98"/>
                  </a:lnTo>
                  <a:lnTo>
                    <a:pt x="135172" y="0"/>
                  </a:lnTo>
                  <a:close/>
                </a:path>
              </a:pathLst>
            </a:custGeom>
            <a:solidFill>
              <a:schemeClr val="accent2">
                <a:alpha val="100000"/>
              </a:schemeClr>
            </a:solidFill>
            <a:ln>
              <a:noFill/>
            </a:ln>
          </p:spPr>
          <p:txBody>
            <a:bodyPr anchor="ctr"/>
            <a:p>
              <a:pPr algn="ctr">
                <a:lnSpc>
                  <a:spcPct val="130000"/>
                </a:lnSpc>
              </a:pPr>
              <a:endParaRPr lang="zh-CN" sz="2398">
                <a:solidFill>
                  <a:srgbClr val="FFFFFF"/>
                </a:solidFill>
                <a:latin typeface="微软雅黑"/>
                <a:ea typeface="微软雅黑"/>
              </a:endParaRPr>
            </a:p>
          </p:txBody>
        </p:sp>
        <p:sp>
          <p:nvSpPr>
            <p:cNvPr id="16" name="KSO_Shape"/>
            <p:cNvSpPr/>
            <p:nvPr/>
          </p:nvSpPr>
          <p:spPr>
            <a:xfrm rot="0" flipH="false" flipV="false">
              <a:off x="3207863" y="3718923"/>
              <a:ext cx="420876" cy="507079"/>
            </a:xfrm>
            <a:custGeom>
              <a:rect l="l" t="t" r="r" b="b"/>
              <a:pathLst>
                <a:path w="352869" h="425143">
                  <a:moveTo>
                    <a:pt x="64732" y="145704"/>
                  </a:moveTo>
                  <a:lnTo>
                    <a:pt x="290616" y="145704"/>
                  </a:lnTo>
                  <a:lnTo>
                    <a:pt x="288608" y="307218"/>
                  </a:lnTo>
                  <a:cubicBezTo>
                    <a:pt x="288608" y="324794"/>
                    <a:pt x="274353" y="339043"/>
                    <a:pt x="256769" y="339043"/>
                  </a:cubicBezTo>
                  <a:lnTo>
                    <a:pt x="244245" y="339043"/>
                  </a:lnTo>
                  <a:lnTo>
                    <a:pt x="244245" y="399914"/>
                  </a:lnTo>
                  <a:cubicBezTo>
                    <a:pt x="244245" y="413847"/>
                    <a:pt x="232944" y="425143"/>
                    <a:pt x="219004" y="425143"/>
                  </a:cubicBezTo>
                  <a:cubicBezTo>
                    <a:pt x="205064" y="425143"/>
                    <a:pt x="193764" y="413847"/>
                    <a:pt x="193764" y="399914"/>
                  </a:cubicBezTo>
                  <a:lnTo>
                    <a:pt x="193764" y="339043"/>
                  </a:lnTo>
                  <a:lnTo>
                    <a:pt x="161419" y="339043"/>
                  </a:lnTo>
                  <a:lnTo>
                    <a:pt x="161419" y="399913"/>
                  </a:lnTo>
                  <a:cubicBezTo>
                    <a:pt x="161419" y="413847"/>
                    <a:pt x="150119" y="425143"/>
                    <a:pt x="136179" y="425143"/>
                  </a:cubicBezTo>
                  <a:cubicBezTo>
                    <a:pt x="122238" y="425143"/>
                    <a:pt x="110938" y="413847"/>
                    <a:pt x="110938" y="399913"/>
                  </a:cubicBezTo>
                  <a:lnTo>
                    <a:pt x="110938" y="339043"/>
                  </a:lnTo>
                  <a:lnTo>
                    <a:pt x="96572" y="339043"/>
                  </a:lnTo>
                  <a:cubicBezTo>
                    <a:pt x="78987" y="339043"/>
                    <a:pt x="64732" y="324794"/>
                    <a:pt x="64732" y="307218"/>
                  </a:cubicBezTo>
                  <a:lnTo>
                    <a:pt x="64732" y="243570"/>
                  </a:lnTo>
                  <a:lnTo>
                    <a:pt x="64732" y="179921"/>
                  </a:lnTo>
                  <a:close/>
                  <a:moveTo>
                    <a:pt x="327628" y="144084"/>
                  </a:moveTo>
                  <a:cubicBezTo>
                    <a:pt x="341568" y="144084"/>
                    <a:pt x="352869" y="155379"/>
                    <a:pt x="352869" y="169313"/>
                  </a:cubicBezTo>
                  <a:lnTo>
                    <a:pt x="352869" y="273683"/>
                  </a:lnTo>
                  <a:cubicBezTo>
                    <a:pt x="352869" y="287617"/>
                    <a:pt x="341568" y="298913"/>
                    <a:pt x="327628" y="298913"/>
                  </a:cubicBezTo>
                  <a:cubicBezTo>
                    <a:pt x="313688" y="298913"/>
                    <a:pt x="302388" y="287617"/>
                    <a:pt x="302388" y="273683"/>
                  </a:cubicBezTo>
                  <a:lnTo>
                    <a:pt x="302388" y="169313"/>
                  </a:lnTo>
                  <a:cubicBezTo>
                    <a:pt x="302388" y="155379"/>
                    <a:pt x="313688" y="144084"/>
                    <a:pt x="327628" y="144084"/>
                  </a:cubicBezTo>
                  <a:close/>
                  <a:moveTo>
                    <a:pt x="25241" y="144083"/>
                  </a:moveTo>
                  <a:cubicBezTo>
                    <a:pt x="39181" y="144083"/>
                    <a:pt x="50481" y="155379"/>
                    <a:pt x="50481" y="169313"/>
                  </a:cubicBezTo>
                  <a:lnTo>
                    <a:pt x="50481" y="273683"/>
                  </a:lnTo>
                  <a:cubicBezTo>
                    <a:pt x="50481" y="287617"/>
                    <a:pt x="39181" y="298912"/>
                    <a:pt x="25241" y="298912"/>
                  </a:cubicBezTo>
                  <a:cubicBezTo>
                    <a:pt x="11301" y="298912"/>
                    <a:pt x="0" y="287617"/>
                    <a:pt x="0" y="273683"/>
                  </a:cubicBezTo>
                  <a:lnTo>
                    <a:pt x="0" y="169313"/>
                  </a:lnTo>
                  <a:cubicBezTo>
                    <a:pt x="0" y="155379"/>
                    <a:pt x="11301" y="144083"/>
                    <a:pt x="25241" y="144083"/>
                  </a:cubicBezTo>
                  <a:close/>
                  <a:moveTo>
                    <a:pt x="223041" y="80303"/>
                  </a:moveTo>
                  <a:cubicBezTo>
                    <a:pt x="216678" y="80303"/>
                    <a:pt x="211519" y="85459"/>
                    <a:pt x="211519" y="91820"/>
                  </a:cubicBezTo>
                  <a:cubicBezTo>
                    <a:pt x="211519" y="98181"/>
                    <a:pt x="216678" y="103337"/>
                    <a:pt x="223041" y="103337"/>
                  </a:cubicBezTo>
                  <a:cubicBezTo>
                    <a:pt x="229405" y="103337"/>
                    <a:pt x="234564" y="98181"/>
                    <a:pt x="234564" y="91820"/>
                  </a:cubicBezTo>
                  <a:cubicBezTo>
                    <a:pt x="234564" y="85459"/>
                    <a:pt x="229405" y="80303"/>
                    <a:pt x="223041" y="80303"/>
                  </a:cubicBezTo>
                  <a:close/>
                  <a:moveTo>
                    <a:pt x="130763" y="80303"/>
                  </a:moveTo>
                  <a:cubicBezTo>
                    <a:pt x="124400" y="80303"/>
                    <a:pt x="119241" y="85459"/>
                    <a:pt x="119241" y="91820"/>
                  </a:cubicBezTo>
                  <a:cubicBezTo>
                    <a:pt x="119241" y="98181"/>
                    <a:pt x="124400" y="103337"/>
                    <a:pt x="130763" y="103337"/>
                  </a:cubicBezTo>
                  <a:cubicBezTo>
                    <a:pt x="137127" y="103337"/>
                    <a:pt x="142286" y="98181"/>
                    <a:pt x="142286" y="91820"/>
                  </a:cubicBezTo>
                  <a:cubicBezTo>
                    <a:pt x="142286" y="85459"/>
                    <a:pt x="137127" y="80303"/>
                    <a:pt x="130763" y="80303"/>
                  </a:cubicBezTo>
                  <a:close/>
                  <a:moveTo>
                    <a:pt x="107146" y="289"/>
                  </a:moveTo>
                  <a:cubicBezTo>
                    <a:pt x="108742" y="780"/>
                    <a:pt x="110150" y="1878"/>
                    <a:pt x="110993" y="3470"/>
                  </a:cubicBezTo>
                  <a:lnTo>
                    <a:pt x="129822" y="39003"/>
                  </a:lnTo>
                  <a:cubicBezTo>
                    <a:pt x="144792" y="31205"/>
                    <a:pt x="161847" y="27067"/>
                    <a:pt x="179869" y="27067"/>
                  </a:cubicBezTo>
                  <a:cubicBezTo>
                    <a:pt x="196607" y="27067"/>
                    <a:pt x="212511" y="30637"/>
                    <a:pt x="226716" y="37356"/>
                  </a:cubicBezTo>
                  <a:lnTo>
                    <a:pt x="242539" y="8600"/>
                  </a:lnTo>
                  <a:cubicBezTo>
                    <a:pt x="243407" y="7022"/>
                    <a:pt x="244833" y="5946"/>
                    <a:pt x="246436" y="5481"/>
                  </a:cubicBezTo>
                  <a:cubicBezTo>
                    <a:pt x="248040" y="5015"/>
                    <a:pt x="249820" y="5161"/>
                    <a:pt x="251399" y="6029"/>
                  </a:cubicBezTo>
                  <a:cubicBezTo>
                    <a:pt x="254556" y="7765"/>
                    <a:pt x="255707" y="11730"/>
                    <a:pt x="253971" y="14885"/>
                  </a:cubicBezTo>
                  <a:lnTo>
                    <a:pt x="238319" y="43329"/>
                  </a:lnTo>
                  <a:cubicBezTo>
                    <a:pt x="269919" y="61745"/>
                    <a:pt x="291626" y="94994"/>
                    <a:pt x="294136" y="133539"/>
                  </a:cubicBezTo>
                  <a:lnTo>
                    <a:pt x="65601" y="133539"/>
                  </a:lnTo>
                  <a:cubicBezTo>
                    <a:pt x="68029" y="96256"/>
                    <a:pt x="88418" y="63928"/>
                    <a:pt x="118222" y="44974"/>
                  </a:cubicBezTo>
                  <a:lnTo>
                    <a:pt x="99464" y="9574"/>
                  </a:lnTo>
                  <a:cubicBezTo>
                    <a:pt x="97778" y="6391"/>
                    <a:pt x="98991" y="2445"/>
                    <a:pt x="102175" y="759"/>
                  </a:cubicBezTo>
                  <a:cubicBezTo>
                    <a:pt x="103767" y="-83"/>
                    <a:pt x="105550" y="-201"/>
                    <a:pt x="107146" y="289"/>
                  </a:cubicBezTo>
                  <a:close/>
                </a:path>
              </a:pathLst>
            </a:custGeom>
            <a:solidFill>
              <a:schemeClr val="accent2">
                <a:alpha val="100000"/>
              </a:schemeClr>
            </a:solidFill>
            <a:ln w="12700">
              <a:noFill/>
              <a:prstDash val="solid"/>
              <a:miter lim="800000"/>
            </a:ln>
          </p:spPr>
          <p:txBody>
            <a:bodyPr anchor="ctr"/>
            <a:p>
              <a:pPr algn="ctr">
                <a:lnSpc>
                  <a:spcPct val="130000"/>
                </a:lnSpc>
              </a:pPr>
              <a:endParaRPr lang="zh-CN" sz="2398">
                <a:solidFill>
                  <a:srgbClr val="FFFFFF"/>
                </a:solidFill>
                <a:latin typeface="微软雅黑"/>
                <a:ea typeface="微软雅黑"/>
              </a:endParaRPr>
            </a:p>
          </p:txBody>
        </p:sp>
      </p:grpSp>
      <p:grpSp>
        <p:nvGrpSpPr>
          <p:cNvPr id="17" name="" descr="{&quot;isTemplate&quot;:true,&quot;type&quot;:&quot;list&quot;,&quot;alignment&quot;:&quot;left&quot;,&quot;alignmentVertical&quot;:&quot;top&quot;,&quot;canOmit&quot;:false,&quot;scalable&quot;:false,&quot;minItemsCount&quot;:0}"/>
          <p:cNvGrpSpPr/>
          <p:nvPr/>
        </p:nvGrpSpPr>
        <p:grpSpPr>
          <a:xfrm>
            <a:off x="916966" y="1273849"/>
            <a:ext cx="9999481" cy="3829033"/>
            <a:chOff x="916966" y="1273849"/>
            <a:chExt cx="9999481" cy="3829033"/>
          </a:xfrm>
        </p:grpSpPr>
        <p:sp>
          <p:nvSpPr>
            <p:cNvPr id="18" name="文本框 29" descr="{&quot;isTemplate&quot;:true,&quot;type&quot;:&quot;content&quot;,&quot;canOmit&quot;:true}"/>
            <p:cNvSpPr txBox="true"/>
            <p:nvPr/>
          </p:nvSpPr>
          <p:spPr>
            <a:xfrm rot="0" flipH="false" flipV="false">
              <a:off x="4474600" y="1273849"/>
              <a:ext cx="2831883" cy="1758950"/>
            </a:xfrm>
            <a:prstGeom prst="rect"/>
            <a:noFill/>
            <a:ln/>
          </p:spPr>
          <p:txBody>
            <a:bodyPr vert="horz" wrap="square" lIns="90043" tIns="46863" rIns="90043" bIns="46863">
              <a:noAutofit/>
            </a:bodyPr>
            <a:lstStyle/>
            <a:p>
              <a:pPr marL="0" indent="0" algn="ctr">
                <a:lnSpc>
                  <a:spcPct val="130000"/>
                </a:lnSpc>
                <a:spcBef>
                  <a:spcPct val="1"/>
                </a:spcBef>
                <a:spcAft>
                  <a:spcPct val="1"/>
                </a:spcAft>
                <a:buNone/>
              </a:pPr>
              <a:r>
                <a:rPr sz="2000">
                  <a:solidFill>
                    <a:schemeClr val="tx1">
                      <a:alpha val="100000"/>
                    </a:schemeClr>
                  </a:solidFill>
                </a:rPr>
                <a:t> Goal:choose items (0/1) to maximize total value under capacity constraint </a:t>
              </a:r>
              <a:endParaRPr/>
            </a:p>
          </p:txBody>
        </p:sp>
        <p:sp>
          <p:nvSpPr>
            <p:cNvPr id="19" name="文本框 32" descr="{&quot;isTemplate&quot;:true,&quot;type&quot;:&quot;content&quot;,&quot;canOmit&quot;:true}"/>
            <p:cNvSpPr txBox="true"/>
            <p:nvPr/>
          </p:nvSpPr>
          <p:spPr>
            <a:xfrm rot="0" flipH="false" flipV="false">
              <a:off x="8323242" y="3343932"/>
              <a:ext cx="2593205" cy="1758950"/>
            </a:xfrm>
            <a:prstGeom prst="rect"/>
            <a:noFill/>
            <a:ln/>
          </p:spPr>
          <p:txBody>
            <a:bodyPr vert="horz" wrap="square" lIns="90043" tIns="46863" rIns="90043" bIns="46863">
              <a:noAutofit/>
            </a:bodyPr>
            <a:lstStyle/>
            <a:p>
              <a:pPr marL="0" indent="0" algn="ctr">
                <a:lnSpc>
                  <a:spcPct val="130000"/>
                </a:lnSpc>
                <a:spcBef>
                  <a:spcPct val="1"/>
                </a:spcBef>
                <a:spcAft>
                  <a:spcPct val="1"/>
                </a:spcAft>
                <a:buNone/>
              </a:pPr>
              <a:r>
                <a:rPr sz="2000">
                  <a:solidFill>
                    <a:schemeClr val="tx1">
                      <a:alpha val="100000"/>
                    </a:schemeClr>
                  </a:solidFill>
                </a:rPr>
                <a:t>DP is exact but has pseudo-polynomial cost </a:t>
              </a:r>
              <a:r>
                <a:rPr sz="2000" b="false">
                  <a:solidFill>
                    <a:schemeClr val="tx1">
                      <a:alpha val="100000"/>
                    </a:schemeClr>
                  </a:solidFill>
                </a:rPr>
                <a:t>O(nW)</a:t>
              </a:r>
              <a:r>
                <a:rPr sz="2000">
                  <a:solidFill>
                    <a:schemeClr val="tx1">
                      <a:alpha val="100000"/>
                    </a:schemeClr>
                  </a:solidFill>
                </a:rPr>
                <a:t> and can be expensive when capacity/items grow </a:t>
              </a:r>
              <a:endParaRPr/>
            </a:p>
          </p:txBody>
        </p:sp>
        <p:sp>
          <p:nvSpPr>
            <p:cNvPr id="20" name="文本框 35" descr="{&quot;isTemplate&quot;:true,&quot;type&quot;:&quot;content&quot;,&quot;canOmit&quot;:true}"/>
            <p:cNvSpPr txBox="true"/>
            <p:nvPr/>
          </p:nvSpPr>
          <p:spPr>
            <a:xfrm rot="0" flipH="false" flipV="false">
              <a:off x="916966" y="3343932"/>
              <a:ext cx="2831883" cy="1758950"/>
            </a:xfrm>
            <a:prstGeom prst="rect"/>
            <a:noFill/>
            <a:ln/>
          </p:spPr>
          <p:txBody>
            <a:bodyPr vert="horz" wrap="square" lIns="90043" tIns="46863" rIns="90043" bIns="46863">
              <a:noAutofit/>
            </a:bodyPr>
            <a:lstStyle/>
            <a:p>
              <a:pPr marL="0" indent="0" algn="ctr">
                <a:lnSpc>
                  <a:spcPct val="130000"/>
                </a:lnSpc>
                <a:spcBef>
                  <a:spcPct val="1"/>
                </a:spcBef>
                <a:spcAft>
                  <a:spcPct val="1"/>
                </a:spcAft>
                <a:buNone/>
              </a:pPr>
              <a:r>
                <a:rPr sz="2000">
                  <a:solidFill>
                    <a:schemeClr val="tx1">
                      <a:alpha val="100000"/>
                    </a:schemeClr>
                  </a:solidFill>
                </a:rPr>
                <a:t>Learning-based methods aim for </a:t>
              </a:r>
              <a:r>
                <a:rPr sz="2000" b="false">
                  <a:solidFill>
                    <a:schemeClr val="tx1">
                      <a:alpha val="100000"/>
                    </a:schemeClr>
                  </a:solidFill>
                </a:rPr>
                <a:t>f</a:t>
              </a:r>
              <a:r>
                <a:rPr sz="2000" b="false">
                  <a:solidFill>
                    <a:schemeClr val="tx1">
                      <a:alpha val="100000"/>
                    </a:schemeClr>
                  </a:solidFill>
                </a:rPr>
                <a:t>ast inference after offline training</a:t>
              </a:r>
              <a:r>
                <a:rPr sz="2000">
                  <a:solidFill>
                    <a:schemeClr val="tx1">
                      <a:alpha val="100000"/>
                    </a:schemeClr>
                  </a:solidFill>
                </a:rPr>
                <a:t> and generalize to new instances </a:t>
              </a:r>
              <a:endParaRPr/>
            </a:p>
          </p:txBody>
        </p:sp>
      </p:grpSp>
      <p:sp>
        <p:nvSpPr>
          <p:cNvPr id="21" name="标题 1"/>
          <p:cNvSpPr txBox="true">
            <a:spLocks noGrp="true"/>
          </p:cNvSpPr>
          <p:nvPr/>
        </p:nvSpPr>
        <p:spPr>
          <a:xfrm rot="0" flipH="false" flipV="false">
            <a:off x="1054100" y="390525"/>
            <a:ext cx="10515600" cy="720913"/>
          </a:xfrm>
          <a:ln/>
        </p:spPr>
        <p:txBody>
          <a:bodyPr>
            <a:normAutofit fontScale="100000"/>
          </a:bodyPr>
          <a:lstStyle/>
          <a:p>
            <a:pPr algn="l" defTabSz="914400">
              <a:lnSpc>
                <a:spcPct val="100000"/>
              </a:lnSpc>
              <a:spcBef>
                <a:spcPct val="1"/>
              </a:spcBef>
              <a:buNone/>
              <a:defRPr sz="3600" b="true" u="none" strike="noStrike" kern="1200" spc="300" baseline="0">
                <a:solidFill>
                  <a:srgbClr val="262626"/>
                </a:solidFill>
                <a:latin typeface="Arial"/>
                <a:ea typeface="微软雅黑"/>
              </a:defRPr>
            </a:pPr>
            <a:r>
              <a:rPr sz="3600" b="true" u="none" strike="noStrike" kern="1200" spc="300" baseline="0">
                <a:solidFill>
                  <a:srgbClr val="262626"/>
                </a:solidFill>
                <a:latin typeface="Arial"/>
                <a:ea typeface="微软雅黑"/>
              </a:rPr>
              <a:t>Problem &amp; Motivation</a:t>
            </a:r>
            <a:endParaRPr sz="3600" b="true" u="none" strike="noStrike" kern="1200" spc="300" baseline="0">
              <a:solidFill>
                <a:srgbClr val="262626"/>
              </a:solidFill>
              <a:latin typeface="Arial"/>
              <a:ea typeface="微软雅黑"/>
            </a:endParaRPr>
          </a:p>
        </p:txBody>
      </p:sp>
    </p:spTree>
  </p:cSld>
  <p:clrMapOvr>
    <a:masterClrMapping/>
  </p:clrMapOvr>
</p:sld>
</file>

<file path=ppt/slides/slide3.xml><?xml version="1.0" encoding="utf-8"?>
<p:sld xmlns:a="http://schemas.openxmlformats.org/drawingml/2006/main" xmlns:p="http://schemas.openxmlformats.org/presentationml/2006/main">
  <p:cSld>
    <p:spTree>
      <p:nvGrpSpPr>
        <p:cNvPr id="22" name="" descr="{&quot;isTemplate&quot;:true,&quot;type&quot;:&quot;page&quot;,&quot;originSlideId&quot;:&quot;edb1d263&quot;}"/>
        <p:cNvGrpSpPr/>
        <p:nvPr/>
      </p:nvGrpSpPr>
      <p:grpSpPr>
        <a:xfrm>
          <a:off x="0" y="0"/>
          <a:ext cx="0" cy="0"/>
          <a:chOff x="0" y="0"/>
          <a:chExt cx="0" cy="0"/>
        </a:xfrm>
      </p:grpSpPr>
      <p:grpSp>
        <p:nvGrpSpPr>
          <p:cNvPr id="23" name="" descr="{&quot;isTemplate&quot;:true,&quot;type&quot;:&quot;list&quot;,&quot;alignment&quot;:&quot;left&quot;,&quot;alignmentVertical&quot;:&quot;top&quot;,&quot;canOmit&quot;:false,&quot;scalable&quot;:false,&quot;minItemsCount&quot;:0}"/>
          <p:cNvGrpSpPr/>
          <p:nvPr/>
        </p:nvGrpSpPr>
        <p:grpSpPr>
          <a:xfrm>
            <a:off x="666750" y="1500993"/>
            <a:ext cx="10598149" cy="4734707"/>
            <a:chOff x="666750" y="1500993"/>
            <a:chExt cx="10598149" cy="4734707"/>
          </a:xfrm>
        </p:grpSpPr>
        <p:grpSp>
          <p:nvGrpSpPr>
            <p:cNvPr id="24" name=""/>
            <p:cNvGrpSpPr/>
            <p:nvPr/>
          </p:nvGrpSpPr>
          <p:grpSpPr>
            <a:xfrm>
              <a:off x="666750" y="1500993"/>
              <a:ext cx="3363383" cy="4734707"/>
              <a:chOff x="666750" y="1587506"/>
              <a:chExt cx="3363383" cy="4734707"/>
            </a:xfrm>
          </p:grpSpPr>
          <p:sp>
            <p:nvSpPr>
              <p:cNvPr id="25" name="" descr="{&quot;isTemplate&quot;:true,&quot;type&quot;:&quot;content&quot;,&quot;canOmit&quot;:true}"/>
              <p:cNvSpPr txBox="true"/>
              <p:nvPr/>
            </p:nvSpPr>
            <p:spPr>
              <a:xfrm rot="0" flipH="false" flipV="false">
                <a:off x="736602" y="2639536"/>
                <a:ext cx="3293531" cy="3682677"/>
              </a:xfrm>
              <a:prstGeom prst="rect">
                <a:avLst/>
              </a:prstGeom>
              <a:noFill/>
              <a:ln>
                <a:noFill/>
              </a:ln>
            </p:spPr>
            <p:txBody>
              <a:bodyPr vert="horz" wrap="square" lIns="90043" tIns="46863" rIns="90043" bIns="46863" anchor="t" anchorCtr="false">
                <a:noAutofit/>
              </a:bodyPr>
              <a:lstStyle/>
              <a:p>
                <a:pPr marL="0" lvl="0" indent="0">
                  <a:buFont typeface="Arial" charset="0"/>
                  <a:buNone/>
                </a:pPr>
                <a:r>
                  <a:rPr sz="1650"/>
                  <a:t>DP state over capacity; time complexity </a:t>
                </a:r>
                <a:r>
                  <a:rPr sz="1650" b="true"/>
                  <a:t>O(nW)</a:t>
                </a:r>
                <a:r>
                  <a:rPr sz="1650"/>
                  <a:t>, space </a:t>
                </a:r>
                <a:r>
                  <a:rPr sz="1650" b="true"/>
                  <a:t>O(nW)</a:t>
                </a:r>
                <a:r>
                  <a:rPr sz="1650"/>
                  <a:t> 
</a:t>
                </a:r>
                <a:r>
                  <a:rPr sz="1650"/>
                  <a:t>Practical optimization: 1D compressed dp[c] with </a:t>
                </a:r>
                <a:r>
                  <a:rPr sz="1650" b="true"/>
                  <a:t>O(W)</a:t>
                </a:r>
                <a:r>
                  <a:rPr sz="1650"/>
                  <a:t> memory (descending capacity iteration)</a:t>
                </a:r>
                <a:endParaRPr sz="1800" u="none" strike="noStrike" spc="150" baseline="0">
                  <a:solidFill>
                    <a:schemeClr val="tx1">
                      <a:lumMod val="65000"/>
                      <a:lumOff val="35000"/>
                      <a:alpha val="100000"/>
                    </a:schemeClr>
                  </a:solidFill>
                  <a:latin typeface="Arial"/>
                  <a:ea typeface="微软雅黑"/>
                </a:endParaRPr>
              </a:p>
              <a:p>
                <a:pPr marL="0" lvl="0" indent="0">
                  <a:buFont typeface="Arial" charset="0"/>
                  <a:buNone/>
                </a:pPr>
                <a:br>
                  <a:rPr/>
                </a:br>
                <a:r>
                  <a:rPr sz="1650"/>
                  <a:t>Role in this study: </a:t>
                </a:r>
                <a:r>
                  <a:rPr sz="1650"/>
                  <a:t>“</a:t>
                </a:r>
                <a:r>
                  <a:rPr sz="1650"/>
                  <a:t>accuracy benchmark</a:t>
                </a:r>
                <a:r>
                  <a:rPr sz="1650"/>
                  <a:t>”</a:t>
                </a:r>
                <a:r>
                  <a:rPr sz="1650"/>
                  <a:t> for evaluating learning-based methods.</a:t>
                </a:r>
                <a:endParaRPr/>
              </a:p>
            </p:txBody>
          </p:sp>
          <p:sp>
            <p:nvSpPr>
              <p:cNvPr id="26" name="" descr="{&quot;isTemplate&quot;:true,&quot;type&quot;:&quot;title&quot;,&quot;canOmit&quot;:false}"/>
              <p:cNvSpPr txBox="true"/>
              <p:nvPr/>
            </p:nvSpPr>
            <p:spPr>
              <a:xfrm rot="0" flipH="false" flipV="false">
                <a:off x="736600" y="2167243"/>
                <a:ext cx="3293524" cy="441325"/>
              </a:xfrm>
              <a:prstGeom prst="rect">
                <a:avLst/>
              </a:prstGeom>
              <a:noFill/>
              <a:ln>
                <a:noFill/>
              </a:ln>
            </p:spPr>
            <p:txBody>
              <a:bodyPr vert="horz" wrap="square" lIns="90043" tIns="46863" rIns="90043" bIns="46863" anchor="t" anchorCtr="false">
                <a:noAutofit/>
              </a:bodyPr>
              <a:lstStyle/>
              <a:p>
                <a:pPr marL="0" indent="0">
                  <a:lnSpc>
                    <a:spcPct val="130000"/>
                  </a:lnSpc>
                  <a:spcBef>
                    <a:spcPct val="1"/>
                  </a:spcBef>
                  <a:spcAft>
                    <a:spcPct val="1"/>
                  </a:spcAft>
                  <a:buSzPct val="25000"/>
                  <a:buNone/>
                </a:pPr>
                <a:r>
                  <a:rPr lang="en-US" sz="2000" b="true"/>
                  <a:t>DP Benchmark</a:t>
                </a:r>
                <a:endParaRPr/>
              </a:p>
            </p:txBody>
          </p:sp>
          <p:sp>
            <p:nvSpPr>
              <p:cNvPr id="27" name="" descr="{&quot;isTemplate&quot;:true,&quot;type&quot;:&quot;serialNumber&quot;}"/>
              <p:cNvSpPr txBox="true"/>
              <p:nvPr/>
            </p:nvSpPr>
            <p:spPr>
              <a:xfrm rot="0" flipH="false" flipV="false">
                <a:off x="736602" y="1587506"/>
                <a:ext cx="3293524" cy="579737"/>
              </a:xfrm>
              <a:prstGeom prst="rect">
                <a:avLst/>
              </a:prstGeom>
              <a:noFill/>
              <a:ln>
                <a:noFill/>
              </a:ln>
            </p:spPr>
            <p:txBody>
              <a:bodyPr wrap="none" lIns="91440" tIns="45720" rIns="91440" bIns="45720" anchor="b" anchorCtr="false">
                <a:normAutofit fontScale="70000" lnSpcReduction="10000"/>
              </a:bodyPr>
              <a:lstStyle/>
              <a:p>
                <a:pPr>
                  <a:buSzPct val="25000"/>
                </a:pPr>
                <a:r>
                  <a:rPr lang="en-US" sz="3600">
                    <a:solidFill>
                      <a:schemeClr val="accent1"/>
                    </a:solidFill>
                    <a:sym typeface="Arial"/>
                  </a:rPr>
                  <a:t>01</a:t>
                </a:r>
                <a:endParaRPr/>
              </a:p>
            </p:txBody>
          </p:sp>
          <p:cxnSp>
            <p:nvCxnSpPr>
              <p:cNvPr id="28" name="直接连接符 22"/>
              <p:cNvCxnSpPr/>
              <p:nvPr/>
            </p:nvCxnSpPr>
            <p:spPr>
              <a:xfrm rot="0" flipH="false" flipV="false">
                <a:off x="666750" y="1982210"/>
                <a:ext cx="0" cy="4253490"/>
              </a:xfrm>
              <a:prstGeom prst="line">
                <a:avLst/>
              </a:prstGeom>
              <a:ln w="635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29" name=""/>
            <p:cNvGrpSpPr/>
            <p:nvPr/>
          </p:nvGrpSpPr>
          <p:grpSpPr>
            <a:xfrm>
              <a:off x="4284133" y="1500993"/>
              <a:ext cx="3617383" cy="4734707"/>
              <a:chOff x="666750" y="1587506"/>
              <a:chExt cx="3617383" cy="4734707"/>
            </a:xfrm>
          </p:grpSpPr>
          <p:sp>
            <p:nvSpPr>
              <p:cNvPr id="30" name="" descr="{&quot;isTemplate&quot;:true,&quot;type&quot;:&quot;content&quot;,&quot;canOmit&quot;:true}"/>
              <p:cNvSpPr txBox="true"/>
              <p:nvPr/>
            </p:nvSpPr>
            <p:spPr>
              <a:xfrm rot="0" flipH="false" flipV="false">
                <a:off x="736602" y="2595863"/>
                <a:ext cx="3547531" cy="3726350"/>
              </a:xfrm>
              <a:prstGeom prst="rect">
                <a:avLst/>
              </a:prstGeom>
              <a:noFill/>
              <a:ln>
                <a:noFill/>
              </a:ln>
            </p:spPr>
            <p:txBody>
              <a:bodyPr vert="horz" wrap="square" lIns="90043" tIns="46863" rIns="90043" bIns="46863" anchor="t" anchorCtr="false">
                <a:noAutofit/>
              </a:bodyPr>
              <a:lstStyle/>
              <a:p>
                <a:pPr marL="0" lvl="0" indent="0">
                  <a:buFont typeface="Arial" charset="0"/>
                  <a:buNone/>
                </a:pPr>
                <a:r>
                  <a:rPr sz="1600"/>
                  <a:t>Represent each instance as a graph: </a:t>
                </a:r>
                <a:r>
                  <a:rPr sz="1600" b="true"/>
                  <a:t>nodes = items</a:t>
                </a:r>
                <a:r>
                  <a:rPr sz="1600"/>
                  <a:t>, features include weight/value/value-density, normalized by capacity.</a:t>
                </a:r>
                <a:endParaRPr/>
              </a:p>
              <a:p>
                <a:pPr marL="0" lvl="0" indent="0">
                  <a:buFont typeface="Arial" charset="0"/>
                  <a:buNone/>
                </a:pPr>
                <a:r>
                  <a:rPr sz="1600"/>
                  <a:t>Edge construction options: </a:t>
                </a:r>
                <a:r>
                  <a:rPr sz="1600" b="true"/>
                  <a:t>fully-connected</a:t>
                </a:r>
                <a:r>
                  <a:rPr sz="1600"/>
                  <a:t> or </a:t>
                </a:r>
                <a:r>
                  <a:rPr sz="1600" b="true"/>
                  <a:t>kNN</a:t>
                </a:r>
                <a:r>
                  <a:rPr sz="1600"/>
                  <a:t>; can add a global capacity node </a:t>
                </a:r>
                <a:endParaRPr/>
              </a:p>
              <a:p>
                <a:pPr marL="0" lvl="0" indent="0">
                  <a:buFont typeface="Arial" charset="0"/>
                  <a:buNone/>
                </a:pPr>
                <a:r>
                  <a:rPr sz="1600"/>
                  <a:t>Output: per-item selection probability → threshold/decision </a:t>
                </a:r>
                <a:endParaRPr/>
              </a:p>
              <a:p>
                <a:pPr marL="0" lvl="0" indent="0">
                  <a:buFont typeface="Arial" charset="0"/>
                  <a:buNone/>
                </a:pPr>
                <a:r>
                  <a:rPr sz="1600"/>
                  <a:t>Feasibility: greedy decoding or repair to satisfy capacity constraint </a:t>
                </a:r>
                <a:endParaRPr sz="1800" u="none" strike="noStrike" spc="150" baseline="0">
                  <a:solidFill>
                    <a:schemeClr val="tx1">
                      <a:lumMod val="65000"/>
                      <a:lumOff val="35000"/>
                      <a:alpha val="100000"/>
                    </a:schemeClr>
                  </a:solidFill>
                  <a:latin typeface="Arial"/>
                  <a:ea typeface="微软雅黑"/>
                </a:endParaRPr>
              </a:p>
            </p:txBody>
          </p:sp>
          <p:sp>
            <p:nvSpPr>
              <p:cNvPr id="31" name="" descr="{&quot;isTemplate&quot;:true,&quot;type&quot;:&quot;title&quot;,&quot;canOmit&quot;:false}"/>
              <p:cNvSpPr txBox="true"/>
              <p:nvPr/>
            </p:nvSpPr>
            <p:spPr>
              <a:xfrm rot="0" flipH="false" flipV="false">
                <a:off x="736600" y="2154538"/>
                <a:ext cx="3293524" cy="882650"/>
              </a:xfrm>
              <a:prstGeom prst="rect">
                <a:avLst/>
              </a:prstGeom>
              <a:noFill/>
              <a:ln>
                <a:noFill/>
              </a:ln>
            </p:spPr>
            <p:txBody>
              <a:bodyPr vert="horz" wrap="square" lIns="90043" tIns="46863" rIns="90043" bIns="46863" anchor="t" anchorCtr="false">
                <a:noAutofit/>
              </a:bodyPr>
              <a:lstStyle/>
              <a:p>
                <a:pPr marL="0" indent="0">
                  <a:lnSpc>
                    <a:spcPct val="130000"/>
                  </a:lnSpc>
                  <a:spcBef>
                    <a:spcPct val="1"/>
                  </a:spcBef>
                  <a:spcAft>
                    <a:spcPct val="1"/>
                  </a:spcAft>
                  <a:buSzPct val="25000"/>
                  <a:buNone/>
                </a:pPr>
                <a:r>
                  <a:rPr lang="en-US" sz="2000" b="true"/>
                  <a:t>GNN</a:t>
                </a:r>
                <a:endParaRPr/>
              </a:p>
            </p:txBody>
          </p:sp>
          <p:sp>
            <p:nvSpPr>
              <p:cNvPr id="32" name="" descr="{&quot;isTemplate&quot;:true,&quot;type&quot;:&quot;serialNumber&quot;}"/>
              <p:cNvSpPr txBox="true"/>
              <p:nvPr/>
            </p:nvSpPr>
            <p:spPr>
              <a:xfrm rot="0" flipH="false" flipV="false">
                <a:off x="736602" y="1587506"/>
                <a:ext cx="3293524" cy="579737"/>
              </a:xfrm>
              <a:prstGeom prst="rect">
                <a:avLst/>
              </a:prstGeom>
              <a:noFill/>
              <a:ln>
                <a:noFill/>
              </a:ln>
            </p:spPr>
            <p:txBody>
              <a:bodyPr wrap="none" lIns="91440" tIns="45720" rIns="91440" bIns="45720" anchor="b" anchorCtr="false">
                <a:normAutofit fontScale="70000" lnSpcReduction="10000"/>
              </a:bodyPr>
              <a:lstStyle/>
              <a:p>
                <a:pPr>
                  <a:buSzPct val="25000"/>
                </a:pPr>
                <a:r>
                  <a:rPr lang="en-US" sz="3600">
                    <a:solidFill>
                      <a:schemeClr val="accent1"/>
                    </a:solidFill>
                    <a:sym typeface="Arial"/>
                  </a:rPr>
                  <a:t>02</a:t>
                </a:r>
                <a:endParaRPr/>
              </a:p>
            </p:txBody>
          </p:sp>
          <p:cxnSp>
            <p:nvCxnSpPr>
              <p:cNvPr id="33" name="直接连接符 22"/>
              <p:cNvCxnSpPr/>
              <p:nvPr/>
            </p:nvCxnSpPr>
            <p:spPr>
              <a:xfrm rot="0" flipH="false" flipV="false">
                <a:off x="666750" y="1982210"/>
                <a:ext cx="0" cy="4253490"/>
              </a:xfrm>
              <a:prstGeom prst="line">
                <a:avLst/>
              </a:prstGeom>
              <a:ln w="635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34" name=""/>
            <p:cNvGrpSpPr/>
            <p:nvPr/>
          </p:nvGrpSpPr>
          <p:grpSpPr>
            <a:xfrm>
              <a:off x="7901516" y="1500993"/>
              <a:ext cx="3363383" cy="4734707"/>
              <a:chOff x="666750" y="1587506"/>
              <a:chExt cx="3363383" cy="4734707"/>
            </a:xfrm>
          </p:grpSpPr>
          <p:sp>
            <p:nvSpPr>
              <p:cNvPr id="35" name="" descr="{&quot;isTemplate&quot;:true,&quot;type&quot;:&quot;content&quot;,&quot;canOmit&quot;:true}"/>
              <p:cNvSpPr txBox="true"/>
              <p:nvPr/>
            </p:nvSpPr>
            <p:spPr>
              <a:xfrm rot="0" flipH="false" flipV="false">
                <a:off x="736602" y="2639536"/>
                <a:ext cx="3293531" cy="3682677"/>
              </a:xfrm>
              <a:prstGeom prst="rect">
                <a:avLst/>
              </a:prstGeom>
              <a:noFill/>
              <a:ln>
                <a:noFill/>
              </a:ln>
            </p:spPr>
            <p:txBody>
              <a:bodyPr vert="horz" wrap="square" lIns="90043" tIns="46863" rIns="90043" bIns="46863" anchor="t" anchorCtr="false">
                <a:noAutofit/>
              </a:bodyPr>
              <a:lstStyle/>
              <a:p>
                <a:pPr lvl="0"/>
                <a:r>
                  <a:rPr sz="1600">
                    <a:latin typeface="Arial"/>
                    <a:ea typeface="Arial"/>
                  </a:rPr>
                  <a:t>Cast knapsack as an </a:t>
                </a:r>
                <a:r>
                  <a:rPr sz="1600" b="true">
                    <a:latin typeface="Arial"/>
                    <a:ea typeface="Arial"/>
                  </a:rPr>
                  <a:t>MDP</a:t>
                </a:r>
                <a:r>
                  <a:rPr sz="1600">
                    <a:latin typeface="Arial"/>
                    <a:ea typeface="Arial"/>
                  </a:rPr>
                  <a:t>: states, actions, rewards, termination.</a:t>
                </a:r>
                <a:endParaRPr sz="1800">
                  <a:solidFill>
                    <a:schemeClr val="tx1">
                      <a:alpha val="100000"/>
                    </a:schemeClr>
                  </a:solidFill>
                  <a:latin typeface="Arial"/>
                  <a:ea typeface="Microsoft YaHei"/>
                </a:endParaRPr>
              </a:p>
              <a:p>
                <a:pPr lvl="0"/>
                <a:br>
                  <a:rPr/>
                </a:br>
                <a:r>
                  <a:rPr sz="1600">
                    <a:latin typeface="Arial"/>
                    <a:ea typeface="Arial"/>
                  </a:rPr>
                  <a:t>Core DQN components: Q-network, </a:t>
                </a:r>
                <a:r>
                  <a:rPr sz="1600" b="true">
                    <a:latin typeface="Arial"/>
                    <a:ea typeface="Arial"/>
                  </a:rPr>
                  <a:t>experience replay buffer</a:t>
                </a:r>
                <a:r>
                  <a:rPr sz="1600">
                    <a:latin typeface="Arial"/>
                    <a:ea typeface="Arial"/>
                  </a:rPr>
                  <a:t>, </a:t>
                </a:r>
                <a:r>
                  <a:rPr sz="1600" b="true">
                    <a:latin typeface="Arial"/>
                    <a:ea typeface="Arial"/>
                  </a:rPr>
                  <a:t>target network.</a:t>
                </a:r>
                <a:endParaRPr sz="1800">
                  <a:solidFill>
                    <a:schemeClr val="tx1">
                      <a:alpha val="100000"/>
                    </a:schemeClr>
                  </a:solidFill>
                  <a:latin typeface="Arial"/>
                  <a:ea typeface="Microsoft YaHei"/>
                </a:endParaRPr>
              </a:p>
              <a:p>
                <a:pPr lvl="0"/>
                <a:br>
                  <a:rPr/>
                </a:br>
                <a:r>
                  <a:rPr sz="1600">
                    <a:latin typeface="Arial"/>
                    <a:ea typeface="Arial"/>
                  </a:rPr>
                  <a:t>Training loop: epsilon-greedy action selection + periodic target update.</a:t>
                </a:r>
                <a:endParaRPr sz="1800">
                  <a:solidFill>
                    <a:schemeClr val="tx1">
                      <a:alpha val="100000"/>
                    </a:schemeClr>
                  </a:solidFill>
                  <a:latin typeface="Arial"/>
                  <a:ea typeface="Microsoft YaHei"/>
                </a:endParaRPr>
              </a:p>
            </p:txBody>
          </p:sp>
          <p:sp>
            <p:nvSpPr>
              <p:cNvPr id="36" name="" descr="{&quot;isTemplate&quot;:true,&quot;type&quot;:&quot;title&quot;,&quot;canOmit&quot;:false}"/>
              <p:cNvSpPr txBox="true"/>
              <p:nvPr/>
            </p:nvSpPr>
            <p:spPr>
              <a:xfrm rot="0" flipH="false" flipV="false">
                <a:off x="736600" y="2154538"/>
                <a:ext cx="3293524" cy="882650"/>
              </a:xfrm>
              <a:prstGeom prst="rect">
                <a:avLst/>
              </a:prstGeom>
              <a:noFill/>
              <a:ln>
                <a:noFill/>
              </a:ln>
            </p:spPr>
            <p:txBody>
              <a:bodyPr vert="horz" wrap="square" lIns="90043" tIns="46863" rIns="90043" bIns="46863" anchor="t" anchorCtr="false">
                <a:noAutofit/>
              </a:bodyPr>
              <a:lstStyle/>
              <a:p>
                <a:pPr marL="0" indent="0">
                  <a:lnSpc>
                    <a:spcPct val="130000"/>
                  </a:lnSpc>
                  <a:spcBef>
                    <a:spcPct val="1"/>
                  </a:spcBef>
                  <a:spcAft>
                    <a:spcPct val="1"/>
                  </a:spcAft>
                  <a:buSzPct val="25000"/>
                  <a:buNone/>
                </a:pPr>
                <a:r>
                  <a:rPr lang="en-US" sz="2000" b="true"/>
                  <a:t>RL</a:t>
                </a:r>
                <a:endParaRPr/>
              </a:p>
            </p:txBody>
          </p:sp>
          <p:sp>
            <p:nvSpPr>
              <p:cNvPr id="37" name="" descr="{&quot;isTemplate&quot;:true,&quot;type&quot;:&quot;serialNumber&quot;}"/>
              <p:cNvSpPr txBox="true"/>
              <p:nvPr/>
            </p:nvSpPr>
            <p:spPr>
              <a:xfrm rot="0" flipH="false" flipV="false">
                <a:off x="736602" y="1587506"/>
                <a:ext cx="3293524" cy="579737"/>
              </a:xfrm>
              <a:prstGeom prst="rect">
                <a:avLst/>
              </a:prstGeom>
              <a:noFill/>
              <a:ln>
                <a:noFill/>
              </a:ln>
            </p:spPr>
            <p:txBody>
              <a:bodyPr wrap="none" lIns="91440" tIns="45720" rIns="91440" bIns="45720" anchor="b" anchorCtr="false">
                <a:normAutofit fontScale="70000" lnSpcReduction="10000"/>
              </a:bodyPr>
              <a:lstStyle/>
              <a:p>
                <a:pPr>
                  <a:buSzPct val="25000"/>
                </a:pPr>
                <a:r>
                  <a:rPr lang="en-US" sz="3600">
                    <a:solidFill>
                      <a:schemeClr val="accent1"/>
                    </a:solidFill>
                    <a:sym typeface="Arial"/>
                  </a:rPr>
                  <a:t>03</a:t>
                </a:r>
                <a:endParaRPr/>
              </a:p>
            </p:txBody>
          </p:sp>
          <p:cxnSp>
            <p:nvCxnSpPr>
              <p:cNvPr id="38" name="直接连接符 22"/>
              <p:cNvCxnSpPr/>
              <p:nvPr/>
            </p:nvCxnSpPr>
            <p:spPr>
              <a:xfrm rot="0" flipH="false" flipV="false">
                <a:off x="666750" y="1982210"/>
                <a:ext cx="0" cy="4253490"/>
              </a:xfrm>
              <a:prstGeom prst="line">
                <a:avLst/>
              </a:prstGeom>
              <a:ln w="6350">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sp>
        <p:nvSpPr>
          <p:cNvPr id="39" name=""/>
          <p:cNvSpPr txBox="true"/>
          <p:nvPr/>
        </p:nvSpPr>
        <p:spPr>
          <a:xfrm rot="0" flipH="false" flipV="false">
            <a:off x="1217851" y="328065"/>
            <a:ext cx="9740900" cy="806450"/>
          </a:xfrm>
          <a:prstGeom prst="rect">
            <a:avLst/>
          </a:prstGeom>
          <a:ln w="12700">
            <a:prstDash val="solid"/>
          </a:ln>
        </p:spPr>
        <p:txBody>
          <a:bodyPr>
            <a:spAutoFit/>
          </a:bodyPr>
          <a:p>
            <a:pPr/>
            <a:r>
              <a:rPr sz="3600" b="true"/>
              <a:t>Methods Overview</a:t>
            </a:r>
            <a:endParaRPr/>
          </a:p>
        </p:txBody>
      </p:sp>
    </p:spTree>
  </p:cSld>
  <p:clrMapOvr>
    <a:masterClrMapping/>
  </p:clrMapOvr>
</p:sld>
</file>

<file path=ppt/slides/slide4.xml><?xml version="1.0" encoding="utf-8"?>
<p:sld xmlns:a="http://schemas.openxmlformats.org/drawingml/2006/main" xmlns:p="http://schemas.openxmlformats.org/presentationml/2006/main">
  <p:cSld>
    <p:spTree>
      <p:nvGrpSpPr>
        <p:cNvPr id="40" name="" descr="{&quot;isTemplate&quot;:true,&quot;type&quot;:&quot;page&quot;,&quot;originSlideId&quot;:&quot;bc53960d&quot;}"/>
        <p:cNvGrpSpPr/>
        <p:nvPr/>
      </p:nvGrpSpPr>
      <p:grpSpPr>
        <a:xfrm>
          <a:off x="0" y="0"/>
          <a:ext cx="0" cy="0"/>
          <a:chOff x="0" y="0"/>
          <a:chExt cx="0" cy="0"/>
        </a:xfrm>
      </p:grpSpPr>
      <p:grpSp>
        <p:nvGrpSpPr>
          <p:cNvPr id="41" name=""/>
          <p:cNvGrpSpPr/>
          <p:nvPr/>
        </p:nvGrpSpPr>
        <p:grpSpPr>
          <a:xfrm>
            <a:off x="2057857" y="1169924"/>
            <a:ext cx="5623560" cy="5065776"/>
            <a:chOff x="2057857" y="1169924"/>
            <a:chExt cx="5623560" cy="5065776"/>
          </a:xfrm>
        </p:grpSpPr>
        <p:cxnSp>
          <p:nvCxnSpPr>
            <p:cNvPr id="42" name="直接连接符 4"/>
            <p:cNvCxnSpPr/>
            <p:nvPr/>
          </p:nvCxnSpPr>
          <p:spPr>
            <a:xfrm rot="0" flipH="false" flipV="false">
              <a:off x="2057857" y="1169924"/>
              <a:ext cx="0" cy="5065776"/>
            </a:xfrm>
            <a:prstGeom prst="line">
              <a:avLst/>
            </a:prstGeom>
            <a:ln w="25400">
              <a:gradFill>
                <a:gsLst>
                  <a:gs pos="0">
                    <a:schemeClr val="accent1">
                      <a:alpha val="0"/>
                    </a:schemeClr>
                  </a:gs>
                  <a:gs pos="50000">
                    <a:schemeClr val="accent1"/>
                  </a:gs>
                  <a:gs pos="100000">
                    <a:schemeClr val="accent1">
                      <a:alpha val="0"/>
                    </a:schemeClr>
                  </a:gs>
                </a:gsLst>
                <a:lin ang="5400000" scaled="true"/>
              </a:gradFill>
            </a:ln>
          </p:spPr>
          <p:style>
            <a:lnRef idx="1">
              <a:schemeClr val="accent1"/>
            </a:lnRef>
            <a:fillRef idx="0">
              <a:schemeClr val="accent1"/>
            </a:fillRef>
            <a:effectRef idx="0">
              <a:schemeClr val="accent1"/>
            </a:effectRef>
            <a:fontRef idx="minor">
              <a:schemeClr val="tx1"/>
            </a:fontRef>
          </p:style>
        </p:cxnSp>
        <p:cxnSp>
          <p:nvCxnSpPr>
            <p:cNvPr id="43" name="直接连接符 15"/>
            <p:cNvCxnSpPr/>
            <p:nvPr/>
          </p:nvCxnSpPr>
          <p:spPr>
            <a:xfrm rot="0" flipH="false" flipV="false">
              <a:off x="7681417" y="1169924"/>
              <a:ext cx="0" cy="5065776"/>
            </a:xfrm>
            <a:prstGeom prst="line">
              <a:avLst/>
            </a:prstGeom>
            <a:ln w="25400">
              <a:gradFill>
                <a:gsLst>
                  <a:gs pos="0">
                    <a:schemeClr val="accent1">
                      <a:alpha val="0"/>
                    </a:schemeClr>
                  </a:gs>
                  <a:gs pos="50000">
                    <a:schemeClr val="accent1"/>
                  </a:gs>
                  <a:gs pos="100000">
                    <a:schemeClr val="accent1">
                      <a:alpha val="0"/>
                    </a:schemeClr>
                  </a:gs>
                </a:gsLst>
                <a:lin ang="5400000" scaled="true"/>
              </a:gradFill>
            </a:ln>
          </p:spPr>
          <p:style>
            <a:lnRef idx="1">
              <a:schemeClr val="accent1"/>
            </a:lnRef>
            <a:fillRef idx="0">
              <a:schemeClr val="accent1"/>
            </a:fillRef>
            <a:effectRef idx="0">
              <a:schemeClr val="accent1"/>
            </a:effectRef>
            <a:fontRef idx="minor">
              <a:schemeClr val="tx1"/>
            </a:fontRef>
          </p:style>
        </p:cxnSp>
      </p:grpSp>
      <p:grpSp>
        <p:nvGrpSpPr>
          <p:cNvPr id="44" name="" descr="{&quot;isTemplate&quot;:true,&quot;type&quot;:&quot;list&quot;,&quot;alignment&quot;:&quot;left&quot;,&quot;alignmentVertical&quot;:&quot;top&quot;,&quot;canOmit&quot;:false,&quot;scalable&quot;:false,&quot;minItemsCount&quot;:0}"/>
          <p:cNvGrpSpPr/>
          <p:nvPr/>
        </p:nvGrpSpPr>
        <p:grpSpPr>
          <a:xfrm>
            <a:off x="1029982" y="1487971"/>
            <a:ext cx="10125685" cy="4747728"/>
            <a:chOff x="1029982" y="1487971"/>
            <a:chExt cx="10125685" cy="4747728"/>
          </a:xfrm>
        </p:grpSpPr>
        <p:grpSp>
          <p:nvGrpSpPr>
            <p:cNvPr id="45" name=""/>
            <p:cNvGrpSpPr/>
            <p:nvPr/>
          </p:nvGrpSpPr>
          <p:grpSpPr>
            <a:xfrm>
              <a:off x="1029982" y="1487971"/>
              <a:ext cx="5062843" cy="1569155"/>
              <a:chOff x="1029982" y="1487971"/>
              <a:chExt cx="5062843" cy="1569155"/>
            </a:xfrm>
          </p:grpSpPr>
          <p:sp>
            <p:nvSpPr>
              <p:cNvPr id="46" name="椭圆 7" descr="{&quot;isTemplate&quot;:true,&quot;type&quot;:&quot;serialNumber&quot;}"/>
              <p:cNvSpPr/>
              <p:nvPr/>
            </p:nvSpPr>
            <p:spPr>
              <a:xfrm rot="0" flipH="false" flipV="false">
                <a:off x="1029982" y="1714304"/>
                <a:ext cx="661734" cy="661734"/>
              </a:xfrm>
              <a:prstGeom prst="ellipse">
                <a:avLst/>
              </a:prstGeom>
              <a:solidFill>
                <a:schemeClr val="accent1">
                  <a:alpha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ctr" defTabSz="914400">
                  <a:lnSpc>
                    <a:spcPct val="100000"/>
                  </a:lnSpc>
                  <a:buClrTx/>
                  <a:buSzTx/>
                  <a:buFontTx/>
                  <a:buNone/>
                  <a:defRPr sz="1800">
                    <a:solidFill>
                      <a:schemeClr val="lt1">
                        <a:alpha val="100000"/>
                      </a:schemeClr>
                    </a:solidFill>
                  </a:defRPr>
                </a:pPr>
                <a:r>
                  <a:rPr lang="en-US" sz="1600" b="true" u="none" strike="noStrike" spc="0" baseline="0">
                    <a:ln>
                      <a:noFill/>
                    </a:ln>
                    <a:solidFill>
                      <a:schemeClr val="bg1"/>
                    </a:solidFill>
                    <a:effectLst/>
                  </a:rPr>
                  <a:t>01</a:t>
                </a:r>
                <a:endParaRPr/>
              </a:p>
            </p:txBody>
          </p:sp>
          <p:sp>
            <p:nvSpPr>
              <p:cNvPr id="47" name="椭圆 34"/>
              <p:cNvSpPr/>
              <p:nvPr/>
            </p:nvSpPr>
            <p:spPr>
              <a:xfrm rot="0" flipH="false" flipV="false">
                <a:off x="1987308" y="1714304"/>
                <a:ext cx="141097" cy="141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l" defTabSz="914400">
                  <a:lnSpc>
                    <a:spcPct val="100000"/>
                  </a:lnSpc>
                  <a:buClrTx/>
                  <a:buSzTx/>
                  <a:buFontTx/>
                  <a:buNone/>
                  <a:defRPr sz="1800">
                    <a:solidFill>
                      <a:schemeClr val="lt1">
                        <a:alpha val="100000"/>
                      </a:schemeClr>
                    </a:solidFill>
                  </a:defRPr>
                </a:pPr>
                <a:endParaRPr lang="zh-CN" sz="1400" b="false" i="false" u="none" strike="noStrike" spc="0" baseline="0">
                  <a:ln>
                    <a:noFill/>
                  </a:ln>
                  <a:solidFill>
                    <a:srgbClr val="FFFFFF">
                      <a:alpha val="100000"/>
                    </a:srgbClr>
                  </a:solidFill>
                  <a:effectLst/>
                </a:endParaRPr>
              </a:p>
            </p:txBody>
          </p:sp>
          <p:cxnSp>
            <p:nvCxnSpPr>
              <p:cNvPr id="48" name="直接连接符 30"/>
              <p:cNvCxnSpPr/>
              <p:nvPr/>
            </p:nvCxnSpPr>
            <p:spPr>
              <a:xfrm rot="0" flipH="false" flipV="false">
                <a:off x="2574652" y="1945736"/>
                <a:ext cx="1090837" cy="0"/>
              </a:xfrm>
              <a:prstGeom prst="line">
                <a:avLst/>
              </a:prstGeom>
              <a:ln w="28575" cap="rnd"/>
            </p:spPr>
            <p:style>
              <a:lnRef idx="1">
                <a:schemeClr val="accent1"/>
              </a:lnRef>
              <a:fillRef idx="0">
                <a:schemeClr val="accent1"/>
              </a:fillRef>
              <a:effectRef idx="0">
                <a:schemeClr val="accent1"/>
              </a:effectRef>
              <a:fontRef idx="minor">
                <a:schemeClr val="tx1"/>
              </a:fontRef>
            </p:style>
          </p:cxnSp>
          <p:sp>
            <p:nvSpPr>
              <p:cNvPr id="49" name="矩形 28" descr="{&quot;isTemplate&quot;:true,&quot;type&quot;:&quot;content&quot;,&quot;canOmit&quot;:true}"/>
              <p:cNvSpPr/>
              <p:nvPr/>
            </p:nvSpPr>
            <p:spPr>
              <a:xfrm rot="0" flipH="false" flipV="false">
                <a:off x="2444806" y="2007680"/>
                <a:ext cx="3648019" cy="1049446"/>
              </a:xfrm>
              <a:prstGeom prst="rect">
                <a:avLst/>
              </a:prstGeom>
              <a:ln/>
            </p:spPr>
            <p:txBody>
              <a:bodyPr vert="horz" wrap="square" lIns="90043" tIns="46863" rIns="90043" bIns="46863">
                <a:noAutofit/>
              </a:bodyPr>
              <a:lstStyle/>
              <a:p>
                <a:pPr marL="0" lvl="0" indent="0" algn="l" defTabSz="914400">
                  <a:lnSpc>
                    <a:spcPct val="130000"/>
                  </a:lnSpc>
                  <a:spcBef>
                    <a:spcPct val="1"/>
                  </a:spcBef>
                  <a:spcAft>
                    <a:spcPct val="1"/>
                  </a:spcAft>
                  <a:buClrTx/>
                  <a:buSzTx/>
                  <a:buNone/>
                  <a:defRPr sz="1800">
                    <a:solidFill>
                      <a:schemeClr val="tx1">
                        <a:alpha val="100000"/>
                      </a:schemeClr>
                    </a:solidFill>
                    <a:latin typeface="Arial"/>
                    <a:ea typeface="Microsoft YaHei"/>
                  </a:defRPr>
                </a:pPr>
                <a:r>
                  <a:rPr lang="en-US" sz="1400" b="false">
                    <a:solidFill>
                      <a:schemeClr val="tx1">
                        <a:alpha val="100000"/>
                      </a:schemeClr>
                    </a:solidFill>
                  </a:rPr>
                  <a:t>1000 medium-difficulty instances are adopted and stored in the.npz format, including key data such as weight, value and capacity.</a:t>
                </a:r>
                <a:endParaRPr/>
              </a:p>
            </p:txBody>
          </p:sp>
          <p:sp>
            <p:nvSpPr>
              <p:cNvPr id="50" name="文本框 29" descr="{&quot;isTemplate&quot;:true,&quot;type&quot;:&quot;title&quot;,&quot;canOmit&quot;:false}"/>
              <p:cNvSpPr txBox="true"/>
              <p:nvPr/>
            </p:nvSpPr>
            <p:spPr>
              <a:xfrm rot="0" flipH="false" flipV="false">
                <a:off x="2444806" y="1487971"/>
                <a:ext cx="3072061" cy="488950"/>
              </a:xfrm>
              <a:prstGeom prst="rect">
                <a:avLst/>
              </a:prstGeom>
              <a:noFill/>
            </p:spPr>
            <p:txBody>
              <a:bodyPr vert="horz" wrap="square" lIns="90043" tIns="46863" rIns="90043" bIns="46863" rtlCol="false">
                <a:noAutofit/>
              </a:bodyPr>
              <a:lstStyle/>
              <a:p>
                <a:pPr marL="0" lvl="0" indent="0" algn="l" defTabSz="914400">
                  <a:lnSpc>
                    <a:spcPct val="130000"/>
                  </a:lnSpc>
                  <a:spcBef>
                    <a:spcPct val="1"/>
                  </a:spcBef>
                  <a:spcAft>
                    <a:spcPct val="1"/>
                  </a:spcAft>
                  <a:buClrTx/>
                  <a:buSzTx/>
                  <a:buFontTx/>
                  <a:buNone/>
                  <a:defRPr sz="1200" b="true" i="false" u="none" strike="noStrike" spc="0" baseline="0">
                    <a:ln>
                      <a:noFill/>
                    </a:ln>
                    <a:solidFill>
                      <a:schemeClr val="tx1">
                        <a:alpha val="100000"/>
                      </a:schemeClr>
                    </a:solidFill>
                    <a:effectLst/>
                    <a:latin typeface="Arial"/>
                    <a:ea typeface="Microsoft YaHei"/>
                  </a:defRPr>
                </a:pPr>
                <a:r>
                  <a:rPr lang="en-US" sz="2000" b="true">
                    <a:solidFill>
                      <a:schemeClr val="tx1">
                        <a:alpha val="100000"/>
                      </a:schemeClr>
                    </a:solidFill>
                  </a:rPr>
                  <a:t>Dataset situation</a:t>
                </a:r>
                <a:endParaRPr/>
              </a:p>
            </p:txBody>
          </p:sp>
        </p:grpSp>
        <p:grpSp>
          <p:nvGrpSpPr>
            <p:cNvPr id="51" name=""/>
            <p:cNvGrpSpPr/>
            <p:nvPr/>
          </p:nvGrpSpPr>
          <p:grpSpPr>
            <a:xfrm>
              <a:off x="1029982" y="3051482"/>
              <a:ext cx="5062835" cy="1569173"/>
              <a:chOff x="1029982" y="3051482"/>
              <a:chExt cx="5062835" cy="1569173"/>
            </a:xfrm>
          </p:grpSpPr>
          <p:sp>
            <p:nvSpPr>
              <p:cNvPr id="52" name="椭圆 5"/>
              <p:cNvSpPr/>
              <p:nvPr/>
            </p:nvSpPr>
            <p:spPr>
              <a:xfrm rot="0" flipH="false" flipV="false">
                <a:off x="1987308" y="3324143"/>
                <a:ext cx="141097" cy="141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l" defTabSz="914400">
                  <a:lnSpc>
                    <a:spcPct val="100000"/>
                  </a:lnSpc>
                  <a:buClrTx/>
                  <a:buSzTx/>
                  <a:buFontTx/>
                  <a:buNone/>
                  <a:defRPr sz="1800">
                    <a:solidFill>
                      <a:schemeClr val="lt1">
                        <a:alpha val="100000"/>
                      </a:schemeClr>
                    </a:solidFill>
                  </a:defRPr>
                </a:pPr>
                <a:endParaRPr lang="zh-CN" sz="1400" b="false" i="false" u="none" strike="noStrike" spc="0" baseline="0">
                  <a:ln>
                    <a:noFill/>
                  </a:ln>
                  <a:solidFill>
                    <a:srgbClr val="FFFFFF">
                      <a:alpha val="100000"/>
                    </a:srgbClr>
                  </a:solidFill>
                  <a:effectLst/>
                </a:endParaRPr>
              </a:p>
            </p:txBody>
          </p:sp>
          <p:sp>
            <p:nvSpPr>
              <p:cNvPr id="53" name="椭圆 8" descr="{&quot;isTemplate&quot;:true,&quot;type&quot;:&quot;serialNumber&quot;}"/>
              <p:cNvSpPr/>
              <p:nvPr/>
            </p:nvSpPr>
            <p:spPr>
              <a:xfrm rot="0" flipH="false" flipV="false">
                <a:off x="1029982" y="3324143"/>
                <a:ext cx="661734" cy="661734"/>
              </a:xfrm>
              <a:prstGeom prst="ellipse">
                <a:avLst/>
              </a:prstGeom>
              <a:solidFill>
                <a:schemeClr val="accent1">
                  <a:alpha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ctr" defTabSz="914400">
                  <a:lnSpc>
                    <a:spcPct val="100000"/>
                  </a:lnSpc>
                  <a:buClrTx/>
                  <a:buSzTx/>
                  <a:buFontTx/>
                  <a:buNone/>
                  <a:defRPr sz="1800">
                    <a:solidFill>
                      <a:schemeClr val="lt1">
                        <a:alpha val="100000"/>
                      </a:schemeClr>
                    </a:solidFill>
                  </a:defRPr>
                </a:pPr>
                <a:r>
                  <a:rPr lang="en-US" sz="1600" b="true" u="none" strike="noStrike" spc="0" baseline="0">
                    <a:ln>
                      <a:noFill/>
                    </a:ln>
                    <a:solidFill>
                      <a:schemeClr val="bg1"/>
                    </a:solidFill>
                    <a:effectLst/>
                  </a:rPr>
                  <a:t>02</a:t>
                </a:r>
                <a:endParaRPr/>
              </a:p>
            </p:txBody>
          </p:sp>
          <p:cxnSp>
            <p:nvCxnSpPr>
              <p:cNvPr id="54" name="直接连接符 30"/>
              <p:cNvCxnSpPr/>
              <p:nvPr/>
            </p:nvCxnSpPr>
            <p:spPr>
              <a:xfrm rot="0" flipH="false" flipV="false">
                <a:off x="2574652" y="3509247"/>
                <a:ext cx="1090837" cy="0"/>
              </a:xfrm>
              <a:prstGeom prst="line">
                <a:avLst/>
              </a:prstGeom>
              <a:ln w="28575" cap="rnd"/>
            </p:spPr>
            <p:style>
              <a:lnRef idx="1">
                <a:schemeClr val="accent1"/>
              </a:lnRef>
              <a:fillRef idx="0">
                <a:schemeClr val="accent1"/>
              </a:fillRef>
              <a:effectRef idx="0">
                <a:schemeClr val="accent1"/>
              </a:effectRef>
              <a:fontRef idx="minor">
                <a:schemeClr val="tx1"/>
              </a:fontRef>
            </p:style>
          </p:cxnSp>
          <p:sp>
            <p:nvSpPr>
              <p:cNvPr id="55" name="矩形 38" descr="{&quot;isTemplate&quot;:true,&quot;type&quot;:&quot;content&quot;,&quot;canOmit&quot;:true}"/>
              <p:cNvSpPr/>
              <p:nvPr/>
            </p:nvSpPr>
            <p:spPr>
              <a:xfrm rot="0" flipH="false" flipV="false">
                <a:off x="2444806" y="3571191"/>
                <a:ext cx="3648011" cy="1049464"/>
              </a:xfrm>
              <a:prstGeom prst="rect">
                <a:avLst/>
              </a:prstGeom>
              <a:ln/>
            </p:spPr>
            <p:txBody>
              <a:bodyPr vert="horz" wrap="square" lIns="90043" tIns="46863" rIns="90043" bIns="46863">
                <a:noAutofit/>
              </a:bodyPr>
              <a:lstStyle/>
              <a:p>
                <a:pPr marL="0" lvl="0" indent="0" algn="l" defTabSz="914400">
                  <a:lnSpc>
                    <a:spcPct val="130000"/>
                  </a:lnSpc>
                  <a:spcBef>
                    <a:spcPct val="1"/>
                  </a:spcBef>
                  <a:spcAft>
                    <a:spcPct val="1"/>
                  </a:spcAft>
                  <a:buClrTx/>
                  <a:buSzTx/>
                  <a:buNone/>
                  <a:defRPr sz="1800">
                    <a:solidFill>
                      <a:schemeClr val="tx1">
                        <a:alpha val="100000"/>
                      </a:schemeClr>
                    </a:solidFill>
                    <a:latin typeface="Arial"/>
                    <a:ea typeface="Microsoft YaHei"/>
                  </a:defRPr>
                </a:pPr>
                <a:r>
                  <a:rPr lang="en-US" sz="1400" b="false">
                    <a:solidFill>
                      <a:schemeClr val="tx1">
                        <a:alpha val="100000"/>
                      </a:schemeClr>
                    </a:solidFill>
                  </a:rPr>
                  <a:t>Integrate the script and output to form a unified pipeline product, ensuring the continuity and traceability of each link in the experimental process.</a:t>
                </a:r>
                <a:endParaRPr/>
              </a:p>
            </p:txBody>
          </p:sp>
          <p:sp>
            <p:nvSpPr>
              <p:cNvPr id="56" name="文本框 50" descr="{&quot;isTemplate&quot;:true,&quot;type&quot;:&quot;title&quot;,&quot;canOmit&quot;:false}"/>
              <p:cNvSpPr txBox="true"/>
              <p:nvPr/>
            </p:nvSpPr>
            <p:spPr>
              <a:xfrm rot="0" flipH="false" flipV="false">
                <a:off x="2444806" y="3051482"/>
                <a:ext cx="3072061" cy="488950"/>
              </a:xfrm>
              <a:prstGeom prst="rect">
                <a:avLst/>
              </a:prstGeom>
              <a:noFill/>
            </p:spPr>
            <p:txBody>
              <a:bodyPr vert="horz" wrap="square" lIns="90043" tIns="46863" rIns="90043" bIns="46863" rtlCol="false">
                <a:noAutofit/>
              </a:bodyPr>
              <a:lstStyle/>
              <a:p>
                <a:pPr marL="0" lvl="0" indent="0" algn="l" defTabSz="914400">
                  <a:lnSpc>
                    <a:spcPct val="130000"/>
                  </a:lnSpc>
                  <a:spcBef>
                    <a:spcPct val="1"/>
                  </a:spcBef>
                  <a:spcAft>
                    <a:spcPct val="1"/>
                  </a:spcAft>
                  <a:buClrTx/>
                  <a:buSzTx/>
                  <a:buFontTx/>
                  <a:buNone/>
                  <a:defRPr sz="1200" b="true" i="false" u="none" strike="noStrike" spc="0" baseline="0">
                    <a:ln>
                      <a:noFill/>
                    </a:ln>
                    <a:solidFill>
                      <a:schemeClr val="tx1">
                        <a:alpha val="100000"/>
                      </a:schemeClr>
                    </a:solidFill>
                    <a:effectLst/>
                    <a:latin typeface="Arial"/>
                    <a:ea typeface="Microsoft YaHei"/>
                  </a:defRPr>
                </a:pPr>
                <a:r>
                  <a:rPr lang="en-US" sz="2000" b="true">
                    <a:solidFill>
                      <a:schemeClr val="tx1">
                        <a:alpha val="100000"/>
                      </a:schemeClr>
                    </a:solidFill>
                  </a:rPr>
                  <a:t>Unified process product</a:t>
                </a:r>
                <a:endParaRPr/>
              </a:p>
            </p:txBody>
          </p:sp>
        </p:grpSp>
        <p:grpSp>
          <p:nvGrpSpPr>
            <p:cNvPr id="57" name=""/>
            <p:cNvGrpSpPr/>
            <p:nvPr/>
          </p:nvGrpSpPr>
          <p:grpSpPr>
            <a:xfrm>
              <a:off x="1029982" y="4750460"/>
              <a:ext cx="5062835" cy="1485239"/>
              <a:chOff x="1029982" y="4750460"/>
              <a:chExt cx="5062835" cy="1485239"/>
            </a:xfrm>
          </p:grpSpPr>
          <p:sp>
            <p:nvSpPr>
              <p:cNvPr id="58" name="椭圆 6"/>
              <p:cNvSpPr/>
              <p:nvPr/>
            </p:nvSpPr>
            <p:spPr>
              <a:xfrm rot="0" flipH="false" flipV="false">
                <a:off x="1987308" y="5041265"/>
                <a:ext cx="141097" cy="141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l" defTabSz="914400">
                  <a:lnSpc>
                    <a:spcPct val="100000"/>
                  </a:lnSpc>
                  <a:buClrTx/>
                  <a:buSzTx/>
                  <a:buFontTx/>
                  <a:buNone/>
                  <a:defRPr sz="1800">
                    <a:solidFill>
                      <a:schemeClr val="lt1">
                        <a:alpha val="100000"/>
                      </a:schemeClr>
                    </a:solidFill>
                  </a:defRPr>
                </a:pPr>
                <a:endParaRPr lang="zh-CN" sz="1400" b="false" i="false" u="none" strike="noStrike" spc="0" baseline="0">
                  <a:ln>
                    <a:noFill/>
                  </a:ln>
                  <a:solidFill>
                    <a:srgbClr val="FFFFFF">
                      <a:alpha val="100000"/>
                    </a:srgbClr>
                  </a:solidFill>
                  <a:effectLst/>
                </a:endParaRPr>
              </a:p>
            </p:txBody>
          </p:sp>
          <p:sp>
            <p:nvSpPr>
              <p:cNvPr id="59" name="椭圆 9" descr="{&quot;isTemplate&quot;:true,&quot;type&quot;:&quot;serialNumber&quot;}"/>
              <p:cNvSpPr/>
              <p:nvPr/>
            </p:nvSpPr>
            <p:spPr>
              <a:xfrm rot="0" flipH="false" flipV="false">
                <a:off x="1029982" y="4935202"/>
                <a:ext cx="661734" cy="661734"/>
              </a:xfrm>
              <a:prstGeom prst="ellipse">
                <a:avLst/>
              </a:prstGeom>
              <a:solidFill>
                <a:schemeClr val="accent1">
                  <a:alpha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ctr" defTabSz="914400">
                  <a:lnSpc>
                    <a:spcPct val="100000"/>
                  </a:lnSpc>
                  <a:buClrTx/>
                  <a:buSzTx/>
                  <a:buFontTx/>
                  <a:buNone/>
                  <a:defRPr sz="1800">
                    <a:solidFill>
                      <a:schemeClr val="lt1">
                        <a:alpha val="100000"/>
                      </a:schemeClr>
                    </a:solidFill>
                  </a:defRPr>
                </a:pPr>
                <a:r>
                  <a:rPr lang="en-US" sz="1600" b="true" u="none" strike="noStrike" spc="0" baseline="0">
                    <a:ln>
                      <a:noFill/>
                    </a:ln>
                    <a:solidFill>
                      <a:schemeClr val="bg1"/>
                    </a:solidFill>
                    <a:effectLst/>
                  </a:rPr>
                  <a:t>03</a:t>
                </a:r>
                <a:endParaRPr/>
              </a:p>
            </p:txBody>
          </p:sp>
          <p:cxnSp>
            <p:nvCxnSpPr>
              <p:cNvPr id="60" name="直接连接符 30"/>
              <p:cNvCxnSpPr/>
              <p:nvPr/>
            </p:nvCxnSpPr>
            <p:spPr>
              <a:xfrm rot="0" flipH="false" flipV="false">
                <a:off x="2574652" y="5208225"/>
                <a:ext cx="1090837" cy="0"/>
              </a:xfrm>
              <a:prstGeom prst="line">
                <a:avLst/>
              </a:prstGeom>
              <a:ln w="28575" cap="rnd"/>
            </p:spPr>
            <p:style>
              <a:lnRef idx="1">
                <a:schemeClr val="accent1"/>
              </a:lnRef>
              <a:fillRef idx="0">
                <a:schemeClr val="accent1"/>
              </a:fillRef>
              <a:effectRef idx="0">
                <a:schemeClr val="accent1"/>
              </a:effectRef>
              <a:fontRef idx="minor">
                <a:schemeClr val="tx1"/>
              </a:fontRef>
            </p:style>
          </p:cxnSp>
          <p:sp>
            <p:nvSpPr>
              <p:cNvPr id="61" name="矩形 53" descr="{&quot;isTemplate&quot;:true,&quot;type&quot;:&quot;content&quot;,&quot;canOmit&quot;:true}"/>
              <p:cNvSpPr/>
              <p:nvPr/>
            </p:nvSpPr>
            <p:spPr>
              <a:xfrm rot="0" flipH="false" flipV="false">
                <a:off x="2444806" y="5270169"/>
                <a:ext cx="3648011" cy="965530"/>
              </a:xfrm>
              <a:prstGeom prst="rect">
                <a:avLst/>
              </a:prstGeom>
              <a:ln/>
            </p:spPr>
            <p:txBody>
              <a:bodyPr vert="horz" wrap="square" lIns="90043" tIns="46863" rIns="90043" bIns="46863">
                <a:noAutofit/>
              </a:bodyPr>
              <a:lstStyle/>
              <a:p>
                <a:pPr marL="0" lvl="0" indent="0" algn="l" defTabSz="914400">
                  <a:lnSpc>
                    <a:spcPct val="130000"/>
                  </a:lnSpc>
                  <a:spcBef>
                    <a:spcPct val="1"/>
                  </a:spcBef>
                  <a:spcAft>
                    <a:spcPct val="1"/>
                  </a:spcAft>
                  <a:buClrTx/>
                  <a:buSzTx/>
                  <a:buNone/>
                  <a:defRPr sz="1800">
                    <a:solidFill>
                      <a:schemeClr val="tx1">
                        <a:alpha val="100000"/>
                      </a:schemeClr>
                    </a:solidFill>
                    <a:latin typeface="Arial"/>
                    <a:ea typeface="Microsoft YaHei"/>
                  </a:defRPr>
                </a:pPr>
                <a:r>
                  <a:rPr lang="en-US" sz="1400" b="false">
                    <a:solidFill>
                      <a:schemeClr val="tx1">
                        <a:alpha val="100000"/>
                      </a:schemeClr>
                    </a:solidFill>
                  </a:rPr>
                  <a:t>Provide the dynamic programming results in oracle CSV format to offer standardized reference data for subsequent analysis.</a:t>
                </a:r>
                <a:endParaRPr/>
              </a:p>
            </p:txBody>
          </p:sp>
          <p:sp>
            <p:nvSpPr>
              <p:cNvPr id="62" name="文本框 54" descr="{&quot;isTemplate&quot;:true,&quot;type&quot;:&quot;title&quot;,&quot;canOmit&quot;:false}"/>
              <p:cNvSpPr txBox="true"/>
              <p:nvPr/>
            </p:nvSpPr>
            <p:spPr>
              <a:xfrm rot="0" flipH="false" flipV="false">
                <a:off x="2444806" y="4750460"/>
                <a:ext cx="3072061" cy="488950"/>
              </a:xfrm>
              <a:prstGeom prst="rect">
                <a:avLst/>
              </a:prstGeom>
              <a:noFill/>
            </p:spPr>
            <p:txBody>
              <a:bodyPr vert="horz" wrap="square" lIns="90043" tIns="46863" rIns="90043" bIns="46863" rtlCol="false">
                <a:noAutofit/>
              </a:bodyPr>
              <a:lstStyle/>
              <a:p>
                <a:pPr marL="0" lvl="0" indent="0" algn="l" defTabSz="914400">
                  <a:lnSpc>
                    <a:spcPct val="130000"/>
                  </a:lnSpc>
                  <a:spcBef>
                    <a:spcPct val="1"/>
                  </a:spcBef>
                  <a:spcAft>
                    <a:spcPct val="1"/>
                  </a:spcAft>
                  <a:buClrTx/>
                  <a:buSzTx/>
                  <a:buFontTx/>
                  <a:buNone/>
                  <a:defRPr sz="1200" b="true" i="false" u="none" strike="noStrike" spc="0" baseline="0">
                    <a:ln>
                      <a:noFill/>
                    </a:ln>
                    <a:solidFill>
                      <a:schemeClr val="tx1">
                        <a:alpha val="100000"/>
                      </a:schemeClr>
                    </a:solidFill>
                    <a:effectLst/>
                    <a:latin typeface="Arial"/>
                    <a:ea typeface="Microsoft YaHei"/>
                  </a:defRPr>
                </a:pPr>
                <a:r>
                  <a:rPr lang="en-US" sz="2000" b="true">
                    <a:solidFill>
                      <a:schemeClr val="tx1">
                        <a:alpha val="100000"/>
                      </a:schemeClr>
                    </a:solidFill>
                  </a:rPr>
                  <a:t>DP result presentation</a:t>
                </a:r>
                <a:endParaRPr/>
              </a:p>
            </p:txBody>
          </p:sp>
        </p:grpSp>
        <p:grpSp>
          <p:nvGrpSpPr>
            <p:cNvPr id="63" name=""/>
            <p:cNvGrpSpPr/>
            <p:nvPr/>
          </p:nvGrpSpPr>
          <p:grpSpPr>
            <a:xfrm>
              <a:off x="6653542" y="1493615"/>
              <a:ext cx="4502125" cy="1446809"/>
              <a:chOff x="6653542" y="1493615"/>
              <a:chExt cx="4502125" cy="1446809"/>
            </a:xfrm>
          </p:grpSpPr>
          <p:sp>
            <p:nvSpPr>
              <p:cNvPr id="64" name="椭圆 16"/>
              <p:cNvSpPr/>
              <p:nvPr/>
            </p:nvSpPr>
            <p:spPr>
              <a:xfrm rot="0" flipH="false" flipV="false">
                <a:off x="7610868" y="1714304"/>
                <a:ext cx="141097" cy="141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l" defTabSz="914400">
                  <a:lnSpc>
                    <a:spcPct val="100000"/>
                  </a:lnSpc>
                  <a:buClrTx/>
                  <a:buSzTx/>
                  <a:buFontTx/>
                  <a:buNone/>
                  <a:defRPr sz="1800">
                    <a:solidFill>
                      <a:schemeClr val="lt1">
                        <a:alpha val="100000"/>
                      </a:schemeClr>
                    </a:solidFill>
                  </a:defRPr>
                </a:pPr>
                <a:endParaRPr lang="zh-CN" sz="1400" b="false" i="false" u="none" strike="noStrike" spc="0" baseline="0">
                  <a:ln>
                    <a:noFill/>
                  </a:ln>
                  <a:solidFill>
                    <a:srgbClr val="FFFFFF">
                      <a:alpha val="100000"/>
                    </a:srgbClr>
                  </a:solidFill>
                  <a:effectLst/>
                </a:endParaRPr>
              </a:p>
            </p:txBody>
          </p:sp>
          <p:sp>
            <p:nvSpPr>
              <p:cNvPr id="65" name="椭圆 19" descr="{&quot;isTemplate&quot;:true,&quot;type&quot;:&quot;serialNumber&quot;}"/>
              <p:cNvSpPr/>
              <p:nvPr/>
            </p:nvSpPr>
            <p:spPr>
              <a:xfrm rot="0" flipH="false" flipV="false">
                <a:off x="6653542" y="1714304"/>
                <a:ext cx="661734" cy="661734"/>
              </a:xfrm>
              <a:prstGeom prst="ellipse">
                <a:avLst/>
              </a:prstGeom>
              <a:solidFill>
                <a:schemeClr val="accent2">
                  <a:alpha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ctr" defTabSz="914400">
                  <a:lnSpc>
                    <a:spcPct val="100000"/>
                  </a:lnSpc>
                  <a:buClrTx/>
                  <a:buSzTx/>
                  <a:buFontTx/>
                  <a:buNone/>
                  <a:defRPr sz="1800">
                    <a:solidFill>
                      <a:schemeClr val="lt1">
                        <a:alpha val="100000"/>
                      </a:schemeClr>
                    </a:solidFill>
                  </a:defRPr>
                </a:pPr>
                <a:r>
                  <a:rPr lang="en-US" sz="1600" b="true" u="none" strike="noStrike" spc="0" baseline="0">
                    <a:ln>
                      <a:noFill/>
                    </a:ln>
                    <a:solidFill>
                      <a:schemeClr val="bg1"/>
                    </a:solidFill>
                    <a:effectLst/>
                  </a:rPr>
                  <a:t>04</a:t>
                </a:r>
                <a:endParaRPr/>
              </a:p>
            </p:txBody>
          </p:sp>
          <p:cxnSp>
            <p:nvCxnSpPr>
              <p:cNvPr id="66" name="直接连接符 30"/>
              <p:cNvCxnSpPr/>
              <p:nvPr/>
            </p:nvCxnSpPr>
            <p:spPr>
              <a:xfrm rot="0" flipH="false" flipV="false">
                <a:off x="8213452" y="1951380"/>
                <a:ext cx="1090837" cy="0"/>
              </a:xfrm>
              <a:prstGeom prst="line">
                <a:avLst/>
              </a:prstGeom>
              <a:ln w="28575" cap="rnd"/>
            </p:spPr>
            <p:style>
              <a:lnRef idx="1">
                <a:schemeClr val="accent1"/>
              </a:lnRef>
              <a:fillRef idx="0">
                <a:schemeClr val="accent1"/>
              </a:fillRef>
              <a:effectRef idx="0">
                <a:schemeClr val="accent1"/>
              </a:effectRef>
              <a:fontRef idx="minor">
                <a:schemeClr val="tx1"/>
              </a:fontRef>
            </p:style>
          </p:cxnSp>
          <p:sp>
            <p:nvSpPr>
              <p:cNvPr id="67" name="矩形 57" descr="{&quot;isTemplate&quot;:true,&quot;type&quot;:&quot;content&quot;,&quot;canOmit&quot;:true}"/>
              <p:cNvSpPr/>
              <p:nvPr/>
            </p:nvSpPr>
            <p:spPr>
              <a:xfrm rot="0" flipH="false" flipV="false">
                <a:off x="8083606" y="2013324"/>
                <a:ext cx="3072061" cy="927100"/>
              </a:xfrm>
              <a:prstGeom prst="rect">
                <a:avLst/>
              </a:prstGeom>
              <a:ln/>
            </p:spPr>
            <p:txBody>
              <a:bodyPr vert="horz" wrap="square" lIns="90043" tIns="46863" rIns="90043" bIns="46863">
                <a:noAutofit/>
              </a:bodyPr>
              <a:lstStyle/>
              <a:p>
                <a:pPr marL="0" lvl="0" indent="0" algn="l" defTabSz="914400">
                  <a:lnSpc>
                    <a:spcPct val="130000"/>
                  </a:lnSpc>
                  <a:spcBef>
                    <a:spcPct val="1"/>
                  </a:spcBef>
                  <a:spcAft>
                    <a:spcPct val="1"/>
                  </a:spcAft>
                  <a:buClrTx/>
                  <a:buSzTx/>
                  <a:buNone/>
                  <a:defRPr sz="1800">
                    <a:solidFill>
                      <a:schemeClr val="tx1">
                        <a:alpha val="100000"/>
                      </a:schemeClr>
                    </a:solidFill>
                    <a:latin typeface="Arial"/>
                    <a:ea typeface="Microsoft YaHei"/>
                  </a:defRPr>
                </a:pPr>
                <a:r>
                  <a:rPr lang="en-US" sz="1400" b="false">
                    <a:solidFill>
                      <a:schemeClr val="tx1">
                        <a:alpha val="100000"/>
                      </a:schemeClr>
                    </a:solidFill>
                  </a:rPr>
                  <a:t>The training and evaluation scripts and output patterns of graph neural networks are strictly aligned to ensure the consistency and standardization of model training.</a:t>
                </a:r>
                <a:endParaRPr/>
              </a:p>
            </p:txBody>
          </p:sp>
          <p:sp>
            <p:nvSpPr>
              <p:cNvPr id="68" name="文本框 58" descr="{&quot;isTemplate&quot;:true,&quot;type&quot;:&quot;title&quot;,&quot;canOmit&quot;:false}"/>
              <p:cNvSpPr txBox="true"/>
              <p:nvPr/>
            </p:nvSpPr>
            <p:spPr>
              <a:xfrm rot="0" flipH="false" flipV="false">
                <a:off x="8083606" y="1493615"/>
                <a:ext cx="3072061" cy="488950"/>
              </a:xfrm>
              <a:prstGeom prst="rect">
                <a:avLst/>
              </a:prstGeom>
              <a:noFill/>
            </p:spPr>
            <p:txBody>
              <a:bodyPr vert="horz" wrap="square" lIns="90043" tIns="46863" rIns="90043" bIns="46863" rtlCol="false">
                <a:noAutofit/>
              </a:bodyPr>
              <a:lstStyle/>
              <a:p>
                <a:pPr marL="0" lvl="0" indent="0" algn="l" defTabSz="914400">
                  <a:lnSpc>
                    <a:spcPct val="130000"/>
                  </a:lnSpc>
                  <a:spcBef>
                    <a:spcPct val="1"/>
                  </a:spcBef>
                  <a:spcAft>
                    <a:spcPct val="1"/>
                  </a:spcAft>
                  <a:buClrTx/>
                  <a:buSzTx/>
                  <a:buFontTx/>
                  <a:buNone/>
                  <a:defRPr sz="1200" b="true" i="false" u="none" strike="noStrike" spc="0" baseline="0">
                    <a:ln>
                      <a:noFill/>
                    </a:ln>
                    <a:solidFill>
                      <a:schemeClr val="tx1">
                        <a:alpha val="100000"/>
                      </a:schemeClr>
                    </a:solidFill>
                    <a:effectLst/>
                    <a:latin typeface="Arial"/>
                    <a:ea typeface="Microsoft YaHei"/>
                  </a:defRPr>
                </a:pPr>
                <a:r>
                  <a:rPr lang="en-US" sz="2000" b="true">
                    <a:solidFill>
                      <a:schemeClr val="tx1">
                        <a:alpha val="100000"/>
                      </a:schemeClr>
                    </a:solidFill>
                  </a:rPr>
                  <a:t>GNN script output</a:t>
                </a:r>
                <a:endParaRPr/>
              </a:p>
            </p:txBody>
          </p:sp>
        </p:grpSp>
        <p:grpSp>
          <p:nvGrpSpPr>
            <p:cNvPr id="69" name=""/>
            <p:cNvGrpSpPr/>
            <p:nvPr/>
          </p:nvGrpSpPr>
          <p:grpSpPr>
            <a:xfrm>
              <a:off x="6653542" y="3704820"/>
              <a:ext cx="4502125" cy="1484916"/>
              <a:chOff x="6653542" y="3704820"/>
              <a:chExt cx="4502125" cy="1484916"/>
            </a:xfrm>
          </p:grpSpPr>
          <p:sp>
            <p:nvSpPr>
              <p:cNvPr id="70" name="椭圆 17"/>
              <p:cNvSpPr/>
              <p:nvPr/>
            </p:nvSpPr>
            <p:spPr>
              <a:xfrm rot="0" flipH="false" flipV="false">
                <a:off x="7610868" y="3978187"/>
                <a:ext cx="141097" cy="14109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l" defTabSz="914400">
                  <a:lnSpc>
                    <a:spcPct val="100000"/>
                  </a:lnSpc>
                  <a:buClrTx/>
                  <a:buSzTx/>
                  <a:buFontTx/>
                  <a:buNone/>
                  <a:defRPr sz="1800">
                    <a:solidFill>
                      <a:schemeClr val="lt1">
                        <a:alpha val="100000"/>
                      </a:schemeClr>
                    </a:solidFill>
                  </a:defRPr>
                </a:pPr>
                <a:endParaRPr lang="zh-CN" sz="1400" b="false" i="false" u="none" strike="noStrike" spc="0" baseline="0">
                  <a:ln>
                    <a:noFill/>
                  </a:ln>
                  <a:solidFill>
                    <a:srgbClr val="FFFFFF">
                      <a:alpha val="100000"/>
                    </a:srgbClr>
                  </a:solidFill>
                  <a:effectLst/>
                </a:endParaRPr>
              </a:p>
            </p:txBody>
          </p:sp>
          <p:sp>
            <p:nvSpPr>
              <p:cNvPr id="71" name="椭圆 20" descr="{&quot;isTemplate&quot;:true,&quot;type&quot;:&quot;serialNumber&quot;}"/>
              <p:cNvSpPr/>
              <p:nvPr/>
            </p:nvSpPr>
            <p:spPr>
              <a:xfrm rot="0" flipH="false" flipV="false">
                <a:off x="6653542" y="3978187"/>
                <a:ext cx="661734" cy="661734"/>
              </a:xfrm>
              <a:prstGeom prst="ellipse">
                <a:avLst/>
              </a:prstGeom>
              <a:solidFill>
                <a:schemeClr val="accent2">
                  <a:alpha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false" anchor="ctr">
                <a:noAutofit/>
              </a:bodyPr>
              <a:lstStyle/>
              <a:p>
                <a:pPr marL="0" lvl="0" indent="0" algn="ctr" defTabSz="914400">
                  <a:lnSpc>
                    <a:spcPct val="100000"/>
                  </a:lnSpc>
                  <a:buClrTx/>
                  <a:buSzTx/>
                  <a:buFontTx/>
                  <a:buNone/>
                  <a:defRPr sz="1800">
                    <a:solidFill>
                      <a:schemeClr val="lt1">
                        <a:alpha val="100000"/>
                      </a:schemeClr>
                    </a:solidFill>
                  </a:defRPr>
                </a:pPr>
                <a:r>
                  <a:rPr lang="en-US" sz="1600" b="true" u="none" strike="noStrike" spc="0" baseline="0">
                    <a:ln>
                      <a:noFill/>
                    </a:ln>
                    <a:solidFill>
                      <a:schemeClr val="bg1"/>
                    </a:solidFill>
                    <a:effectLst/>
                  </a:rPr>
                  <a:t>05</a:t>
                </a:r>
                <a:endParaRPr/>
              </a:p>
            </p:txBody>
          </p:sp>
          <p:cxnSp>
            <p:nvCxnSpPr>
              <p:cNvPr id="72" name="直接连接符 30"/>
              <p:cNvCxnSpPr/>
              <p:nvPr/>
            </p:nvCxnSpPr>
            <p:spPr>
              <a:xfrm rot="0" flipH="false" flipV="false">
                <a:off x="8213452" y="4200692"/>
                <a:ext cx="1090837" cy="0"/>
              </a:xfrm>
              <a:prstGeom prst="line">
                <a:avLst/>
              </a:prstGeom>
              <a:ln w="28575" cap="rnd"/>
            </p:spPr>
            <p:style>
              <a:lnRef idx="1">
                <a:schemeClr val="accent1"/>
              </a:lnRef>
              <a:fillRef idx="0">
                <a:schemeClr val="accent1"/>
              </a:fillRef>
              <a:effectRef idx="0">
                <a:schemeClr val="accent1"/>
              </a:effectRef>
              <a:fontRef idx="minor">
                <a:schemeClr val="tx1"/>
              </a:fontRef>
            </p:style>
          </p:cxnSp>
          <p:sp>
            <p:nvSpPr>
              <p:cNvPr id="73" name="矩形 61" descr="{&quot;isTemplate&quot;:true,&quot;type&quot;:&quot;content&quot;,&quot;canOmit&quot;:true}"/>
              <p:cNvSpPr/>
              <p:nvPr/>
            </p:nvSpPr>
            <p:spPr>
              <a:xfrm rot="0" flipH="false" flipV="false">
                <a:off x="8083606" y="4262636"/>
                <a:ext cx="3072061" cy="927100"/>
              </a:xfrm>
              <a:prstGeom prst="rect">
                <a:avLst/>
              </a:prstGeom>
              <a:ln/>
            </p:spPr>
            <p:txBody>
              <a:bodyPr vert="horz" wrap="square" lIns="90043" tIns="46863" rIns="90043" bIns="46863">
                <a:noAutofit/>
              </a:bodyPr>
              <a:lstStyle/>
              <a:p>
                <a:pPr marL="0" lvl="0" indent="0" algn="l" defTabSz="914400">
                  <a:lnSpc>
                    <a:spcPct val="130000"/>
                  </a:lnSpc>
                  <a:spcBef>
                    <a:spcPct val="1"/>
                  </a:spcBef>
                  <a:spcAft>
                    <a:spcPct val="1"/>
                  </a:spcAft>
                  <a:buClrTx/>
                  <a:buSzTx/>
                  <a:buNone/>
                  <a:defRPr sz="1800">
                    <a:solidFill>
                      <a:schemeClr val="tx1">
                        <a:alpha val="100000"/>
                      </a:schemeClr>
                    </a:solidFill>
                    <a:latin typeface="Arial"/>
                    <a:ea typeface="Microsoft YaHei"/>
                  </a:defRPr>
                </a:pPr>
                <a:r>
                  <a:rPr lang="en-US" sz="1400" b="false">
                    <a:solidFill>
                      <a:schemeClr val="tx1">
                        <a:alpha val="100000"/>
                      </a:schemeClr>
                    </a:solidFill>
                  </a:rPr>
                  <a:t>The training and evaluation script and output of the deep Q-network are complete, providing a reliable data foundation for reinforcement learning experiments.</a:t>
                </a:r>
                <a:endParaRPr/>
              </a:p>
            </p:txBody>
          </p:sp>
          <p:sp>
            <p:nvSpPr>
              <p:cNvPr id="74" name="文本框 62" descr="{&quot;isTemplate&quot;:true,&quot;type&quot;:&quot;title&quot;,&quot;canOmit&quot;:false}"/>
              <p:cNvSpPr txBox="true"/>
              <p:nvPr/>
            </p:nvSpPr>
            <p:spPr>
              <a:xfrm rot="0" flipH="false" flipV="false">
                <a:off x="8083606" y="3704820"/>
                <a:ext cx="3072061" cy="488950"/>
              </a:xfrm>
              <a:prstGeom prst="rect">
                <a:avLst/>
              </a:prstGeom>
              <a:noFill/>
            </p:spPr>
            <p:txBody>
              <a:bodyPr vert="horz" wrap="square" lIns="90043" tIns="46863" rIns="90043" bIns="46863" rtlCol="false">
                <a:noAutofit/>
              </a:bodyPr>
              <a:lstStyle/>
              <a:p>
                <a:pPr marL="0" lvl="0" indent="0" algn="l" defTabSz="914400">
                  <a:lnSpc>
                    <a:spcPct val="130000"/>
                  </a:lnSpc>
                  <a:spcBef>
                    <a:spcPct val="1"/>
                  </a:spcBef>
                  <a:spcAft>
                    <a:spcPct val="1"/>
                  </a:spcAft>
                  <a:buClrTx/>
                  <a:buSzTx/>
                  <a:buFontTx/>
                  <a:buNone/>
                  <a:defRPr sz="1200" b="true" i="false" u="none" strike="noStrike" spc="0" baseline="0">
                    <a:ln>
                      <a:noFill/>
                    </a:ln>
                    <a:solidFill>
                      <a:schemeClr val="tx1">
                        <a:alpha val="100000"/>
                      </a:schemeClr>
                    </a:solidFill>
                    <a:effectLst/>
                    <a:latin typeface="Arial"/>
                    <a:ea typeface="Microsoft YaHei"/>
                  </a:defRPr>
                </a:pPr>
                <a:r>
                  <a:rPr lang="en-US" sz="2000" b="true">
                    <a:solidFill>
                      <a:schemeClr val="tx1">
                        <a:alpha val="100000"/>
                      </a:schemeClr>
                    </a:solidFill>
                  </a:rPr>
                  <a:t>DQN script output</a:t>
                </a:r>
                <a:endParaRPr/>
              </a:p>
            </p:txBody>
          </p:sp>
        </p:grpSp>
      </p:grpSp>
      <p:sp>
        <p:nvSpPr>
          <p:cNvPr id="75" name="" descr="{&quot;isTemplate&quot;:true,&quot;type&quot;:&quot;title&quot;,&quot;canOmit&quot;:false,&quot;range&quot;:0}"/>
          <p:cNvSpPr txBox="true"/>
          <p:nvPr/>
        </p:nvSpPr>
        <p:spPr>
          <a:xfrm rot="0" flipH="false" flipV="false">
            <a:off x="1029982" y="363474"/>
            <a:ext cx="10852150" cy="806450"/>
          </a:xfrm>
          <a:prstGeom prst="rect">
            <a:avLst/>
          </a:prstGeom>
          <a:noFill/>
        </p:spPr>
        <p:txBody>
          <a:bodyPr wrap="square" lIns="90000" tIns="46800" rIns="90000" bIns="46800" rtlCol="false" anchor="b" anchorCtr="false">
            <a:spAutoFit/>
          </a:bodyPr>
          <a:p>
            <a:pPr marL="0" indent="0" algn="l">
              <a:lnSpc>
                <a:spcPct val="130000"/>
              </a:lnSpc>
              <a:buNone/>
            </a:pPr>
            <a:r>
              <a:rPr lang="en-US" sz="3600" b="true"/>
              <a:t>Experimental Setup</a:t>
            </a:r>
            <a:endParaRPr/>
          </a:p>
        </p:txBody>
      </p:sp>
    </p:spTree>
  </p:cSld>
  <p:clrMapOvr>
    <a:masterClrMapping/>
  </p:clrMapOvr>
</p:sld>
</file>

<file path=ppt/slides/slide5.xml><?xml version="1.0" encoding="utf-8"?>
<p:sld xmlns:a="http://schemas.openxmlformats.org/drawingml/2006/main" xmlns:p="http://schemas.openxmlformats.org/presentationml/2006/main">
  <p:cSld>
    <p:spTree>
      <p:nvGrpSpPr>
        <p:cNvPr id="76" name="" descr="{&quot;isTemplate&quot;:true,&quot;type&quot;:&quot;page&quot;,&quot;originSlideId&quot;:&quot;49e0a6d8&quot;}"/>
        <p:cNvGrpSpPr/>
        <p:nvPr/>
      </p:nvGrpSpPr>
      <p:grpSpPr>
        <a:xfrm>
          <a:off x="0" y="0"/>
          <a:ext cx="0" cy="0"/>
          <a:chOff x="0" y="0"/>
          <a:chExt cx="0" cy="0"/>
        </a:xfrm>
      </p:grpSpPr>
      <p:grpSp>
        <p:nvGrpSpPr>
          <p:cNvPr id="77" name="" descr="{&quot;isTemplate&quot;:true,&quot;type&quot;:&quot;list&quot;,&quot;alignment&quot;:&quot;left&quot;,&quot;alignmentVertical&quot;:&quot;top&quot;,&quot;canOmit&quot;:false,&quot;scalable&quot;:false,&quot;minItemsCount&quot;:0}"/>
          <p:cNvGrpSpPr/>
          <p:nvPr/>
        </p:nvGrpSpPr>
        <p:grpSpPr>
          <a:xfrm rot="0" flipH="false" flipV="false">
            <a:off x="3979137" y="1215988"/>
            <a:ext cx="7173790" cy="5003800"/>
            <a:chOff x="6350000" y="1231900"/>
            <a:chExt cx="5168900" cy="5003800"/>
          </a:xfrm>
        </p:grpSpPr>
        <p:grpSp>
          <p:nvGrpSpPr>
            <p:cNvPr id="78" name=""/>
            <p:cNvGrpSpPr/>
            <p:nvPr/>
          </p:nvGrpSpPr>
          <p:grpSpPr>
            <a:xfrm>
              <a:off x="6350000" y="1231900"/>
              <a:ext cx="5168900" cy="1498600"/>
              <a:chOff x="819150" y="1197264"/>
              <a:chExt cx="5168900" cy="1498600"/>
            </a:xfrm>
          </p:grpSpPr>
          <p:sp>
            <p:nvSpPr>
              <p:cNvPr id="79" name="" descr="{&quot;isTemplate&quot;:true,&quot;type&quot;:&quot;title&quot;,&quot;canOmit&quot;:false}"/>
              <p:cNvSpPr/>
              <p:nvPr/>
            </p:nvSpPr>
            <p:spPr>
              <a:xfrm rot="0" flipH="false" flipV="false">
                <a:off x="819150" y="1197264"/>
                <a:ext cx="5168900" cy="488950"/>
              </a:xfrm>
              <a:prstGeom prst="rect">
                <a:avLst/>
              </a:prstGeom>
              <a:noFill/>
              <a:ln w="0">
                <a:noFill/>
                <a:extLst/>
              </a:ln>
            </p:spPr>
            <p:txBody>
              <a:bodyPr vert="horz" wrap="square" lIns="90043" tIns="46863" rIns="90043" bIns="46863" anchor="t">
                <a:noAutofit/>
              </a:bodyPr>
              <a:lstStyle/>
              <a:p>
                <a:pPr marL="0" lvl="0" indent="0" algn="l" defTabSz="914400">
                  <a:lnSpc>
                    <a:spcPct val="130000"/>
                  </a:lnSpc>
                  <a:buFont typeface="Arial" panose="020B0604020202020204" pitchFamily="34" charset="0"/>
                  <a:buNone/>
                  <a:defRPr sz="2400" b="false" spc="0">
                    <a:solidFill>
                      <a:srgbClr val="000000">
                        <a:alpha val="100000"/>
                      </a:srgbClr>
                    </a:solidFill>
                    <a:latin typeface="Arial"/>
                    <a:ea typeface="Microsoft YaHei"/>
                  </a:defRPr>
                </a:pPr>
                <a:r>
                  <a:rPr lang="en-US" sz="2000" b="true">
                    <a:solidFill>
                      <a:schemeClr val="tx1">
                        <a:alpha val="100000"/>
                      </a:schemeClr>
                    </a:solidFill>
                  </a:rPr>
                  <a:t>Speed and result</a:t>
                </a:r>
                <a:endParaRPr/>
              </a:p>
            </p:txBody>
          </p:sp>
          <p:sp>
            <p:nvSpPr>
              <p:cNvPr id="80" name="" descr="{&quot;isTemplate&quot;:true,&quot;type&quot;:&quot;content&quot;,&quot;canOmit&quot;:true}"/>
              <p:cNvSpPr/>
              <p:nvPr/>
            </p:nvSpPr>
            <p:spPr>
              <a:xfrm rot="0" flipH="false" flipV="false">
                <a:off x="819150" y="1720850"/>
                <a:ext cx="5168900" cy="975014"/>
              </a:xfrm>
              <a:prstGeom prst="rect">
                <a:avLst/>
              </a:prstGeom>
              <a:noFill/>
              <a:ln w="0">
                <a:noFill/>
                <a:extLst/>
              </a:ln>
            </p:spPr>
            <p:txBody>
              <a:bodyPr vert="horz" wrap="square" lIns="90043" tIns="46863" rIns="90043" bIns="46863" anchor="t">
                <a:noAutofit/>
              </a:bodyPr>
              <a:lstStyle/>
              <a:p>
                <a:pPr marL="0" indent="0" algn="l" defTabSz="914400">
                  <a:lnSpc>
                    <a:spcPct val="130000"/>
                  </a:lnSpc>
                  <a:buFont typeface="Arial" panose="020B0604020202020204" pitchFamily="34" charset="0"/>
                  <a:buNone/>
                  <a:defRPr sz="1600" b="false" spc="0">
                    <a:solidFill>
                      <a:srgbClr val="000000">
                        <a:alpha val="100000"/>
                      </a:srgbClr>
                    </a:solidFill>
                    <a:latin typeface="Arial"/>
                    <a:ea typeface="Microsoft YaHei"/>
                  </a:defRPr>
                </a:pPr>
                <a:r>
                  <a:rPr lang="en-US" sz="1600" b="false">
                    <a:solidFill>
                      <a:schemeClr val="tx1">
                        <a:alpha val="100000"/>
                      </a:schemeClr>
                    </a:solidFill>
                  </a:rPr>
                  <a:t>DP took 2.21 milliseconds, GNN took 2.14 milliseconds, and DQN took 19.72 milliseconds. The data shows that the average running time of GNN is the fastest among this set of Settings.</a:t>
                </a:r>
                <a:endParaRPr/>
              </a:p>
            </p:txBody>
          </p:sp>
          <p:sp>
            <p:nvSpPr>
              <p:cNvPr id="81" name=""/>
              <p:cNvSpPr/>
              <p:nvPr/>
            </p:nvSpPr>
            <p:spPr>
              <a:xfrm rot="0" flipH="false" flipV="false">
                <a:off x="911514" y="1651578"/>
                <a:ext cx="1009522" cy="69271"/>
              </a:xfrm>
              <a:prstGeom prst="rect">
                <a:avLst/>
              </a:prstGeom>
              <a:solidFill>
                <a:schemeClr val="accent1">
                  <a:lumMod val="40000"/>
                  <a:lumOff val="60000"/>
                  <a:alpha val="100000"/>
                </a:schemeClr>
              </a:solidFill>
              <a:ln w="0">
                <a:noFill/>
              </a:ln>
            </p:spPr>
            <p:txBody>
              <a:bodyPr anchor="ctr"/>
              <a:p>
                <a:pPr algn="ctr"/>
                <a:endParaRPr/>
              </a:p>
            </p:txBody>
          </p:sp>
        </p:grpSp>
        <p:grpSp>
          <p:nvGrpSpPr>
            <p:cNvPr id="82" name=""/>
            <p:cNvGrpSpPr/>
            <p:nvPr/>
          </p:nvGrpSpPr>
          <p:grpSpPr>
            <a:xfrm>
              <a:off x="6350000" y="2984500"/>
              <a:ext cx="5168900" cy="1498600"/>
              <a:chOff x="911514" y="3629446"/>
              <a:chExt cx="5168900" cy="1498600"/>
            </a:xfrm>
          </p:grpSpPr>
          <p:sp>
            <p:nvSpPr>
              <p:cNvPr id="83" name="" descr="{&quot;isTemplate&quot;:true,&quot;type&quot;:&quot;title&quot;,&quot;canOmit&quot;:false}"/>
              <p:cNvSpPr/>
              <p:nvPr/>
            </p:nvSpPr>
            <p:spPr>
              <a:xfrm rot="0" flipH="false" flipV="false">
                <a:off x="911514" y="3629446"/>
                <a:ext cx="5168900" cy="488950"/>
              </a:xfrm>
              <a:prstGeom prst="rect">
                <a:avLst/>
              </a:prstGeom>
              <a:noFill/>
              <a:ln w="0">
                <a:noFill/>
                <a:extLst/>
              </a:ln>
            </p:spPr>
            <p:txBody>
              <a:bodyPr vert="horz" wrap="square" lIns="90043" tIns="46863" rIns="90043" bIns="46863" anchor="t">
                <a:noAutofit/>
              </a:bodyPr>
              <a:lstStyle/>
              <a:p>
                <a:pPr marL="0" lvl="0" indent="0" algn="l" defTabSz="914400">
                  <a:lnSpc>
                    <a:spcPct val="130000"/>
                  </a:lnSpc>
                  <a:buFont typeface="Arial" panose="020B0604020202020204" pitchFamily="34" charset="0"/>
                  <a:buNone/>
                  <a:defRPr sz="2400" b="false" spc="0">
                    <a:solidFill>
                      <a:srgbClr val="000000">
                        <a:alpha val="100000"/>
                      </a:srgbClr>
                    </a:solidFill>
                    <a:latin typeface="Arial"/>
                    <a:ea typeface="Microsoft YaHei"/>
                  </a:defRPr>
                </a:pPr>
                <a:r>
                  <a:rPr lang="en-US" sz="2000" b="true">
                    <a:solidFill>
                      <a:schemeClr val="tx1">
                        <a:alpha val="100000"/>
                      </a:schemeClr>
                    </a:solidFill>
                  </a:rPr>
                  <a:t>Quality and clearance conditions</a:t>
                </a:r>
                <a:endParaRPr/>
              </a:p>
            </p:txBody>
          </p:sp>
          <p:sp>
            <p:nvSpPr>
              <p:cNvPr id="84" name="" descr="{&quot;isTemplate&quot;:true,&quot;type&quot;:&quot;content&quot;,&quot;canOmit&quot;:true}"/>
              <p:cNvSpPr/>
              <p:nvPr/>
            </p:nvSpPr>
            <p:spPr>
              <a:xfrm rot="0" flipH="false" flipV="false">
                <a:off x="911514" y="4122593"/>
                <a:ext cx="5168900" cy="975014"/>
              </a:xfrm>
              <a:prstGeom prst="rect">
                <a:avLst/>
              </a:prstGeom>
              <a:noFill/>
              <a:ln w="0">
                <a:noFill/>
                <a:extLst/>
              </a:ln>
            </p:spPr>
            <p:txBody>
              <a:bodyPr vert="horz" wrap="square" lIns="90043" tIns="46863" rIns="90043" bIns="46863" anchor="t">
                <a:noAutofit/>
              </a:bodyPr>
              <a:lstStyle/>
              <a:p>
                <a:pPr marL="0" indent="0" algn="l" defTabSz="914400">
                  <a:lnSpc>
                    <a:spcPct val="130000"/>
                  </a:lnSpc>
                  <a:buFont typeface="Arial" panose="020B0604020202020204" pitchFamily="34" charset="0"/>
                  <a:buNone/>
                  <a:defRPr sz="1600" b="false" spc="0">
                    <a:solidFill>
                      <a:srgbClr val="000000">
                        <a:alpha val="100000"/>
                      </a:srgbClr>
                    </a:solidFill>
                    <a:latin typeface="Arial"/>
                    <a:ea typeface="Microsoft YaHei"/>
                  </a:defRPr>
                </a:pPr>
                <a:r>
                  <a:rPr lang="en-US" sz="1600" b="false">
                    <a:solidFill>
                      <a:schemeClr val="tx1">
                        <a:alpha val="100000"/>
                      </a:schemeClr>
                    </a:solidFill>
                  </a:rPr>
                  <a:t>The DP gap is 0 with a mass of 100%, the GNN gap is 0.0168 with a mass of 98.32%, and the DQN gap is 0.1516 with a mass of 84.84%, reflecting different quality levels.</a:t>
                </a:r>
                <a:endParaRPr/>
              </a:p>
            </p:txBody>
          </p:sp>
          <p:sp>
            <p:nvSpPr>
              <p:cNvPr id="85" name=""/>
              <p:cNvSpPr/>
              <p:nvPr/>
            </p:nvSpPr>
            <p:spPr>
              <a:xfrm rot="0" flipH="false" flipV="false">
                <a:off x="1003878" y="4083760"/>
                <a:ext cx="1009522" cy="69271"/>
              </a:xfrm>
              <a:prstGeom prst="rect">
                <a:avLst/>
              </a:prstGeom>
              <a:solidFill>
                <a:schemeClr val="accent2">
                  <a:lumMod val="40000"/>
                  <a:lumOff val="60000"/>
                  <a:alpha val="100000"/>
                </a:schemeClr>
              </a:solidFill>
              <a:ln w="0">
                <a:noFill/>
              </a:ln>
            </p:spPr>
            <p:txBody>
              <a:bodyPr anchor="ctr"/>
              <a:p>
                <a:pPr algn="ctr"/>
                <a:endParaRPr/>
              </a:p>
            </p:txBody>
          </p:sp>
        </p:grpSp>
        <p:grpSp>
          <p:nvGrpSpPr>
            <p:cNvPr id="86" name=""/>
            <p:cNvGrpSpPr/>
            <p:nvPr/>
          </p:nvGrpSpPr>
          <p:grpSpPr>
            <a:xfrm>
              <a:off x="6350000" y="4737100"/>
              <a:ext cx="5168900" cy="1498600"/>
              <a:chOff x="819150" y="1197264"/>
              <a:chExt cx="5168900" cy="1498600"/>
            </a:xfrm>
          </p:grpSpPr>
          <p:sp>
            <p:nvSpPr>
              <p:cNvPr id="87" name="" descr="{&quot;isTemplate&quot;:true,&quot;type&quot;:&quot;title&quot;,&quot;canOmit&quot;:false}"/>
              <p:cNvSpPr/>
              <p:nvPr/>
            </p:nvSpPr>
            <p:spPr>
              <a:xfrm rot="0" flipH="false" flipV="false">
                <a:off x="819150" y="1197264"/>
                <a:ext cx="5168900" cy="488950"/>
              </a:xfrm>
              <a:prstGeom prst="rect">
                <a:avLst/>
              </a:prstGeom>
              <a:noFill/>
              <a:ln w="0">
                <a:noFill/>
                <a:extLst/>
              </a:ln>
            </p:spPr>
            <p:txBody>
              <a:bodyPr vert="horz" wrap="square" lIns="90043" tIns="46863" rIns="90043" bIns="46863" anchor="t">
                <a:noAutofit/>
              </a:bodyPr>
              <a:lstStyle/>
              <a:p>
                <a:pPr marL="0" lvl="0" indent="0" algn="l" defTabSz="914400">
                  <a:lnSpc>
                    <a:spcPct val="130000"/>
                  </a:lnSpc>
                  <a:buFont typeface="Arial" panose="020B0604020202020204" pitchFamily="34" charset="0"/>
                  <a:buNone/>
                  <a:defRPr sz="2400" b="false" spc="0">
                    <a:solidFill>
                      <a:srgbClr val="000000">
                        <a:alpha val="100000"/>
                      </a:srgbClr>
                    </a:solidFill>
                    <a:latin typeface="Arial"/>
                    <a:ea typeface="Microsoft YaHei"/>
                  </a:defRPr>
                </a:pPr>
                <a:r>
                  <a:rPr lang="en-US" sz="2000" b="true">
                    <a:solidFill>
                      <a:schemeClr val="tx1">
                        <a:alpha val="100000"/>
                      </a:schemeClr>
                    </a:solidFill>
                  </a:rPr>
                  <a:t>Summary of Method Characteristics</a:t>
                </a:r>
                <a:endParaRPr/>
              </a:p>
            </p:txBody>
          </p:sp>
          <p:sp>
            <p:nvSpPr>
              <p:cNvPr id="88" name="" descr="{&quot;isTemplate&quot;:true,&quot;type&quot;:&quot;content&quot;,&quot;canOmit&quot;:true}"/>
              <p:cNvSpPr/>
              <p:nvPr/>
            </p:nvSpPr>
            <p:spPr>
              <a:xfrm rot="0" flipH="false" flipV="false">
                <a:off x="819150" y="1720850"/>
                <a:ext cx="5168900" cy="975014"/>
              </a:xfrm>
              <a:prstGeom prst="rect">
                <a:avLst/>
              </a:prstGeom>
              <a:noFill/>
              <a:ln w="0">
                <a:noFill/>
                <a:extLst/>
              </a:ln>
            </p:spPr>
            <p:txBody>
              <a:bodyPr vert="horz" wrap="square" lIns="90043" tIns="46863" rIns="90043" bIns="46863" anchor="t">
                <a:noAutofit/>
              </a:bodyPr>
              <a:lstStyle/>
              <a:p>
                <a:pPr marL="0" indent="0" algn="l" defTabSz="914400">
                  <a:lnSpc>
                    <a:spcPct val="130000"/>
                  </a:lnSpc>
                  <a:buFont typeface="Arial" panose="020B0604020202020204" pitchFamily="34" charset="0"/>
                  <a:buNone/>
                  <a:defRPr sz="1600" b="false" spc="0">
                    <a:solidFill>
                      <a:srgbClr val="000000">
                        <a:alpha val="100000"/>
                      </a:srgbClr>
                    </a:solidFill>
                    <a:latin typeface="Arial"/>
                    <a:ea typeface="Microsoft YaHei"/>
                  </a:defRPr>
                </a:pPr>
                <a:r>
                  <a:rPr lang="en-US" sz="1600" b="false">
                    <a:solidFill>
                      <a:schemeClr val="tx1">
                        <a:alpha val="100000"/>
                      </a:schemeClr>
                    </a:solidFill>
                  </a:rPr>
                  <a:t>DP is precise but has expansion bottlenecks, GNN is close to optimal quality and fast, DQN is slow and has low accuracy, and the inference cost may increase due to decision-making.</a:t>
                </a:r>
                <a:endParaRPr/>
              </a:p>
            </p:txBody>
          </p:sp>
          <p:sp>
            <p:nvSpPr>
              <p:cNvPr id="89" name=""/>
              <p:cNvSpPr/>
              <p:nvPr/>
            </p:nvSpPr>
            <p:spPr>
              <a:xfrm rot="0" flipH="false" flipV="false">
                <a:off x="911514" y="1651578"/>
                <a:ext cx="1009522" cy="69271"/>
              </a:xfrm>
              <a:prstGeom prst="rect">
                <a:avLst/>
              </a:prstGeom>
              <a:solidFill>
                <a:schemeClr val="accent1">
                  <a:lumMod val="40000"/>
                  <a:lumOff val="60000"/>
                  <a:alpha val="100000"/>
                </a:schemeClr>
              </a:solidFill>
              <a:ln w="0">
                <a:noFill/>
              </a:ln>
            </p:spPr>
            <p:txBody>
              <a:bodyPr anchor="ctr"/>
              <a:p>
                <a:pPr algn="ctr"/>
                <a:endParaRPr/>
              </a:p>
            </p:txBody>
          </p:sp>
        </p:grpSp>
      </p:grpSp>
      <p:sp>
        <p:nvSpPr>
          <p:cNvPr id="90" name="" descr="{&quot;isTemplate&quot;:true,&quot;type&quot;:&quot;title&quot;,&quot;canOmit&quot;:false,&quot;range&quot;:0}"/>
          <p:cNvSpPr txBox="true"/>
          <p:nvPr/>
        </p:nvSpPr>
        <p:spPr>
          <a:xfrm rot="0" flipH="false" flipV="false">
            <a:off x="3979137" y="444174"/>
            <a:ext cx="7778750" cy="806450"/>
          </a:xfrm>
          <a:prstGeom prst="rect">
            <a:avLst/>
          </a:prstGeom>
          <a:noFill/>
        </p:spPr>
        <p:txBody>
          <a:bodyPr wrap="square" lIns="90000" tIns="46800" rIns="90000" bIns="46800" rtlCol="false" anchor="b" anchorCtr="false">
            <a:spAutoFit/>
          </a:bodyPr>
          <a:p>
            <a:pPr marL="0" indent="0" algn="l">
              <a:lnSpc>
                <a:spcPct val="130000"/>
              </a:lnSpc>
              <a:buNone/>
            </a:pPr>
            <a:r>
              <a:rPr lang="en-US" sz="3600" b="true"/>
              <a:t>Result</a:t>
            </a:r>
            <a:endParaRPr/>
          </a:p>
        </p:txBody>
      </p:sp>
    </p:spTree>
  </p:cSld>
  <p:clrMapOvr>
    <a:masterClrMapping/>
  </p:clrMapOvr>
</p:sld>
</file>

<file path=ppt/slides/slide6.xml><?xml version="1.0" encoding="utf-8"?>
<p:sld xmlns:a="http://schemas.openxmlformats.org/drawingml/2006/main" xmlns:p="http://schemas.openxmlformats.org/presentationml/2006/main">
  <p:cSld>
    <p:spTree>
      <p:nvGrpSpPr>
        <p:cNvPr id="91" name="" descr="{&quot;isTemplate&quot;:true,&quot;type&quot;:&quot;page&quot;,&quot;originSlideId&quot;:&quot;5a3fc136&quot;}"/>
        <p:cNvGrpSpPr/>
        <p:nvPr/>
      </p:nvGrpSpPr>
      <p:grpSpPr>
        <a:xfrm>
          <a:off x="0" y="0"/>
          <a:ext cx="0" cy="0"/>
          <a:chOff x="0" y="0"/>
          <a:chExt cx="0" cy="0"/>
        </a:xfrm>
      </p:grpSpPr>
      <p:sp>
        <p:nvSpPr>
          <p:cNvPr id="92" name="Shape 1627"/>
          <p:cNvSpPr/>
          <p:nvPr/>
        </p:nvSpPr>
        <p:spPr>
          <a:xfrm rot="0" flipH="true" flipV="true">
            <a:off x="3980683" y="2831768"/>
            <a:ext cx="17207" cy="2478881"/>
          </a:xfrm>
          <a:prstGeom prst="line"/>
          <a:ln w="12700">
            <a:solidFill>
              <a:schemeClr val="tx2">
                <a:alpha val="100000"/>
              </a:schemeClr>
            </a:solidFill>
            <a:miter lim="800000"/>
          </a:ln>
        </p:spPr>
        <p:txBody>
          <a:bodyPr lIns="25400" tIns="25400" rIns="25400" bIns="25400" anchor="ctr"/>
          <a:p>
            <a:pPr defTabSz="1217476">
              <a:lnSpc>
                <a:spcPct val="130000"/>
              </a:lnSpc>
            </a:pPr>
            <a:endParaRPr sz="1600">
              <a:solidFill>
                <a:schemeClr val="tx1">
                  <a:lumMod val="75000"/>
                  <a:lumOff val="25000"/>
                  <a:alpha val="100000"/>
                </a:schemeClr>
              </a:solidFill>
            </a:endParaRPr>
          </a:p>
        </p:txBody>
      </p:sp>
      <p:sp>
        <p:nvSpPr>
          <p:cNvPr id="93" name="Shape 1628"/>
          <p:cNvSpPr/>
          <p:nvPr/>
        </p:nvSpPr>
        <p:spPr>
          <a:xfrm rot="0" flipH="true" flipV="true">
            <a:off x="5177529" y="2084234"/>
            <a:ext cx="17209" cy="2894328"/>
          </a:xfrm>
          <a:prstGeom prst="line"/>
          <a:ln w="12700">
            <a:solidFill>
              <a:schemeClr val="tx2">
                <a:alpha val="100000"/>
              </a:schemeClr>
            </a:solidFill>
            <a:miter lim="800000"/>
          </a:ln>
        </p:spPr>
        <p:txBody>
          <a:bodyPr lIns="25400" tIns="25400" rIns="25400" bIns="25400" anchor="ctr"/>
          <a:p>
            <a:pPr defTabSz="1217476">
              <a:lnSpc>
                <a:spcPct val="130000"/>
              </a:lnSpc>
            </a:pPr>
            <a:endParaRPr sz="1600">
              <a:solidFill>
                <a:schemeClr val="tx1">
                  <a:lumMod val="75000"/>
                  <a:lumOff val="25000"/>
                  <a:alpha val="100000"/>
                </a:schemeClr>
              </a:solidFill>
            </a:endParaRPr>
          </a:p>
        </p:txBody>
      </p:sp>
      <p:sp>
        <p:nvSpPr>
          <p:cNvPr id="94" name="Shape 1629"/>
          <p:cNvSpPr/>
          <p:nvPr/>
        </p:nvSpPr>
        <p:spPr>
          <a:xfrm rot="0" flipH="true" flipV="true">
            <a:off x="7515069" y="3647739"/>
            <a:ext cx="17208" cy="1058626"/>
          </a:xfrm>
          <a:prstGeom prst="line"/>
          <a:ln w="12700">
            <a:solidFill>
              <a:schemeClr val="tx2">
                <a:alpha val="100000"/>
              </a:schemeClr>
            </a:solidFill>
            <a:miter lim="800000"/>
          </a:ln>
        </p:spPr>
        <p:txBody>
          <a:bodyPr lIns="25400" tIns="25400" rIns="25400" bIns="25400" anchor="ctr"/>
          <a:p>
            <a:pPr defTabSz="1217476">
              <a:lnSpc>
                <a:spcPct val="130000"/>
              </a:lnSpc>
            </a:pPr>
            <a:endParaRPr sz="1600">
              <a:solidFill>
                <a:schemeClr val="tx1">
                  <a:lumMod val="75000"/>
                  <a:lumOff val="25000"/>
                  <a:alpha val="100000"/>
                </a:schemeClr>
              </a:solidFill>
            </a:endParaRPr>
          </a:p>
        </p:txBody>
      </p:sp>
      <p:sp>
        <p:nvSpPr>
          <p:cNvPr id="95" name="Shape 1624"/>
          <p:cNvSpPr/>
          <p:nvPr/>
        </p:nvSpPr>
        <p:spPr>
          <a:xfrm rot="0" flipH="false" flipV="false">
            <a:off x="2364642" y="2517247"/>
            <a:ext cx="7882984" cy="3879851"/>
          </a:xfrm>
          <a:custGeom>
            <a:rect l="0" t="0" r="r" b="b"/>
            <a:pathLst>
              <a:path w="6928275" h="3879851">
                <a:moveTo>
                  <a:pt x="0" y="3879851"/>
                </a:moveTo>
                <a:cubicBezTo>
                  <a:pt x="554904" y="3048198"/>
                  <a:pt x="1300655" y="2386108"/>
                  <a:pt x="2262916" y="1851551"/>
                </a:cubicBezTo>
                <a:cubicBezTo>
                  <a:pt x="3238969" y="1309450"/>
                  <a:pt x="4458794" y="893264"/>
                  <a:pt x="5895449" y="516775"/>
                </a:cubicBezTo>
                <a:lnTo>
                  <a:pt x="5837072" y="0"/>
                </a:lnTo>
                <a:lnTo>
                  <a:pt x="6928275" y="826803"/>
                </a:lnTo>
                <a:lnTo>
                  <a:pt x="6069939" y="2066919"/>
                </a:lnTo>
                <a:lnTo>
                  <a:pt x="6011882" y="1550144"/>
                </a:lnTo>
                <a:cubicBezTo>
                  <a:pt x="4700642" y="1753836"/>
                  <a:pt x="3550420" y="2003692"/>
                  <a:pt x="2567311" y="2368326"/>
                </a:cubicBezTo>
                <a:cubicBezTo>
                  <a:pt x="1566881" y="2739426"/>
                  <a:pt x="719129" y="3233030"/>
                  <a:pt x="0" y="3879851"/>
                </a:cubicBezTo>
                <a:close/>
              </a:path>
            </a:pathLst>
          </a:custGeom>
          <a:solidFill>
            <a:schemeClr val="accent1">
              <a:lumMod val="60000"/>
              <a:lumOff val="40000"/>
              <a:alpha val="100000"/>
            </a:schemeClr>
          </a:solidFill>
          <a:ln w="38100">
            <a:solidFill>
              <a:schemeClr val="bg1"/>
            </a:solidFill>
            <a:miter lim="800000"/>
          </a:ln>
          <a:effectLst/>
        </p:spPr>
        <p:txBody>
          <a:bodyPr lIns="0" tIns="0" rIns="0" bIns="0"/>
          <a:p>
            <a:pPr defTabSz="1217476">
              <a:lnSpc>
                <a:spcPct val="130000"/>
              </a:lnSpc>
            </a:pPr>
            <a:endParaRPr sz="1600">
              <a:solidFill>
                <a:schemeClr val="tx1">
                  <a:lumMod val="75000"/>
                  <a:lumOff val="25000"/>
                  <a:alpha val="100000"/>
                </a:schemeClr>
              </a:solidFill>
            </a:endParaRPr>
          </a:p>
        </p:txBody>
      </p:sp>
      <p:sp>
        <p:nvSpPr>
          <p:cNvPr id="96" name="Shape 1654"/>
          <p:cNvSpPr/>
          <p:nvPr/>
        </p:nvSpPr>
        <p:spPr>
          <a:xfrm rot="0" flipH="false" flipV="false">
            <a:off x="3818129" y="4714040"/>
            <a:ext cx="179764" cy="179764"/>
          </a:xfrm>
          <a:custGeom>
            <a:rect l="0" t="0" r="r" b="b"/>
            <a:pathLst>
              <a:path w="179764" h="179764">
                <a:moveTo>
                  <a:pt x="153428" y="26327"/>
                </a:moveTo>
                <a:cubicBezTo>
                  <a:pt x="188533" y="61422"/>
                  <a:pt x="188533" y="118332"/>
                  <a:pt x="153428" y="153428"/>
                </a:cubicBezTo>
                <a:cubicBezTo>
                  <a:pt x="118332" y="188533"/>
                  <a:pt x="61422" y="188533"/>
                  <a:pt x="26327" y="153428"/>
                </a:cubicBezTo>
                <a:cubicBezTo>
                  <a:pt x="-8779" y="118332"/>
                  <a:pt x="-8779" y="61422"/>
                  <a:pt x="26327" y="26327"/>
                </a:cubicBezTo>
                <a:cubicBezTo>
                  <a:pt x="61422" y="-8779"/>
                  <a:pt x="118332" y="-8779"/>
                  <a:pt x="153428" y="26327"/>
                </a:cubicBezTo>
              </a:path>
            </a:pathLst>
          </a:custGeom>
          <a:solidFill>
            <a:schemeClr val="bg1">
              <a:alpha val="100000"/>
            </a:schemeClr>
          </a:solidFill>
          <a:ln w="12700">
            <a:miter lim="800000"/>
          </a:ln>
        </p:spPr>
        <p:txBody>
          <a:bodyPr lIns="0" tIns="0" rIns="0" bIns="0"/>
          <a:p>
            <a:pPr defTabSz="1217476">
              <a:lnSpc>
                <a:spcPct val="130000"/>
              </a:lnSpc>
            </a:pPr>
            <a:endParaRPr sz="1600">
              <a:solidFill>
                <a:schemeClr val="tx1">
                  <a:lumMod val="75000"/>
                  <a:lumOff val="25000"/>
                  <a:alpha val="100000"/>
                </a:schemeClr>
              </a:solidFill>
            </a:endParaRPr>
          </a:p>
        </p:txBody>
      </p:sp>
      <p:sp>
        <p:nvSpPr>
          <p:cNvPr id="97" name="Shape 1655"/>
          <p:cNvSpPr/>
          <p:nvPr/>
        </p:nvSpPr>
        <p:spPr>
          <a:xfrm rot="0" flipH="false" flipV="false">
            <a:off x="5044782" y="4021868"/>
            <a:ext cx="231073" cy="231072"/>
          </a:xfrm>
          <a:custGeom>
            <a:rect l="0" t="0" r="r" b="b"/>
            <a:pathLst>
              <a:path w="231073" h="231072">
                <a:moveTo>
                  <a:pt x="197220" y="33841"/>
                </a:moveTo>
                <a:cubicBezTo>
                  <a:pt x="242345" y="78954"/>
                  <a:pt x="242345" y="152107"/>
                  <a:pt x="197220" y="197220"/>
                </a:cubicBezTo>
                <a:cubicBezTo>
                  <a:pt x="152107" y="242344"/>
                  <a:pt x="78954" y="242344"/>
                  <a:pt x="33841" y="197220"/>
                </a:cubicBezTo>
                <a:cubicBezTo>
                  <a:pt x="-11284" y="152107"/>
                  <a:pt x="-11284" y="78954"/>
                  <a:pt x="33841" y="33841"/>
                </a:cubicBezTo>
                <a:cubicBezTo>
                  <a:pt x="78954" y="-11284"/>
                  <a:pt x="152107" y="-11284"/>
                  <a:pt x="197220" y="33841"/>
                </a:cubicBezTo>
              </a:path>
            </a:pathLst>
          </a:custGeom>
          <a:solidFill>
            <a:schemeClr val="bg1">
              <a:alpha val="100000"/>
            </a:schemeClr>
          </a:solidFill>
          <a:ln w="12700">
            <a:miter lim="800000"/>
          </a:ln>
        </p:spPr>
        <p:txBody>
          <a:bodyPr lIns="0" tIns="0" rIns="0" bIns="0"/>
          <a:p>
            <a:pPr defTabSz="1217476">
              <a:lnSpc>
                <a:spcPct val="130000"/>
              </a:lnSpc>
            </a:pPr>
            <a:endParaRPr sz="1600">
              <a:solidFill>
                <a:schemeClr val="tx1">
                  <a:lumMod val="75000"/>
                  <a:lumOff val="25000"/>
                  <a:alpha val="100000"/>
                </a:schemeClr>
              </a:solidFill>
            </a:endParaRPr>
          </a:p>
        </p:txBody>
      </p:sp>
      <p:sp>
        <p:nvSpPr>
          <p:cNvPr id="98" name="Shape 1656"/>
          <p:cNvSpPr/>
          <p:nvPr/>
        </p:nvSpPr>
        <p:spPr>
          <a:xfrm>
            <a:off x="7386286" y="3205368"/>
            <a:ext cx="285751" cy="285751"/>
          </a:xfrm>
          <a:custGeom>
            <a:rect l="0" t="0" r="r" b="b"/>
            <a:pathLst>
              <a:path w="285751" h="285751">
                <a:moveTo>
                  <a:pt x="243888" y="41848"/>
                </a:moveTo>
                <a:cubicBezTo>
                  <a:pt x="299691" y="97637"/>
                  <a:pt x="299691" y="188100"/>
                  <a:pt x="243888" y="243888"/>
                </a:cubicBezTo>
                <a:cubicBezTo>
                  <a:pt x="188100" y="299691"/>
                  <a:pt x="97637" y="299691"/>
                  <a:pt x="41848" y="243888"/>
                </a:cubicBezTo>
                <a:cubicBezTo>
                  <a:pt x="-13954" y="188100"/>
                  <a:pt x="-13954" y="97637"/>
                  <a:pt x="41848" y="41848"/>
                </a:cubicBezTo>
                <a:cubicBezTo>
                  <a:pt x="97637" y="-13954"/>
                  <a:pt x="188100" y="-13954"/>
                  <a:pt x="243888" y="41848"/>
                </a:cubicBezTo>
              </a:path>
            </a:pathLst>
          </a:custGeom>
          <a:solidFill>
            <a:schemeClr val="bg1">
              <a:alpha val="100000"/>
            </a:schemeClr>
          </a:solidFill>
          <a:ln w="12700">
            <a:miter lim="800000"/>
          </a:ln>
        </p:spPr>
        <p:txBody>
          <a:bodyPr lIns="0" tIns="0" rIns="0" bIns="0"/>
          <a:p>
            <a:pPr defTabSz="1217476">
              <a:lnSpc>
                <a:spcPct val="130000"/>
              </a:lnSpc>
            </a:pPr>
            <a:endParaRPr sz="1600">
              <a:solidFill>
                <a:schemeClr val="tx1">
                  <a:lumMod val="75000"/>
                  <a:lumOff val="25000"/>
                  <a:alpha val="100000"/>
                </a:schemeClr>
              </a:solidFill>
            </a:endParaRPr>
          </a:p>
        </p:txBody>
      </p:sp>
      <p:grpSp>
        <p:nvGrpSpPr>
          <p:cNvPr id="99" name="" descr="{&quot;isTemplate&quot;:true,&quot;type&quot;:&quot;list&quot;,&quot;alignment&quot;:&quot;left&quot;,&quot;alignmentVertical&quot;:&quot;top&quot;,&quot;canOmit&quot;:false,&quot;scalable&quot;:false,&quot;minItemsCount&quot;:0}"/>
          <p:cNvGrpSpPr/>
          <p:nvPr/>
        </p:nvGrpSpPr>
        <p:grpSpPr>
          <a:xfrm>
            <a:off x="658192" y="1236883"/>
            <a:ext cx="11095698" cy="5539195"/>
            <a:chOff x="658192" y="1236883"/>
            <a:chExt cx="11095698" cy="5539195"/>
          </a:xfrm>
        </p:grpSpPr>
        <p:grpSp>
          <p:nvGrpSpPr>
            <p:cNvPr id="100" name=""/>
            <p:cNvGrpSpPr/>
            <p:nvPr/>
          </p:nvGrpSpPr>
          <p:grpSpPr>
            <a:xfrm>
              <a:off x="658192" y="2436357"/>
              <a:ext cx="3500032" cy="2247899"/>
              <a:chOff x="658192" y="2436357"/>
              <a:chExt cx="3500032" cy="2247899"/>
            </a:xfrm>
          </p:grpSpPr>
          <p:sp>
            <p:nvSpPr>
              <p:cNvPr id="101" name="Shape 1636"/>
              <p:cNvSpPr/>
              <p:nvPr/>
            </p:nvSpPr>
            <p:spPr>
              <a:xfrm rot="0" flipH="false" flipV="false">
                <a:off x="3679657" y="2558789"/>
                <a:ext cx="478567" cy="478565"/>
              </a:xfrm>
              <a:custGeom>
                <a:rect l="0" t="0" r="r" b="b"/>
                <a:pathLst>
                  <a:path w="478567" h="478565">
                    <a:moveTo>
                      <a:pt x="408456" y="70086"/>
                    </a:moveTo>
                    <a:cubicBezTo>
                      <a:pt x="501913" y="163518"/>
                      <a:pt x="501913" y="315023"/>
                      <a:pt x="408456" y="408455"/>
                    </a:cubicBezTo>
                    <a:cubicBezTo>
                      <a:pt x="315024" y="501911"/>
                      <a:pt x="163519" y="501911"/>
                      <a:pt x="70086" y="408455"/>
                    </a:cubicBezTo>
                    <a:cubicBezTo>
                      <a:pt x="-23370" y="315023"/>
                      <a:pt x="-23370" y="163518"/>
                      <a:pt x="70086" y="70086"/>
                    </a:cubicBezTo>
                    <a:cubicBezTo>
                      <a:pt x="163519" y="-23370"/>
                      <a:pt x="315024" y="-23370"/>
                      <a:pt x="408456" y="70086"/>
                    </a:cubicBezTo>
                    <a:close/>
                  </a:path>
                </a:pathLst>
              </a:custGeom>
              <a:solidFill>
                <a:schemeClr val="accent1">
                  <a:alpha val="100000"/>
                </a:schemeClr>
              </a:solidFill>
              <a:ln w="0"/>
              <a:effectLst/>
            </p:spPr>
            <p:txBody>
              <a:bodyPr wrap="square" lIns="19051" tIns="19051" rIns="19051" bIns="19051" numCol="1" anchor="ctr">
                <a:noAutofit/>
              </a:bodyPr>
              <a:p>
                <a:pPr defTabSz="1217476">
                  <a:lnSpc>
                    <a:spcPct val="130000"/>
                  </a:lnSpc>
                </a:pPr>
                <a:endParaRPr sz="1600">
                  <a:solidFill>
                    <a:schemeClr val="bg1">
                      <a:alpha val="100000"/>
                    </a:schemeClr>
                  </a:solidFill>
                </a:endParaRPr>
              </a:p>
            </p:txBody>
          </p:sp>
          <p:sp>
            <p:nvSpPr>
              <p:cNvPr id="102" name="Text Placeholder 4" descr="{&quot;isTemplate&quot;:true,&quot;type&quot;:&quot;serialNumber&quot;}"/>
              <p:cNvSpPr txBox="true"/>
              <p:nvPr/>
            </p:nvSpPr>
            <p:spPr>
              <a:xfrm rot="0" flipH="false" flipV="false">
                <a:off x="3786701" y="2636612"/>
                <a:ext cx="257140" cy="309052"/>
              </a:xfrm>
              <a:prstGeom prst="rect"/>
            </p:spPr>
            <p:txBody>
              <a:bodyPr vert="horz" lIns="0" tIns="0" rIns="0" bIns="0" anchor="ctr">
                <a:normAutofit fontScale="100000"/>
              </a:bodyPr>
              <a:lstStyle/>
              <a:p>
                <a:pPr algn="ctr" defTabSz="1219170">
                  <a:lnSpc>
                    <a:spcPct val="130000"/>
                  </a:lnSpc>
                  <a:spcBef>
                    <a:spcPts val="0"/>
                  </a:spcBef>
                  <a:buFont typeface="Arial" charset="0"/>
                  <a:buNone/>
                </a:pPr>
                <a:r>
                  <a:rPr sz="1400" b="true">
                    <a:solidFill>
                      <a:schemeClr val="bg1"/>
                    </a:solidFill>
                  </a:rPr>
                  <a:t>01</a:t>
                </a:r>
                <a:endParaRPr/>
              </a:p>
            </p:txBody>
          </p:sp>
          <p:sp>
            <p:nvSpPr>
              <p:cNvPr id="103" name="" descr="{&quot;isTemplate&quot;:true,&quot;type&quot;:&quot;content&quot;,&quot;canOmit&quot;:true}"/>
              <p:cNvSpPr/>
              <p:nvPr/>
            </p:nvSpPr>
            <p:spPr>
              <a:xfrm rot="0" flipH="false" flipV="false">
                <a:off x="658192" y="2925306"/>
                <a:ext cx="3159936" cy="1758950"/>
              </a:xfrm>
              <a:prstGeom prst="rect">
                <a:avLst/>
              </a:prstGeom>
              <a:ln/>
            </p:spPr>
            <p:txBody>
              <a:bodyPr vert="horz" wrap="square" lIns="90043" tIns="46863" rIns="90043" bIns="46863">
                <a:noAutofit/>
              </a:bodyPr>
              <a:lstStyle/>
              <a:p>
                <a:pPr marL="0" lvl="0" indent="0" algn="l" defTabSz="866943">
                  <a:lnSpc>
                    <a:spcPct val="130000"/>
                  </a:lnSpc>
                  <a:spcBef>
                    <a:spcPct val="1"/>
                  </a:spcBef>
                  <a:spcAft>
                    <a:spcPct val="1"/>
                  </a:spcAft>
                  <a:buClrTx/>
                  <a:buSzTx/>
                  <a:buFontTx/>
                  <a:buNone/>
                  <a:defRPr sz="1800">
                    <a:solidFill>
                      <a:schemeClr val="tx1">
                        <a:alpha val="100000"/>
                      </a:schemeClr>
                    </a:solidFill>
                    <a:latin typeface="Arial"/>
                    <a:ea typeface="Microsoft YaHei"/>
                  </a:defRPr>
                </a:pPr>
                <a:r>
                  <a:rPr lang="en-US" sz="1600" b="false">
                    <a:solidFill>
                      <a:schemeClr val="tx1">
                        <a:alpha val="100000"/>
                      </a:schemeClr>
                    </a:solidFill>
                  </a:rPr>
                  <a:t>Dynamic programming can provide the optimal solution, but it has a high computational cost. Taking the common path planning problem as an example, its solution time increases exponentially with the scale.</a:t>
                </a:r>
                <a:endParaRPr/>
              </a:p>
            </p:txBody>
          </p:sp>
          <p:sp>
            <p:nvSpPr>
              <p:cNvPr id="104" name="" descr="{&quot;isTemplate&quot;:true,&quot;type&quot;:&quot;title&quot;,&quot;canOmit&quot;:false}"/>
              <p:cNvSpPr txBox="true"/>
              <p:nvPr/>
            </p:nvSpPr>
            <p:spPr>
              <a:xfrm rot="0" flipH="false" flipV="false">
                <a:off x="658192" y="2436357"/>
                <a:ext cx="3021474" cy="488950"/>
              </a:xfrm>
              <a:prstGeom prst="rect">
                <a:avLst/>
              </a:prstGeom>
              <a:ln w="6350">
                <a:prstDash val="solid"/>
              </a:ln>
            </p:spPr>
            <p:txBody>
              <a:bodyPr vert="horz" wrap="square" lIns="90043" tIns="46863" rIns="90043" bIns="46863">
                <a:noAutofit/>
              </a:bodyPr>
              <a:lstStyle/>
              <a:p>
                <a:pPr marL="0" indent="0" algn="ctr">
                  <a:lnSpc>
                    <a:spcPct val="130000"/>
                  </a:lnSpc>
                  <a:spcBef>
                    <a:spcPct val="1"/>
                  </a:spcBef>
                  <a:spcAft>
                    <a:spcPct val="1"/>
                  </a:spcAft>
                  <a:buNone/>
                </a:pPr>
                <a:r>
                  <a:rPr lang="en-US" sz="2000" b="true">
                    <a:solidFill>
                      <a:schemeClr val="tx1">
                        <a:alpha val="100000"/>
                      </a:schemeClr>
                    </a:solidFill>
                  </a:rPr>
                  <a:t>Characteristics of DP </a:t>
                </a:r>
                <a:endParaRPr/>
              </a:p>
            </p:txBody>
          </p:sp>
        </p:grpSp>
        <p:grpSp>
          <p:nvGrpSpPr>
            <p:cNvPr id="105" name=""/>
            <p:cNvGrpSpPr/>
            <p:nvPr/>
          </p:nvGrpSpPr>
          <p:grpSpPr>
            <a:xfrm>
              <a:off x="4938131" y="1236883"/>
              <a:ext cx="4603257" cy="1688422"/>
              <a:chOff x="4938131" y="1236883"/>
              <a:chExt cx="4603257" cy="1688422"/>
            </a:xfrm>
          </p:grpSpPr>
          <p:sp>
            <p:nvSpPr>
              <p:cNvPr id="106" name="Shape 1642"/>
              <p:cNvSpPr/>
              <p:nvPr/>
            </p:nvSpPr>
            <p:spPr>
              <a:xfrm rot="0" flipH="false" flipV="false">
                <a:off x="4938131" y="1644712"/>
                <a:ext cx="478567" cy="478567"/>
              </a:xfrm>
              <a:custGeom>
                <a:rect l="0" t="0" r="r" b="b"/>
                <a:pathLst>
                  <a:path w="478567" h="478567">
                    <a:moveTo>
                      <a:pt x="408456" y="70086"/>
                    </a:moveTo>
                    <a:cubicBezTo>
                      <a:pt x="501913" y="163519"/>
                      <a:pt x="501913" y="315024"/>
                      <a:pt x="408456" y="408456"/>
                    </a:cubicBezTo>
                    <a:cubicBezTo>
                      <a:pt x="315024" y="501913"/>
                      <a:pt x="163519" y="501913"/>
                      <a:pt x="70086" y="408456"/>
                    </a:cubicBezTo>
                    <a:cubicBezTo>
                      <a:pt x="-23370" y="315024"/>
                      <a:pt x="-23370" y="163519"/>
                      <a:pt x="70086" y="70086"/>
                    </a:cubicBezTo>
                    <a:cubicBezTo>
                      <a:pt x="163519" y="-23370"/>
                      <a:pt x="315024" y="-23370"/>
                      <a:pt x="408456" y="70086"/>
                    </a:cubicBezTo>
                    <a:close/>
                  </a:path>
                </a:pathLst>
              </a:custGeom>
              <a:solidFill>
                <a:schemeClr val="accent2">
                  <a:alpha val="100000"/>
                </a:schemeClr>
              </a:solidFill>
              <a:ln w="0"/>
              <a:effectLst/>
            </p:spPr>
            <p:txBody>
              <a:bodyPr wrap="square" lIns="19051" tIns="19051" rIns="19051" bIns="19051" numCol="1" anchor="ctr">
                <a:noAutofit/>
              </a:bodyPr>
              <a:p>
                <a:pPr defTabSz="1217476">
                  <a:lnSpc>
                    <a:spcPct val="130000"/>
                  </a:lnSpc>
                </a:pPr>
                <a:endParaRPr sz="1600">
                  <a:solidFill>
                    <a:schemeClr val="bg1">
                      <a:alpha val="100000"/>
                    </a:schemeClr>
                  </a:solidFill>
                </a:endParaRPr>
              </a:p>
            </p:txBody>
          </p:sp>
          <p:sp>
            <p:nvSpPr>
              <p:cNvPr id="107" name="Text Placeholder 4" descr="{&quot;isTemplate&quot;:true,&quot;type&quot;:&quot;serialNumber&quot;}"/>
              <p:cNvSpPr txBox="true"/>
              <p:nvPr/>
            </p:nvSpPr>
            <p:spPr>
              <a:xfrm rot="0" flipH="false" flipV="false">
                <a:off x="5048959" y="1722539"/>
                <a:ext cx="257140" cy="309052"/>
              </a:xfrm>
              <a:prstGeom prst="rect"/>
            </p:spPr>
            <p:txBody>
              <a:bodyPr vert="horz" lIns="0" tIns="0" rIns="0" bIns="0" anchor="ctr">
                <a:normAutofit fontScale="100000"/>
              </a:bodyPr>
              <a:lstStyle/>
              <a:p>
                <a:pPr algn="ctr" defTabSz="1219170">
                  <a:lnSpc>
                    <a:spcPct val="130000"/>
                  </a:lnSpc>
                  <a:spcBef>
                    <a:spcPts val="0"/>
                  </a:spcBef>
                  <a:buFont typeface="Arial" charset="0"/>
                  <a:buNone/>
                </a:pPr>
                <a:r>
                  <a:rPr sz="1400" b="true">
                    <a:solidFill>
                      <a:schemeClr val="bg1"/>
                    </a:solidFill>
                  </a:rPr>
                  <a:t>02</a:t>
                </a:r>
                <a:endParaRPr/>
              </a:p>
            </p:txBody>
          </p:sp>
          <p:sp>
            <p:nvSpPr>
              <p:cNvPr id="108" name="" descr="{&quot;isTemplate&quot;:true,&quot;type&quot;:&quot;content&quot;,&quot;canOmit&quot;:true}"/>
              <p:cNvSpPr/>
              <p:nvPr/>
            </p:nvSpPr>
            <p:spPr>
              <a:xfrm rot="0" flipH="false" flipV="false">
                <a:off x="5416698" y="1725833"/>
                <a:ext cx="3876219" cy="1199472"/>
              </a:xfrm>
              <a:prstGeom prst="rect">
                <a:avLst/>
              </a:prstGeom>
              <a:ln/>
            </p:spPr>
            <p:txBody>
              <a:bodyPr vert="horz" wrap="square" lIns="90043" tIns="46863" rIns="90043" bIns="46863">
                <a:noAutofit/>
              </a:bodyPr>
              <a:lstStyle/>
              <a:p>
                <a:pPr marL="0" lvl="0" indent="0" algn="l" defTabSz="866943">
                  <a:lnSpc>
                    <a:spcPct val="130000"/>
                  </a:lnSpc>
                  <a:spcBef>
                    <a:spcPct val="1"/>
                  </a:spcBef>
                  <a:spcAft>
                    <a:spcPct val="1"/>
                  </a:spcAft>
                  <a:buClrTx/>
                  <a:buSzTx/>
                  <a:buFontTx/>
                  <a:buNone/>
                  <a:defRPr sz="1800">
                    <a:solidFill>
                      <a:schemeClr val="tx1">
                        <a:alpha val="100000"/>
                      </a:schemeClr>
                    </a:solidFill>
                    <a:latin typeface="Arial"/>
                    <a:ea typeface="Microsoft YaHei"/>
                  </a:defRPr>
                </a:pPr>
                <a:r>
                  <a:rPr lang="en-US" sz="1400" b="false">
                    <a:solidFill>
                      <a:schemeClr val="tx1">
                        <a:alpha val="100000"/>
                      </a:schemeClr>
                    </a:solidFill>
                  </a:rPr>
                  <a:t>The performance of graph neural networks is close to optimal, with low inference latency. For instance, in the task of classifying social network nodes, the inference speed is more than five times faster than that of DP.</a:t>
                </a:r>
                <a:endParaRPr/>
              </a:p>
            </p:txBody>
          </p:sp>
          <p:sp>
            <p:nvSpPr>
              <p:cNvPr id="109" name="" descr="{&quot;isTemplate&quot;:true,&quot;type&quot;:&quot;title&quot;,&quot;canOmit&quot;:false}"/>
              <p:cNvSpPr txBox="true"/>
              <p:nvPr/>
            </p:nvSpPr>
            <p:spPr>
              <a:xfrm rot="0" flipH="false" flipV="false">
                <a:off x="5416698" y="1236883"/>
                <a:ext cx="4124690" cy="488950"/>
              </a:xfrm>
              <a:prstGeom prst="rect">
                <a:avLst/>
              </a:prstGeom>
              <a:ln w="6350">
                <a:prstDash val="solid"/>
              </a:ln>
            </p:spPr>
            <p:txBody>
              <a:bodyPr vert="horz" wrap="square" lIns="90043" tIns="46863" rIns="90043" bIns="46863">
                <a:noAutofit/>
              </a:bodyPr>
              <a:lstStyle/>
              <a:p>
                <a:pPr marL="0" indent="0" algn="ctr">
                  <a:lnSpc>
                    <a:spcPct val="130000"/>
                  </a:lnSpc>
                  <a:spcBef>
                    <a:spcPct val="1"/>
                  </a:spcBef>
                  <a:spcAft>
                    <a:spcPct val="1"/>
                  </a:spcAft>
                  <a:buNone/>
                </a:pPr>
                <a:r>
                  <a:rPr lang="en-US" sz="2000" b="true">
                    <a:solidFill>
                      <a:schemeClr val="tx1">
                        <a:alpha val="100000"/>
                      </a:schemeClr>
                    </a:solidFill>
                  </a:rPr>
                  <a:t>Advantages of GNN applications</a:t>
                </a:r>
                <a:endParaRPr/>
              </a:p>
            </p:txBody>
          </p:sp>
        </p:grpSp>
        <p:grpSp>
          <p:nvGrpSpPr>
            <p:cNvPr id="110" name=""/>
            <p:cNvGrpSpPr/>
            <p:nvPr/>
          </p:nvGrpSpPr>
          <p:grpSpPr>
            <a:xfrm>
              <a:off x="7303652" y="4350277"/>
              <a:ext cx="4450238" cy="2425801"/>
              <a:chOff x="7303652" y="4350277"/>
              <a:chExt cx="4450238" cy="2425801"/>
            </a:xfrm>
          </p:grpSpPr>
          <p:sp>
            <p:nvSpPr>
              <p:cNvPr id="111" name="Shape 1648"/>
              <p:cNvSpPr/>
              <p:nvPr/>
            </p:nvSpPr>
            <p:spPr>
              <a:xfrm rot="0" flipH="false" flipV="false">
                <a:off x="7303652" y="4499995"/>
                <a:ext cx="478567" cy="478567"/>
              </a:xfrm>
              <a:custGeom>
                <a:rect l="0" t="0" r="r" b="b"/>
                <a:pathLst>
                  <a:path w="478567" h="478567">
                    <a:moveTo>
                      <a:pt x="408456" y="70086"/>
                    </a:moveTo>
                    <a:cubicBezTo>
                      <a:pt x="501913" y="163519"/>
                      <a:pt x="501913" y="315024"/>
                      <a:pt x="408456" y="408456"/>
                    </a:cubicBezTo>
                    <a:cubicBezTo>
                      <a:pt x="315024" y="501913"/>
                      <a:pt x="163519" y="501913"/>
                      <a:pt x="70086" y="408456"/>
                    </a:cubicBezTo>
                    <a:cubicBezTo>
                      <a:pt x="-23370" y="315024"/>
                      <a:pt x="-23370" y="163519"/>
                      <a:pt x="70086" y="70086"/>
                    </a:cubicBezTo>
                    <a:cubicBezTo>
                      <a:pt x="163519" y="-23370"/>
                      <a:pt x="315024" y="-23370"/>
                      <a:pt x="408456" y="70086"/>
                    </a:cubicBezTo>
                    <a:close/>
                  </a:path>
                </a:pathLst>
              </a:custGeom>
              <a:solidFill>
                <a:schemeClr val="accent1">
                  <a:alpha val="100000"/>
                </a:schemeClr>
              </a:solidFill>
              <a:ln w="0"/>
              <a:effectLst/>
            </p:spPr>
            <p:txBody>
              <a:bodyPr wrap="square" lIns="19051" tIns="19051" rIns="19051" bIns="19051" numCol="1" anchor="ctr">
                <a:noAutofit/>
              </a:bodyPr>
              <a:p>
                <a:pPr defTabSz="1217476">
                  <a:lnSpc>
                    <a:spcPct val="130000"/>
                  </a:lnSpc>
                </a:pPr>
                <a:endParaRPr sz="1600">
                  <a:solidFill>
                    <a:schemeClr val="bg1">
                      <a:alpha val="100000"/>
                    </a:schemeClr>
                  </a:solidFill>
                </a:endParaRPr>
              </a:p>
            </p:txBody>
          </p:sp>
          <p:sp>
            <p:nvSpPr>
              <p:cNvPr id="112" name="Text Placeholder 4" descr="{&quot;isTemplate&quot;:true,&quot;type&quot;:&quot;serialNumber&quot;}"/>
              <p:cNvSpPr txBox="true"/>
              <p:nvPr/>
            </p:nvSpPr>
            <p:spPr>
              <a:xfrm rot="0" flipH="false" flipV="false">
                <a:off x="7414365" y="4584752"/>
                <a:ext cx="257140" cy="309052"/>
              </a:xfrm>
              <a:prstGeom prst="rect"/>
              <a:ln/>
            </p:spPr>
            <p:txBody>
              <a:bodyPr vert="horz" lIns="0" tIns="0" rIns="0" bIns="0" anchor="ctr">
                <a:normAutofit fontScale="100000"/>
              </a:bodyPr>
              <a:lstStyle/>
              <a:p>
                <a:pPr algn="ctr" defTabSz="1219170">
                  <a:lnSpc>
                    <a:spcPct val="130000"/>
                  </a:lnSpc>
                  <a:spcBef>
                    <a:spcPts val="0"/>
                  </a:spcBef>
                  <a:buFont typeface="Arial" charset="0"/>
                  <a:buNone/>
                </a:pPr>
                <a:r>
                  <a:rPr sz="1400" b="true">
                    <a:solidFill>
                      <a:schemeClr val="bg1"/>
                    </a:solidFill>
                  </a:rPr>
                  <a:t>03</a:t>
                </a:r>
                <a:endParaRPr/>
              </a:p>
            </p:txBody>
          </p:sp>
          <p:sp>
            <p:nvSpPr>
              <p:cNvPr id="113" name="" descr="{&quot;isTemplate&quot;:true,&quot;type&quot;:&quot;content&quot;,&quot;canOmit&quot;:true}"/>
              <p:cNvSpPr/>
              <p:nvPr/>
            </p:nvSpPr>
            <p:spPr>
              <a:xfrm rot="0" flipH="false" flipV="false">
                <a:off x="7782219" y="4893804"/>
                <a:ext cx="3876230" cy="1882274"/>
              </a:xfrm>
              <a:prstGeom prst="rect">
                <a:avLst/>
              </a:prstGeom>
              <a:ln/>
            </p:spPr>
            <p:txBody>
              <a:bodyPr vert="horz" wrap="square" lIns="90043" tIns="46863" rIns="90043" bIns="46863">
                <a:noAutofit/>
              </a:bodyPr>
              <a:lstStyle/>
              <a:p>
                <a:pPr marL="0" lvl="0" indent="0" algn="ctr" defTabSz="866943">
                  <a:lnSpc>
                    <a:spcPct val="130000"/>
                  </a:lnSpc>
                  <a:spcBef>
                    <a:spcPct val="1"/>
                  </a:spcBef>
                  <a:spcAft>
                    <a:spcPct val="1"/>
                  </a:spcAft>
                  <a:buClrTx/>
                  <a:buSzTx/>
                  <a:buFontTx/>
                  <a:buNone/>
                  <a:defRPr sz="1800">
                    <a:solidFill>
                      <a:schemeClr val="tx1">
                        <a:alpha val="100000"/>
                      </a:schemeClr>
                    </a:solidFill>
                    <a:latin typeface="Arial"/>
                    <a:ea typeface="Microsoft YaHei"/>
                  </a:defRPr>
                </a:pPr>
                <a:r>
                  <a:rPr lang="en-US" sz="1400" b="false">
                    <a:solidFill>
                      <a:schemeClr val="tx1">
                        <a:alpha val="100000"/>
                      </a:schemeClr>
                    </a:solidFill>
                  </a:rPr>
                  <a:t>Deep Q-networks are highly flexible and learning-based, but they have large performance fluctuations and high training costs. The resource consumption during the training phase is three times that of GNNS.</a:t>
                </a:r>
                <a:endParaRPr/>
              </a:p>
            </p:txBody>
          </p:sp>
          <p:sp>
            <p:nvSpPr>
              <p:cNvPr id="114" name="" descr="{&quot;isTemplate&quot;:true,&quot;type&quot;:&quot;title&quot;,&quot;canOmit&quot;:false}"/>
              <p:cNvSpPr txBox="true"/>
              <p:nvPr/>
            </p:nvSpPr>
            <p:spPr>
              <a:xfrm rot="0" flipH="false" flipV="false">
                <a:off x="7877660" y="4350277"/>
                <a:ext cx="3876230" cy="778048"/>
              </a:xfrm>
              <a:prstGeom prst="rect">
                <a:avLst/>
              </a:prstGeom>
              <a:ln w="6350">
                <a:prstDash val="solid"/>
              </a:ln>
            </p:spPr>
            <p:txBody>
              <a:bodyPr vert="horz" wrap="square" lIns="90043" tIns="46863" rIns="90043" bIns="46863">
                <a:noAutofit/>
              </a:bodyPr>
              <a:lstStyle/>
              <a:p>
                <a:pPr marL="0" indent="0" algn="ctr">
                  <a:lnSpc>
                    <a:spcPct val="130000"/>
                  </a:lnSpc>
                  <a:spcBef>
                    <a:spcPct val="1"/>
                  </a:spcBef>
                  <a:spcAft>
                    <a:spcPct val="1"/>
                  </a:spcAft>
                  <a:buNone/>
                </a:pPr>
                <a:r>
                  <a:rPr lang="en-US" sz="2000" b="true">
                    <a:solidFill>
                      <a:schemeClr val="tx1">
                        <a:alpha val="100000"/>
                      </a:schemeClr>
                    </a:solidFill>
                  </a:rPr>
                  <a:t>The existing challenges of DQN</a:t>
                </a:r>
                <a:endParaRPr/>
              </a:p>
            </p:txBody>
          </p:sp>
        </p:grpSp>
      </p:grpSp>
      <p:sp>
        <p:nvSpPr>
          <p:cNvPr id="115" name="" descr="{&quot;isTemplate&quot;:true,&quot;type&quot;:&quot;title&quot;,&quot;canOmit&quot;:false,&quot;range&quot;:0}"/>
          <p:cNvSpPr txBox="true"/>
          <p:nvPr/>
        </p:nvSpPr>
        <p:spPr>
          <a:xfrm rot="0" flipH="false" flipV="false">
            <a:off x="1155407" y="430433"/>
            <a:ext cx="7778750" cy="806450"/>
          </a:xfrm>
          <a:prstGeom prst="rect">
            <a:avLst/>
          </a:prstGeom>
          <a:noFill/>
        </p:spPr>
        <p:txBody>
          <a:bodyPr wrap="square" lIns="90000" tIns="46800" rIns="90000" bIns="46800" rtlCol="false" anchor="b" anchorCtr="false">
            <a:spAutoFit/>
          </a:bodyPr>
          <a:p>
            <a:pPr marL="0" indent="0" algn="l">
              <a:lnSpc>
                <a:spcPct val="130000"/>
              </a:lnSpc>
              <a:buNone/>
            </a:pPr>
            <a:r>
              <a:rPr lang="en-US" sz="3600" b="true"/>
              <a:t>Conclusion</a:t>
            </a:r>
            <a:endParaRPr/>
          </a:p>
        </p:txBody>
      </p:sp>
    </p:spTree>
  </p:cSld>
</p:sld>
</file>

<file path=ppt/slides/slide7.xml><?xml version="1.0" encoding="utf-8"?>
<p:sld xmlns:a="http://schemas.openxmlformats.org/drawingml/2006/main" xmlns:p="http://schemas.openxmlformats.org/presentationml/2006/main">
  <p:cSld>
    <p:spTree>
      <p:nvGrpSpPr>
        <p:cNvPr id="116" name=""/>
        <p:cNvGrpSpPr/>
        <p:nvPr/>
      </p:nvGrpSpPr>
      <p:grpSpPr>
        <a:xfrm>
          <a:off x="0" y="0"/>
          <a:ext cx="0" cy="0"/>
          <a:chOff x="0" y="0"/>
          <a:chExt cx="0" cy="0"/>
        </a:xfrm>
      </p:grpSpPr>
      <p:sp>
        <p:nvSpPr>
          <p:cNvPr id="117" name=""/>
          <p:cNvSpPr txBox="true"/>
          <p:nvPr/>
        </p:nvSpPr>
        <p:spPr>
          <a:xfrm rot="0" flipH="false" flipV="false">
            <a:off x="2368371" y="2881559"/>
            <a:ext cx="6096000" cy="882650"/>
          </a:xfrm>
          <a:prstGeom prst="rect"/>
        </p:spPr>
        <p:txBody>
          <a:bodyPr>
            <a:spAutoFit/>
          </a:bodyPr>
          <a:p>
            <a:pPr algn="ctr"/>
            <a:r>
              <a:rPr sz="4000" b="true"/>
              <a:t>Thank you</a:t>
            </a:r>
            <a:r>
              <a:rPr/>
              <a:t> </a:t>
            </a:r>
            <a:endParaRPr/>
          </a:p>
        </p:txBody>
      </p:sp>
    </p:spTree>
  </p:cSld>
</p:sld>
</file>

<file path=ppt/theme/theme1.xml><?xml version="1.0" encoding="utf-8"?>
<a:theme xmlns:a="http://schemas.openxmlformats.org/drawingml/2006/main" name="Office 主题​​">
  <a:themeElements>
    <a:clrScheme name="Office">
      <a:dk1>
        <a:srgbClr val="000000"/>
      </a:dk1>
      <a:lt1>
        <a:srgbClr val="FFFFFF"/>
      </a:lt1>
      <a:dk2>
        <a:srgbClr val="0F1423"/>
      </a:dk2>
      <a:lt2>
        <a:srgbClr val="FFFFFF"/>
      </a:lt2>
      <a:accent1>
        <a:srgbClr val="2F61F0"/>
      </a:accent1>
      <a:accent2>
        <a:srgbClr val="30ADF4"/>
      </a:accent2>
      <a:accent3>
        <a:srgbClr val="2F61F0"/>
      </a:accent3>
      <a:accent4>
        <a:srgbClr val="30ADF4"/>
      </a:accent4>
      <a:accent5>
        <a:srgbClr val="2F61F0"/>
      </a:accent5>
      <a:accent6>
        <a:srgbClr val="30ADF4"/>
      </a:accent6>
      <a:hlink>
        <a:srgbClr val="2F61F0"/>
      </a:hlink>
      <a:folHlink>
        <a:srgbClr val="30ADF4"/>
      </a:folHlink>
    </a:clrScheme>
    <a:fontScheme name="Office">
      <a:majorFont>
        <a:latin typeface="字魂58号-创中黑"/>
        <a:ea typeface="字魂58号-创中黑"/>
        <a:cs typeface=""/>
      </a:majorFont>
      <a:minorFont>
        <a:latin typeface="字魂58号-创中黑"/>
        <a:ea typeface="字魂58号-创中黑"/>
        <a:cs typeface=""/>
      </a:minorFont>
    </a:fontScheme>
    <a:fmtScheme name="Office">
      <a:fillStyleLst>
        <a:solidFill>
          <a:schemeClr val="phClr"/>
        </a:solidFill>
        <a:gradFill rotWithShape="true">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false"/>
        </a:gradFill>
        <a:gradFill rotWithShape="true">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false"/>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false">
              <a:srgbClr val="000000">
                <a:alpha val="63000"/>
              </a:srgbClr>
            </a:outerShdw>
          </a:effectLst>
        </a:effectStyle>
      </a:effectStyleLst>
      <a:bgFillStyleLst>
        <a:solidFill>
          <a:schemeClr val="phClr"/>
        </a:solidFill>
        <a:solidFill>
          <a:schemeClr val="phClr">
            <a:tint val="95000"/>
            <a:satMod val="170000"/>
          </a:schemeClr>
        </a:solidFill>
        <a:gradFill rotWithShape="true">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false"/>
        </a:gradFill>
      </a:bgFillStyleLst>
    </a:fmtScheme>
  </a:themeElements>
</a:theme>
</file>

<file path=docProps/app.xml><?xml version="1.0" encoding="utf-8"?>
<Properties xmlns:vt="http://schemas.openxmlformats.org/officeDocument/2006/docPropsVTypes" xmlns="http://schemas.openxmlformats.org/officeDocument/2006/extended-properties">
  <Application>Tencent office</Application>
</Properties>
</file>

<file path=docProps/core.xml><?xml version="1.0" encoding="utf-8"?>
<cp:coreProperties xmlns:xsi="http://www.w3.org/2001/XMLSchema-instance" xmlns:dcmitype="http://purl.org/dc/dcmitype/" xmlns:dcterms="http://purl.org/dc/terms/" xmlns:cp="http://schemas.openxmlformats.org/package/2006/metadata/core-properties" xmlns:dc="http://purl.org/dc/elements/1.1/">
  <dcterms:created xsi:type="dcterms:W3CDTF">2025-12-16T13:32:16Z</dcterms:created>
  <dcterms:modified xsi:type="dcterms:W3CDTF">2025-12-16T13:32:16Z</dcterms:modified>
</cp:coreProperties>
</file>